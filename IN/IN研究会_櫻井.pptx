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9"/>
  </p:notesMasterIdLst>
  <p:sldIdLst>
    <p:sldId id="258" r:id="rId5"/>
    <p:sldId id="257" r:id="rId6"/>
    <p:sldId id="259" r:id="rId7"/>
    <p:sldId id="260" r:id="rId8"/>
    <p:sldId id="272" r:id="rId9"/>
    <p:sldId id="261" r:id="rId10"/>
    <p:sldId id="262" r:id="rId11"/>
    <p:sldId id="265" r:id="rId12"/>
    <p:sldId id="266" r:id="rId13"/>
    <p:sldId id="273" r:id="rId14"/>
    <p:sldId id="263" r:id="rId15"/>
    <p:sldId id="268" r:id="rId16"/>
    <p:sldId id="274" r:id="rId17"/>
    <p:sldId id="269" r:id="rId18"/>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F77B4"/>
    <a:srgbClr val="2CA02C"/>
    <a:srgbClr val="FF7F0E"/>
    <a:srgbClr val="0D47A1"/>
    <a:srgbClr val="FE8D03"/>
    <a:srgbClr val="D62728"/>
    <a:srgbClr val="FFFFFF"/>
    <a:srgbClr val="9467BD"/>
    <a:srgbClr val="1672B1"/>
    <a:srgbClr val="97908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D99D97A-AA6C-4187-813D-842CD1831FAF}" v="26" dt="2026-03-02T09:14:09.76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7444" autoAdjust="0"/>
  </p:normalViewPr>
  <p:slideViewPr>
    <p:cSldViewPr snapToGrid="0">
      <p:cViewPr varScale="1">
        <p:scale>
          <a:sx n="89" d="100"/>
          <a:sy n="89" d="100"/>
        </p:scale>
        <p:origin x="591" y="33"/>
      </p:cViewPr>
      <p:guideLst/>
    </p:cSldViewPr>
  </p:slideViewPr>
  <p:notesTextViewPr>
    <p:cViewPr>
      <p:scale>
        <a:sx n="125" d="100"/>
        <a:sy n="125" d="100"/>
      </p:scale>
      <p:origin x="0" y="-669"/>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microsoft.com/office/2016/11/relationships/changesInfo" Target="changesInfos/changesInfo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翔琉 櫻井" userId="9696856e3d08c427" providerId="LiveId" clId="{BF7D5C21-6C97-478A-B4E9-E9BDC868F1D2}"/>
    <pc:docChg chg="undo custSel addSld delSld modSld">
      <pc:chgData name="翔琉 櫻井" userId="9696856e3d08c427" providerId="LiveId" clId="{BF7D5C21-6C97-478A-B4E9-E9BDC868F1D2}" dt="2026-03-02T09:15:03.024" v="2079" actId="20577"/>
      <pc:docMkLst>
        <pc:docMk/>
      </pc:docMkLst>
      <pc:sldChg chg="addSp delSp modSp mod modNotesTx">
        <pc:chgData name="翔琉 櫻井" userId="9696856e3d08c427" providerId="LiveId" clId="{BF7D5C21-6C97-478A-B4E9-E9BDC868F1D2}" dt="2026-03-02T09:10:01.878" v="2058"/>
        <pc:sldMkLst>
          <pc:docMk/>
          <pc:sldMk cId="71332995" sldId="257"/>
        </pc:sldMkLst>
        <pc:spChg chg="mod">
          <ac:chgData name="翔琉 櫻井" userId="9696856e3d08c427" providerId="LiveId" clId="{BF7D5C21-6C97-478A-B4E9-E9BDC868F1D2}" dt="2026-03-02T09:09:25.605" v="2057" actId="20577"/>
          <ac:spMkLst>
            <pc:docMk/>
            <pc:sldMk cId="71332995" sldId="257"/>
            <ac:spMk id="3" creationId="{AFE4376B-0BE6-DC44-9A92-9FB4E9E793D6}"/>
          </ac:spMkLst>
        </pc:spChg>
        <pc:spChg chg="add mod">
          <ac:chgData name="翔琉 櫻井" userId="9696856e3d08c427" providerId="LiveId" clId="{BF7D5C21-6C97-478A-B4E9-E9BDC868F1D2}" dt="2026-03-02T09:10:01.878" v="2058"/>
          <ac:spMkLst>
            <pc:docMk/>
            <pc:sldMk cId="71332995" sldId="257"/>
            <ac:spMk id="5" creationId="{51FA538A-6348-9BB4-2E2A-E78969F497A9}"/>
          </ac:spMkLst>
        </pc:spChg>
        <pc:spChg chg="add mod">
          <ac:chgData name="翔琉 櫻井" userId="9696856e3d08c427" providerId="LiveId" clId="{BF7D5C21-6C97-478A-B4E9-E9BDC868F1D2}" dt="2026-03-02T09:10:01.878" v="2058"/>
          <ac:spMkLst>
            <pc:docMk/>
            <pc:sldMk cId="71332995" sldId="257"/>
            <ac:spMk id="6" creationId="{96E70598-9FED-356E-DDDE-530E0D867D47}"/>
          </ac:spMkLst>
        </pc:spChg>
        <pc:spChg chg="add mod">
          <ac:chgData name="翔琉 櫻井" userId="9696856e3d08c427" providerId="LiveId" clId="{BF7D5C21-6C97-478A-B4E9-E9BDC868F1D2}" dt="2026-03-02T09:10:01.878" v="2058"/>
          <ac:spMkLst>
            <pc:docMk/>
            <pc:sldMk cId="71332995" sldId="257"/>
            <ac:spMk id="7" creationId="{21A731A3-5876-7CD9-AD8C-2EF1AD31AA8E}"/>
          </ac:spMkLst>
        </pc:spChg>
        <pc:spChg chg="del">
          <ac:chgData name="翔琉 櫻井" userId="9696856e3d08c427" providerId="LiveId" clId="{BF7D5C21-6C97-478A-B4E9-E9BDC868F1D2}" dt="2026-03-02T09:08:51.292" v="2043" actId="21"/>
          <ac:spMkLst>
            <pc:docMk/>
            <pc:sldMk cId="71332995" sldId="257"/>
            <ac:spMk id="9" creationId="{21A731A3-5876-7CD9-AD8C-2EF1AD31AA8E}"/>
          </ac:spMkLst>
        </pc:spChg>
        <pc:spChg chg="del">
          <ac:chgData name="翔琉 櫻井" userId="9696856e3d08c427" providerId="LiveId" clId="{BF7D5C21-6C97-478A-B4E9-E9BDC868F1D2}" dt="2026-03-02T09:08:51.292" v="2043" actId="21"/>
          <ac:spMkLst>
            <pc:docMk/>
            <pc:sldMk cId="71332995" sldId="257"/>
            <ac:spMk id="21" creationId="{51FA538A-6348-9BB4-2E2A-E78969F497A9}"/>
          </ac:spMkLst>
        </pc:spChg>
        <pc:spChg chg="del">
          <ac:chgData name="翔琉 櫻井" userId="9696856e3d08c427" providerId="LiveId" clId="{BF7D5C21-6C97-478A-B4E9-E9BDC868F1D2}" dt="2026-03-02T09:08:51.292" v="2043" actId="21"/>
          <ac:spMkLst>
            <pc:docMk/>
            <pc:sldMk cId="71332995" sldId="257"/>
            <ac:spMk id="22" creationId="{96E70598-9FED-356E-DDDE-530E0D867D47}"/>
          </ac:spMkLst>
        </pc:spChg>
      </pc:sldChg>
      <pc:sldChg chg="modSp mod">
        <pc:chgData name="翔琉 櫻井" userId="9696856e3d08c427" providerId="LiveId" clId="{BF7D5C21-6C97-478A-B4E9-E9BDC868F1D2}" dt="2026-03-02T04:44:37.687" v="1487" actId="1076"/>
        <pc:sldMkLst>
          <pc:docMk/>
          <pc:sldMk cId="3681276924" sldId="258"/>
        </pc:sldMkLst>
        <pc:spChg chg="mod">
          <ac:chgData name="翔琉 櫻井" userId="9696856e3d08c427" providerId="LiveId" clId="{BF7D5C21-6C97-478A-B4E9-E9BDC868F1D2}" dt="2026-03-02T04:44:37.687" v="1487" actId="1076"/>
          <ac:spMkLst>
            <pc:docMk/>
            <pc:sldMk cId="3681276924" sldId="258"/>
            <ac:spMk id="5" creationId="{4E775116-9EEA-8BC4-FFDD-34C04598AA01}"/>
          </ac:spMkLst>
        </pc:spChg>
        <pc:spChg chg="mod">
          <ac:chgData name="翔琉 櫻井" userId="9696856e3d08c427" providerId="LiveId" clId="{BF7D5C21-6C97-478A-B4E9-E9BDC868F1D2}" dt="2026-03-02T04:44:30.267" v="1486" actId="1076"/>
          <ac:spMkLst>
            <pc:docMk/>
            <pc:sldMk cId="3681276924" sldId="258"/>
            <ac:spMk id="8" creationId="{346AAB66-6418-444C-B52B-AEB5CBA8D08A}"/>
          </ac:spMkLst>
        </pc:spChg>
      </pc:sldChg>
      <pc:sldChg chg="modNotesTx">
        <pc:chgData name="翔琉 櫻井" userId="9696856e3d08c427" providerId="LiveId" clId="{BF7D5C21-6C97-478A-B4E9-E9BDC868F1D2}" dt="2026-03-02T04:51:11.384" v="1525" actId="20577"/>
        <pc:sldMkLst>
          <pc:docMk/>
          <pc:sldMk cId="1560374770" sldId="259"/>
        </pc:sldMkLst>
      </pc:sldChg>
      <pc:sldChg chg="modNotesTx">
        <pc:chgData name="翔琉 櫻井" userId="9696856e3d08c427" providerId="LiveId" clId="{BF7D5C21-6C97-478A-B4E9-E9BDC868F1D2}" dt="2026-03-02T04:20:29.215" v="1312" actId="20577"/>
        <pc:sldMkLst>
          <pc:docMk/>
          <pc:sldMk cId="2634224573" sldId="260"/>
        </pc:sldMkLst>
      </pc:sldChg>
      <pc:sldChg chg="modNotesTx">
        <pc:chgData name="翔琉 櫻井" userId="9696856e3d08c427" providerId="LiveId" clId="{BF7D5C21-6C97-478A-B4E9-E9BDC868F1D2}" dt="2026-03-02T04:22:55.978" v="1368" actId="20577"/>
        <pc:sldMkLst>
          <pc:docMk/>
          <pc:sldMk cId="1912879306" sldId="261"/>
        </pc:sldMkLst>
      </pc:sldChg>
      <pc:sldChg chg="modNotesTx">
        <pc:chgData name="翔琉 櫻井" userId="9696856e3d08c427" providerId="LiveId" clId="{BF7D5C21-6C97-478A-B4E9-E9BDC868F1D2}" dt="2026-03-02T04:08:04.921" v="1205" actId="20577"/>
        <pc:sldMkLst>
          <pc:docMk/>
          <pc:sldMk cId="1416790845" sldId="262"/>
        </pc:sldMkLst>
      </pc:sldChg>
      <pc:sldChg chg="modNotesTx">
        <pc:chgData name="翔琉 櫻井" userId="9696856e3d08c427" providerId="LiveId" clId="{BF7D5C21-6C97-478A-B4E9-E9BDC868F1D2}" dt="2026-03-02T05:01:53.731" v="1572" actId="20577"/>
        <pc:sldMkLst>
          <pc:docMk/>
          <pc:sldMk cId="2103166186" sldId="266"/>
        </pc:sldMkLst>
      </pc:sldChg>
      <pc:sldChg chg="modNotesTx">
        <pc:chgData name="翔琉 櫻井" userId="9696856e3d08c427" providerId="LiveId" clId="{BF7D5C21-6C97-478A-B4E9-E9BDC868F1D2}" dt="2026-03-02T09:15:03.024" v="2079" actId="20577"/>
        <pc:sldMkLst>
          <pc:docMk/>
          <pc:sldMk cId="3266535694" sldId="272"/>
        </pc:sldMkLst>
      </pc:sldChg>
      <pc:sldChg chg="modNotesTx">
        <pc:chgData name="翔琉 櫻井" userId="9696856e3d08c427" providerId="LiveId" clId="{BF7D5C21-6C97-478A-B4E9-E9BDC868F1D2}" dt="2026-03-02T05:40:32.251" v="2042" actId="20577"/>
        <pc:sldMkLst>
          <pc:docMk/>
          <pc:sldMk cId="274282053" sldId="273"/>
        </pc:sldMkLst>
      </pc:sldChg>
      <pc:sldChg chg="addSp modSp mod modShow modNotesTx">
        <pc:chgData name="翔琉 櫻井" userId="9696856e3d08c427" providerId="LiveId" clId="{BF7D5C21-6C97-478A-B4E9-E9BDC868F1D2}" dt="2026-03-02T03:42:01.129" v="1141" actId="20577"/>
        <pc:sldMkLst>
          <pc:docMk/>
          <pc:sldMk cId="2498403875" sldId="274"/>
        </pc:sldMkLst>
        <pc:spChg chg="mod">
          <ac:chgData name="翔琉 櫻井" userId="9696856e3d08c427" providerId="LiveId" clId="{BF7D5C21-6C97-478A-B4E9-E9BDC868F1D2}" dt="2026-03-02T02:52:28.826" v="49" actId="207"/>
          <ac:spMkLst>
            <pc:docMk/>
            <pc:sldMk cId="2498403875" sldId="274"/>
            <ac:spMk id="7" creationId="{6CB2187F-23D1-A9A5-0590-46AB86D88CA7}"/>
          </ac:spMkLst>
        </pc:spChg>
        <pc:spChg chg="add mod">
          <ac:chgData name="翔琉 櫻井" userId="9696856e3d08c427" providerId="LiveId" clId="{BF7D5C21-6C97-478A-B4E9-E9BDC868F1D2}" dt="2026-03-02T02:58:00.229" v="68" actId="207"/>
          <ac:spMkLst>
            <pc:docMk/>
            <pc:sldMk cId="2498403875" sldId="274"/>
            <ac:spMk id="8" creationId="{12E14159-B9E4-1A95-A262-54A852C5842A}"/>
          </ac:spMkLst>
        </pc:spChg>
        <pc:spChg chg="add mod">
          <ac:chgData name="翔琉 櫻井" userId="9696856e3d08c427" providerId="LiveId" clId="{BF7D5C21-6C97-478A-B4E9-E9BDC868F1D2}" dt="2026-03-02T02:59:21.637" v="116" actId="207"/>
          <ac:spMkLst>
            <pc:docMk/>
            <pc:sldMk cId="2498403875" sldId="274"/>
            <ac:spMk id="9" creationId="{92E1FE76-C026-EA0E-4EE4-05A36FA057A5}"/>
          </ac:spMkLst>
        </pc:spChg>
        <pc:spChg chg="add mod">
          <ac:chgData name="翔琉 櫻井" userId="9696856e3d08c427" providerId="LiveId" clId="{BF7D5C21-6C97-478A-B4E9-E9BDC868F1D2}" dt="2026-03-02T02:59:04.119" v="115" actId="207"/>
          <ac:spMkLst>
            <pc:docMk/>
            <pc:sldMk cId="2498403875" sldId="274"/>
            <ac:spMk id="10" creationId="{6425F991-B234-6243-7105-5322C17E693B}"/>
          </ac:spMkLst>
        </pc:spChg>
        <pc:picChg chg="add mod">
          <ac:chgData name="翔琉 櫻井" userId="9696856e3d08c427" providerId="LiveId" clId="{BF7D5C21-6C97-478A-B4E9-E9BDC868F1D2}" dt="2026-03-02T02:56:21.649" v="62" actId="1076"/>
          <ac:picMkLst>
            <pc:docMk/>
            <pc:sldMk cId="2498403875" sldId="274"/>
            <ac:picMk id="5" creationId="{61D0D56B-5BB9-03FF-FB0F-52061C9E7BB7}"/>
          </ac:picMkLst>
        </pc:picChg>
        <pc:picChg chg="mod">
          <ac:chgData name="翔琉 櫻井" userId="9696856e3d08c427" providerId="LiveId" clId="{BF7D5C21-6C97-478A-B4E9-E9BDC868F1D2}" dt="2026-03-02T02:58:53.448" v="114" actId="1076"/>
          <ac:picMkLst>
            <pc:docMk/>
            <pc:sldMk cId="2498403875" sldId="274"/>
            <ac:picMk id="6" creationId="{6A2D2695-A71D-75A7-39A5-7820ADA841CF}"/>
          </ac:picMkLst>
        </pc:picChg>
      </pc:sldChg>
      <pc:sldChg chg="add del">
        <pc:chgData name="翔琉 櫻井" userId="9696856e3d08c427" providerId="LiveId" clId="{BF7D5C21-6C97-478A-B4E9-E9BDC868F1D2}" dt="2026-03-02T02:57:22.502" v="64"/>
        <pc:sldMkLst>
          <pc:docMk/>
          <pc:sldMk cId="313008288" sldId="275"/>
        </pc:sldMkLst>
      </pc:sldChg>
      <pc:sldChg chg="modSp new">
        <pc:chgData name="翔琉 櫻井" userId="9696856e3d08c427" providerId="LiveId" clId="{BF7D5C21-6C97-478A-B4E9-E9BDC868F1D2}" dt="2026-03-02T09:13:47.857" v="2060"/>
        <pc:sldMkLst>
          <pc:docMk/>
          <pc:sldMk cId="1487067971" sldId="275"/>
        </pc:sldMkLst>
        <pc:spChg chg="mod">
          <ac:chgData name="翔琉 櫻井" userId="9696856e3d08c427" providerId="LiveId" clId="{BF7D5C21-6C97-478A-B4E9-E9BDC868F1D2}" dt="2026-03-02T09:13:47.857" v="2060"/>
          <ac:spMkLst>
            <pc:docMk/>
            <pc:sldMk cId="1487067971" sldId="275"/>
            <ac:spMk id="2" creationId="{2B17C672-244A-7BF7-97B0-0A231E18B549}"/>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66D9647-ECF1-4A86-B476-A023641EC6F8}" type="datetimeFigureOut">
              <a:rPr kumimoji="1" lang="ja-JP" altLang="en-US" smtClean="0"/>
              <a:t>2026/3/3</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4C1465-738F-4BB6-B6E4-EBA8CE2D4CD8}" type="slidenum">
              <a:rPr kumimoji="1" lang="ja-JP" altLang="en-US" smtClean="0"/>
              <a:t>‹#›</a:t>
            </a:fld>
            <a:endParaRPr kumimoji="1" lang="ja-JP" altLang="en-US"/>
          </a:p>
        </p:txBody>
      </p:sp>
    </p:spTree>
    <p:extLst>
      <p:ext uri="{BB962C8B-B14F-4D97-AF65-F5344CB8AC3E}">
        <p14:creationId xmlns:p14="http://schemas.microsoft.com/office/powerpoint/2010/main" val="51826977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074C1465-738F-4BB6-B6E4-EBA8CE2D4CD8}" type="slidenum">
              <a:rPr kumimoji="1" lang="ja-JP" altLang="en-US" smtClean="0"/>
              <a:t>1</a:t>
            </a:fld>
            <a:endParaRPr kumimoji="1" lang="ja-JP" altLang="en-US"/>
          </a:p>
        </p:txBody>
      </p:sp>
    </p:spTree>
    <p:extLst>
      <p:ext uri="{BB962C8B-B14F-4D97-AF65-F5344CB8AC3E}">
        <p14:creationId xmlns:p14="http://schemas.microsoft.com/office/powerpoint/2010/main" val="6436407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背景といたしましては、まず第一に、</a:t>
            </a:r>
            <a:r>
              <a:rPr lang="en-US" altLang="ja-JP" dirty="0"/>
              <a:t>AI</a:t>
            </a:r>
            <a:r>
              <a:rPr lang="ja-JP" altLang="en-US" dirty="0"/>
              <a:t>・データサイエンス分野の急速な発展に伴う</a:t>
            </a:r>
            <a:r>
              <a:rPr lang="en-US" altLang="ja-JP" dirty="0"/>
              <a:t>GPU</a:t>
            </a:r>
            <a:r>
              <a:rPr lang="ja-JP" altLang="en-US" dirty="0"/>
              <a:t>需要の爆発的な増加が挙げられます。研究開発において</a:t>
            </a:r>
            <a:r>
              <a:rPr lang="en-US" altLang="ja-JP" dirty="0"/>
              <a:t>GPU</a:t>
            </a:r>
            <a:r>
              <a:rPr lang="ja-JP" altLang="en-US" dirty="0"/>
              <a:t>の演算能力は研究進捗スピードの決定的な要素となっているので、特にデータセンター向け</a:t>
            </a:r>
            <a:r>
              <a:rPr lang="en-US" altLang="ja-JP" dirty="0"/>
              <a:t>GPU</a:t>
            </a:r>
            <a:r>
              <a:rPr lang="ja-JP" altLang="en-US" dirty="0"/>
              <a:t>市場は今後も高い成長率で拡大すると予測されています。</a:t>
            </a:r>
          </a:p>
          <a:p>
            <a:r>
              <a:rPr lang="ja-JP" altLang="en-US" dirty="0"/>
              <a:t>一方で、</a:t>
            </a:r>
            <a:r>
              <a:rPr lang="en-US" altLang="ja-JP" dirty="0"/>
              <a:t>GPU</a:t>
            </a:r>
            <a:r>
              <a:rPr lang="ja-JP" altLang="en-US" dirty="0"/>
              <a:t>資源は極めて高価であり、世界的な供給不足も相まって調達が非常に困難な状況にあります。そのため、大学のような大規模な研究機関であっても、個別の研究室が必要な時に十分な</a:t>
            </a:r>
            <a:r>
              <a:rPr lang="en-US" altLang="ja-JP" dirty="0"/>
              <a:t>GPU</a:t>
            </a:r>
            <a:r>
              <a:rPr lang="ja-JP" altLang="en-US" dirty="0"/>
              <a:t>資源を自前で確保し続けることは、経済的にも物理的にも限界を迎えつつあります。</a:t>
            </a:r>
          </a:p>
          <a:p>
            <a:r>
              <a:rPr lang="ja-JP" altLang="en-US" dirty="0"/>
              <a:t>しかし、学内全体を俯瞰すると、各所に点在する</a:t>
            </a:r>
            <a:r>
              <a:rPr lang="en-US" altLang="ja-JP" dirty="0"/>
              <a:t>GPU</a:t>
            </a:r>
            <a:r>
              <a:rPr lang="ja-JP" altLang="en-US" dirty="0"/>
              <a:t>が常にフル稼働しているわけではなく、相当な「遊休時間」が存在していることも事実です。</a:t>
            </a:r>
          </a:p>
          <a:p>
            <a:r>
              <a:rPr lang="ja-JP" altLang="en-US" dirty="0"/>
              <a:t>こうした背景から、われわれは学内の研究室に点在するリソースをネットワークを介して仮想的に統合し、組織全体で効率的に相互利用するための、**学内</a:t>
            </a:r>
            <a:r>
              <a:rPr lang="en-US" altLang="ja-JP" dirty="0"/>
              <a:t>GPU</a:t>
            </a:r>
            <a:r>
              <a:rPr lang="ja-JP" altLang="en-US" dirty="0"/>
              <a:t>共有基盤「</a:t>
            </a:r>
            <a:r>
              <a:rPr lang="en-US" altLang="ja-JP" dirty="0"/>
              <a:t>ACP</a:t>
            </a:r>
            <a:r>
              <a:rPr lang="ja-JP" altLang="en-US" dirty="0"/>
              <a:t>（</a:t>
            </a:r>
            <a:r>
              <a:rPr lang="en-US" altLang="ja-JP" dirty="0"/>
              <a:t>Air Computing Pool</a:t>
            </a:r>
            <a:r>
              <a:rPr lang="ja-JP" altLang="en-US" dirty="0"/>
              <a:t>）」**を検討しています。</a:t>
            </a:r>
            <a:endParaRPr lang="en-US" altLang="ja-JP" dirty="0"/>
          </a:p>
          <a:p>
            <a:endParaRPr lang="en-US" altLang="ja-JP" sz="1200" dirty="0"/>
          </a:p>
          <a:p>
            <a:endParaRPr kumimoji="1" lang="ja-JP" altLang="en-US" dirty="0"/>
          </a:p>
        </p:txBody>
      </p:sp>
      <p:sp>
        <p:nvSpPr>
          <p:cNvPr id="4" name="スライド番号プレースホルダー 3"/>
          <p:cNvSpPr>
            <a:spLocks noGrp="1"/>
          </p:cNvSpPr>
          <p:nvPr>
            <p:ph type="sldNum" sz="quarter" idx="5"/>
          </p:nvPr>
        </p:nvSpPr>
        <p:spPr/>
        <p:txBody>
          <a:bodyPr/>
          <a:lstStyle/>
          <a:p>
            <a:fld id="{074C1465-738F-4BB6-B6E4-EBA8CE2D4CD8}" type="slidenum">
              <a:rPr kumimoji="1" lang="ja-JP" altLang="en-US" smtClean="0"/>
              <a:t>2</a:t>
            </a:fld>
            <a:endParaRPr kumimoji="1" lang="ja-JP" altLang="en-US"/>
          </a:p>
        </p:txBody>
      </p:sp>
    </p:spTree>
    <p:extLst>
      <p:ext uri="{BB962C8B-B14F-4D97-AF65-F5344CB8AC3E}">
        <p14:creationId xmlns:p14="http://schemas.microsoft.com/office/powerpoint/2010/main" val="23499922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では、</a:t>
            </a:r>
            <a:r>
              <a:rPr lang="en-US" altLang="ja-JP" dirty="0"/>
              <a:t>AIR Computing Pool</a:t>
            </a:r>
            <a:r>
              <a:rPr lang="ja-JP" altLang="en-US" dirty="0"/>
              <a:t>（</a:t>
            </a:r>
            <a:r>
              <a:rPr lang="en-US" altLang="ja-JP" dirty="0"/>
              <a:t>ACP</a:t>
            </a:r>
            <a:r>
              <a:rPr lang="ja-JP" altLang="en-US" dirty="0"/>
              <a:t>）とはどのようなものかについて説明します。</a:t>
            </a:r>
          </a:p>
          <a:p>
            <a:r>
              <a:rPr lang="ja-JP" altLang="en-US" dirty="0"/>
              <a:t>従来の研究機関では、スライドの下部に示す</a:t>
            </a:r>
            <a:r>
              <a:rPr lang="en-US" altLang="ja-JP" dirty="0"/>
              <a:t>4</a:t>
            </a:r>
            <a:r>
              <a:rPr lang="ja-JP" altLang="en-US" dirty="0"/>
              <a:t>つの研究室がそれぞれ個別に</a:t>
            </a:r>
            <a:r>
              <a:rPr lang="en-US" altLang="ja-JP" dirty="0"/>
              <a:t>GPU</a:t>
            </a:r>
            <a:r>
              <a:rPr lang="ja-JP" altLang="en-US" dirty="0"/>
              <a:t>を所有しており、各研究室は自分たちの</a:t>
            </a:r>
            <a:r>
              <a:rPr lang="en-US" altLang="ja-JP" dirty="0"/>
              <a:t>GPU</a:t>
            </a:r>
            <a:r>
              <a:rPr lang="ja-JP" altLang="en-US" dirty="0"/>
              <a:t>のみを用いてタスクを処理しています。このような構成では、研究室ごとに</a:t>
            </a:r>
            <a:r>
              <a:rPr lang="en-US" altLang="ja-JP" dirty="0"/>
              <a:t>GPU</a:t>
            </a:r>
            <a:r>
              <a:rPr lang="ja-JP" altLang="en-US" dirty="0"/>
              <a:t>の利用状況が異なり、繁忙期には</a:t>
            </a:r>
            <a:r>
              <a:rPr lang="en-US" altLang="ja-JP" dirty="0"/>
              <a:t>GPU</a:t>
            </a:r>
            <a:r>
              <a:rPr lang="ja-JP" altLang="en-US" dirty="0"/>
              <a:t>が不足する一方で、別の研究室では</a:t>
            </a:r>
            <a:r>
              <a:rPr lang="en-US" altLang="ja-JP" dirty="0"/>
              <a:t>GPU</a:t>
            </a:r>
            <a:r>
              <a:rPr lang="ja-JP" altLang="en-US" dirty="0"/>
              <a:t>が遊休状態になっている場合があります。つまり、学内全体で見ると資源が十分に存在していても、局所的な偏りによって効率的に活用できていないという課題があります。</a:t>
            </a:r>
          </a:p>
          <a:p>
            <a:r>
              <a:rPr lang="ja-JP" altLang="en-US" dirty="0"/>
              <a:t>そこで、このような状況に</a:t>
            </a:r>
            <a:r>
              <a:rPr lang="en-US" altLang="ja-JP" dirty="0"/>
              <a:t>ACP</a:t>
            </a:r>
            <a:r>
              <a:rPr lang="ja-JP" altLang="en-US" dirty="0"/>
              <a:t>を導入します。</a:t>
            </a:r>
            <a:r>
              <a:rPr lang="en-US" altLang="ja-JP" dirty="0"/>
              <a:t>ACP</a:t>
            </a:r>
            <a:r>
              <a:rPr lang="ja-JP" altLang="en-US" dirty="0"/>
              <a:t>を導入することで、各研究室が所有する</a:t>
            </a:r>
            <a:r>
              <a:rPr lang="en-US" altLang="ja-JP" dirty="0"/>
              <a:t>GPU</a:t>
            </a:r>
            <a:r>
              <a:rPr lang="ja-JP" altLang="en-US" dirty="0"/>
              <a:t>をネットワークを介して接続し、一つの共有基盤として統合します。</a:t>
            </a:r>
            <a:r>
              <a:rPr lang="en-US" altLang="ja-JP" dirty="0"/>
              <a:t>GPU</a:t>
            </a:r>
            <a:r>
              <a:rPr lang="ja-JP" altLang="en-US" dirty="0"/>
              <a:t>に余裕があったり、あるいは利用していない時間帯がある研究室は、その</a:t>
            </a:r>
            <a:r>
              <a:rPr lang="en-US" altLang="ja-JP" dirty="0"/>
              <a:t>GPU</a:t>
            </a:r>
            <a:r>
              <a:rPr lang="ja-JP" altLang="en-US" dirty="0"/>
              <a:t>資源を</a:t>
            </a:r>
            <a:r>
              <a:rPr lang="en-US" altLang="ja-JP" dirty="0"/>
              <a:t>ACP</a:t>
            </a:r>
            <a:r>
              <a:rPr lang="ja-JP" altLang="en-US" dirty="0"/>
              <a:t>上に提供します。</a:t>
            </a:r>
          </a:p>
          <a:p>
            <a:r>
              <a:rPr lang="ja-JP" altLang="en-US" dirty="0"/>
              <a:t>一方で、</a:t>
            </a:r>
            <a:r>
              <a:rPr lang="en-US" altLang="ja-JP" dirty="0"/>
              <a:t>GPU</a:t>
            </a:r>
            <a:r>
              <a:rPr lang="ja-JP" altLang="en-US" dirty="0"/>
              <a:t>が不足している研究室は、</a:t>
            </a:r>
            <a:r>
              <a:rPr lang="en-US" altLang="ja-JP" dirty="0"/>
              <a:t>ACP</a:t>
            </a:r>
            <a:r>
              <a:rPr lang="ja-JP" altLang="en-US" dirty="0"/>
              <a:t>上に登録された他研究室の</a:t>
            </a:r>
            <a:r>
              <a:rPr lang="en-US" altLang="ja-JP" dirty="0"/>
              <a:t>GPU</a:t>
            </a:r>
            <a:r>
              <a:rPr lang="ja-JP" altLang="en-US" dirty="0"/>
              <a:t>を利用してタスクを処理することが可能になります。この仕組みにより、学内全体の遊休資源を有効活用し、リソースの偏在を緩和することができます。</a:t>
            </a:r>
          </a:p>
          <a:p>
            <a:r>
              <a:rPr lang="ja-JP" altLang="en-US" dirty="0"/>
              <a:t>最終的な目標は、個々の研究室単位ではなく、学内全体としてのスループットを向上させることです。</a:t>
            </a:r>
            <a:r>
              <a:rPr lang="en-US" altLang="ja-JP" dirty="0"/>
              <a:t>ACP</a:t>
            </a:r>
            <a:r>
              <a:rPr lang="ja-JP" altLang="en-US" dirty="0"/>
              <a:t>は、そのための基盤となる共有インフラとして位置づけられます。</a:t>
            </a:r>
          </a:p>
          <a:p>
            <a:br>
              <a:rPr lang="ja-JP" altLang="en-US" dirty="0"/>
            </a:br>
            <a:endParaRPr lang="ja-JP" altLang="en-US" dirty="0"/>
          </a:p>
        </p:txBody>
      </p:sp>
      <p:sp>
        <p:nvSpPr>
          <p:cNvPr id="4" name="スライド番号プレースホルダー 3"/>
          <p:cNvSpPr>
            <a:spLocks noGrp="1"/>
          </p:cNvSpPr>
          <p:nvPr>
            <p:ph type="sldNum" sz="quarter" idx="5"/>
          </p:nvPr>
        </p:nvSpPr>
        <p:spPr/>
        <p:txBody>
          <a:bodyPr/>
          <a:lstStyle/>
          <a:p>
            <a:fld id="{074C1465-738F-4BB6-B6E4-EBA8CE2D4CD8}" type="slidenum">
              <a:rPr kumimoji="1" lang="ja-JP" altLang="en-US" smtClean="0"/>
              <a:t>3</a:t>
            </a:fld>
            <a:endParaRPr kumimoji="1" lang="ja-JP" altLang="en-US"/>
          </a:p>
        </p:txBody>
      </p:sp>
    </p:spTree>
    <p:extLst>
      <p:ext uri="{BB962C8B-B14F-4D97-AF65-F5344CB8AC3E}">
        <p14:creationId xmlns:p14="http://schemas.microsoft.com/office/powerpoint/2010/main" val="3348311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ただ、計算資源の共有という考え方自体は新しいものではありません。</a:t>
            </a:r>
            <a:r>
              <a:rPr lang="en-US" altLang="ja-JP" dirty="0"/>
              <a:t>2000</a:t>
            </a:r>
            <a:r>
              <a:rPr lang="ja-JP" altLang="en-US" dirty="0"/>
              <a:t>年代には、グリッドコンピューティングとして、複数組織に分散する計算資源をネットワーク越しに統合し、仮想的に一つの大規模基盤として利用する取り組みが行われてきました。</a:t>
            </a:r>
          </a:p>
          <a:p>
            <a:pPr>
              <a:lnSpc>
                <a:spcPct val="150000"/>
              </a:lnSpc>
            </a:pPr>
            <a:r>
              <a:rPr lang="ja-JP" altLang="en-US" dirty="0"/>
              <a:t>しかし、</a:t>
            </a:r>
            <a:r>
              <a:rPr lang="ja-JP" altLang="en-US" sz="1200" dirty="0"/>
              <a:t>資源提供はボランティアであり、資源提供者の権利保護が十分に設計されていなかった　</a:t>
            </a:r>
            <a:r>
              <a:rPr lang="ja-JP" altLang="en-US" sz="1200" b="1" dirty="0">
                <a:solidFill>
                  <a:schemeClr val="accent3">
                    <a:lumMod val="75000"/>
                  </a:schemeClr>
                </a:solidFill>
              </a:rPr>
              <a:t>→　</a:t>
            </a:r>
            <a:r>
              <a:rPr lang="ja-JP" altLang="en-US" sz="1200" dirty="0"/>
              <a:t>持続的な運用が</a:t>
            </a:r>
            <a:r>
              <a:rPr lang="ja-JP" altLang="en-US" sz="1200" b="1" dirty="0">
                <a:solidFill>
                  <a:schemeClr val="accent3">
                    <a:lumMod val="75000"/>
                  </a:schemeClr>
                </a:solidFill>
              </a:rPr>
              <a:t>困難</a:t>
            </a:r>
            <a:endParaRPr lang="en-US" altLang="ja-JP" sz="1200" b="1" dirty="0">
              <a:solidFill>
                <a:schemeClr val="accent3">
                  <a:lumMod val="75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そのため本研究の目的として、「</a:t>
            </a:r>
            <a:r>
              <a:rPr lang="en-US" altLang="ja-JP" dirty="0"/>
              <a:t>A</a:t>
            </a:r>
            <a:r>
              <a:rPr lang="ja-JP" altLang="en-US" sz="1200" dirty="0"/>
              <a:t>各研究室が保有する</a:t>
            </a:r>
            <a:r>
              <a:rPr lang="en-US" altLang="ja-JP" sz="1200" dirty="0"/>
              <a:t>GPU</a:t>
            </a:r>
            <a:r>
              <a:rPr lang="ja-JP" altLang="en-US" sz="1200" dirty="0"/>
              <a:t>をより多く提供してもらえて、持続的な運用が可能となる制度設計を構築することとしました。</a:t>
            </a:r>
            <a:r>
              <a:rPr lang="ja-JP" altLang="en-US" dirty="0"/>
              <a:t>一般に共有促進には金銭的報酬が有効とされますが、研究室間で直接的な金銭のやり取りや予算の付け替えを行うことは制度的に困難です。したがって、本研究では金銭による経済的インセンティブは採用せず、所有者が「自発的に自分の</a:t>
            </a:r>
            <a:r>
              <a:rPr lang="en-US" altLang="ja-JP" dirty="0"/>
              <a:t>GPU</a:t>
            </a:r>
            <a:r>
              <a:rPr lang="ja-JP" altLang="en-US" dirty="0"/>
              <a:t>を貸し出したくなる」制度設計を行うことが、本研究の目的です。</a:t>
            </a:r>
          </a:p>
        </p:txBody>
      </p:sp>
      <p:sp>
        <p:nvSpPr>
          <p:cNvPr id="4" name="スライド番号プレースホルダー 3"/>
          <p:cNvSpPr>
            <a:spLocks noGrp="1"/>
          </p:cNvSpPr>
          <p:nvPr>
            <p:ph type="sldNum" sz="quarter" idx="5"/>
          </p:nvPr>
        </p:nvSpPr>
        <p:spPr/>
        <p:txBody>
          <a:bodyPr/>
          <a:lstStyle/>
          <a:p>
            <a:fld id="{074C1465-738F-4BB6-B6E4-EBA8CE2D4CD8}" type="slidenum">
              <a:rPr kumimoji="1" lang="ja-JP" altLang="en-US" smtClean="0"/>
              <a:t>4</a:t>
            </a:fld>
            <a:endParaRPr kumimoji="1" lang="ja-JP" altLang="en-US"/>
          </a:p>
        </p:txBody>
      </p:sp>
    </p:spTree>
    <p:extLst>
      <p:ext uri="{BB962C8B-B14F-4D97-AF65-F5344CB8AC3E}">
        <p14:creationId xmlns:p14="http://schemas.microsoft.com/office/powerpoint/2010/main" val="30133842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では、従来の共有基盤における課題について詳しく説明します。仮に明確な運用ルールを設けず、単純な共有システムを構築した場合、高性能な</a:t>
            </a:r>
            <a:r>
              <a:rPr lang="en-US" altLang="ja-JP" dirty="0"/>
              <a:t>GPU</a:t>
            </a:r>
            <a:r>
              <a:rPr lang="ja-JP" altLang="en-US" dirty="0"/>
              <a:t>には他ユーザーからのタスクが集中することが想定されます。その結果、資源の所有者が自分で利用したいタイミングで</a:t>
            </a:r>
            <a:r>
              <a:rPr lang="en-US" altLang="ja-JP" dirty="0"/>
              <a:t>GPU</a:t>
            </a:r>
            <a:r>
              <a:rPr lang="ja-JP" altLang="en-US" dirty="0"/>
              <a:t>を使用できない状況が生じます。こうした状況が続けば、所有者は自らの</a:t>
            </a:r>
            <a:r>
              <a:rPr lang="en-US" altLang="ja-JP" dirty="0"/>
              <a:t>GPU</a:t>
            </a:r>
            <a:r>
              <a:rPr lang="ja-JP" altLang="en-US" dirty="0"/>
              <a:t>を共有基盤に提供しなくなってしまいます。</a:t>
            </a:r>
          </a:p>
          <a:p>
            <a:r>
              <a:rPr lang="ja-JP" altLang="en-US" dirty="0"/>
              <a:t>さらに、高性能な</a:t>
            </a:r>
            <a:r>
              <a:rPr lang="en-US" altLang="ja-JP" dirty="0"/>
              <a:t>GPU</a:t>
            </a:r>
            <a:r>
              <a:rPr lang="ja-JP" altLang="en-US" dirty="0"/>
              <a:t>が一台離脱すると、次に性能の高い</a:t>
            </a:r>
            <a:r>
              <a:rPr lang="en-US" altLang="ja-JP" dirty="0"/>
              <a:t>GPU</a:t>
            </a:r>
            <a:r>
              <a:rPr lang="ja-JP" altLang="en-US" dirty="0"/>
              <a:t>へと負荷が集中し、同様の離脱が連鎖的に発生する可能性があります。このような悪循環が進行すれば、最終的には</a:t>
            </a:r>
            <a:r>
              <a:rPr lang="en-US" altLang="ja-JP" dirty="0"/>
              <a:t>ACP</a:t>
            </a:r>
            <a:r>
              <a:rPr lang="ja-JP" altLang="en-US" dirty="0"/>
              <a:t>から資源が失われ、共有基盤として機能しなくなるおそれがあります。</a:t>
            </a:r>
          </a:p>
          <a:p>
            <a:r>
              <a:rPr lang="ja-JP" altLang="en-US" dirty="0"/>
              <a:t>したがって、資源を安心して提供してもらうためには、ほかのユーザーからの占有を受けず、資源提供者の所有権を明確に保証し、利便性を最優先に扱う制度を導入することが不可欠です。</a:t>
            </a:r>
            <a:endParaRPr lang="en-US" altLang="ja-JP" dirty="0"/>
          </a:p>
          <a:p>
            <a:endParaRPr lang="en-US" altLang="ja-JP" dirty="0"/>
          </a:p>
        </p:txBody>
      </p:sp>
      <p:sp>
        <p:nvSpPr>
          <p:cNvPr id="4" name="スライド番号プレースホルダー 3"/>
          <p:cNvSpPr>
            <a:spLocks noGrp="1"/>
          </p:cNvSpPr>
          <p:nvPr>
            <p:ph type="sldNum" sz="quarter" idx="5"/>
          </p:nvPr>
        </p:nvSpPr>
        <p:spPr/>
        <p:txBody>
          <a:bodyPr/>
          <a:lstStyle/>
          <a:p>
            <a:fld id="{074C1465-738F-4BB6-B6E4-EBA8CE2D4CD8}" type="slidenum">
              <a:rPr kumimoji="1" lang="ja-JP" altLang="en-US" smtClean="0"/>
              <a:t>5</a:t>
            </a:fld>
            <a:endParaRPr kumimoji="1" lang="ja-JP" altLang="en-US"/>
          </a:p>
        </p:txBody>
      </p:sp>
    </p:spTree>
    <p:extLst>
      <p:ext uri="{BB962C8B-B14F-4D97-AF65-F5344CB8AC3E}">
        <p14:creationId xmlns:p14="http://schemas.microsoft.com/office/powerpoint/2010/main" val="40563857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そこで私は、「所有者優先権を保証するプリエンプティブ方式を用いた共有基盤」を提案します。</a:t>
            </a:r>
          </a:p>
          <a:p>
            <a:r>
              <a:rPr lang="ja-JP" altLang="en-US" dirty="0"/>
              <a:t>本基盤では、各</a:t>
            </a:r>
            <a:r>
              <a:rPr lang="en-US" altLang="ja-JP" dirty="0"/>
              <a:t>GPU</a:t>
            </a:r>
            <a:r>
              <a:rPr lang="ja-JP" altLang="en-US" dirty="0"/>
              <a:t>の所有者が本来持っている利用権を尊重しながら、遊休時間を有効活用できる仕組みを実現することを目的としています。従来の共有方式では、共有効率を重視するあまり、所有者が即時に資源を利用できない可能性がありました。本提案では、この課題を解決することを目指しています。</a:t>
            </a:r>
          </a:p>
          <a:p>
            <a:r>
              <a:rPr lang="ja-JP" altLang="en-US" dirty="0"/>
              <a:t>基盤の概要は次のとおりです。ユーザーが</a:t>
            </a:r>
            <a:r>
              <a:rPr lang="en-US" altLang="ja-JP" dirty="0"/>
              <a:t>ACP</a:t>
            </a:r>
            <a:r>
              <a:rPr lang="ja-JP" altLang="en-US" dirty="0"/>
              <a:t>にタスクを投入すると、</a:t>
            </a:r>
            <a:r>
              <a:rPr lang="en-US" altLang="ja-JP" dirty="0"/>
              <a:t>ACP</a:t>
            </a:r>
            <a:r>
              <a:rPr lang="ja-JP" altLang="en-US" dirty="0"/>
              <a:t>管理ポータルが現在のリソース状況や負荷状況を考慮し、このタスクを最短時間で完了できる</a:t>
            </a:r>
            <a:r>
              <a:rPr lang="en-US" altLang="ja-JP" dirty="0"/>
              <a:t>GPU</a:t>
            </a:r>
            <a:r>
              <a:rPr lang="ja-JP" altLang="en-US" dirty="0"/>
              <a:t>に割り当てます。これにより、全体として効率的な資源活用を図ります。</a:t>
            </a:r>
          </a:p>
          <a:p>
            <a:r>
              <a:rPr lang="ja-JP" altLang="en-US" dirty="0"/>
              <a:t>一方で、タスクの実行中に、その</a:t>
            </a:r>
            <a:r>
              <a:rPr lang="en-US" altLang="ja-JP" dirty="0"/>
              <a:t>GPU</a:t>
            </a:r>
            <a:r>
              <a:rPr lang="ja-JP" altLang="en-US" dirty="0"/>
              <a:t>の所有者が当該</a:t>
            </a:r>
            <a:r>
              <a:rPr lang="en-US" altLang="ja-JP" dirty="0"/>
              <a:t>GPU</a:t>
            </a:r>
            <a:r>
              <a:rPr lang="ja-JP" altLang="en-US" dirty="0"/>
              <a:t>の利用を希望した場合には、所有者の優先権を保証するために、実行中のタスクをプリエンプション（途中停止）します。そして、</a:t>
            </a:r>
            <a:r>
              <a:rPr lang="en-US" altLang="ja-JP" dirty="0"/>
              <a:t>GPU</a:t>
            </a:r>
            <a:r>
              <a:rPr lang="ja-JP" altLang="en-US" dirty="0"/>
              <a:t>を即座に所有者へ返却します。その際、中断されたタスクはチェックポイント情報を基に他の</a:t>
            </a:r>
            <a:r>
              <a:rPr lang="en-US" altLang="ja-JP" dirty="0"/>
              <a:t>GPU</a:t>
            </a:r>
            <a:r>
              <a:rPr lang="ja-JP" altLang="en-US" dirty="0"/>
              <a:t>へマイグレーションし、処理を継続します。これにより、タスクの再実行による大きな損失を防ぎつつ、所有者の即時利用要求にも対応可能としています。</a:t>
            </a:r>
          </a:p>
          <a:p>
            <a:r>
              <a:rPr lang="ja-JP" altLang="en-US" dirty="0"/>
              <a:t>このように、プリエンプティブ方式を採用することで、所有者が安心して資源を共有できる環境を構築できると考えています。</a:t>
            </a:r>
          </a:p>
        </p:txBody>
      </p:sp>
      <p:sp>
        <p:nvSpPr>
          <p:cNvPr id="4" name="スライド番号プレースホルダー 3"/>
          <p:cNvSpPr>
            <a:spLocks noGrp="1"/>
          </p:cNvSpPr>
          <p:nvPr>
            <p:ph type="sldNum" sz="quarter" idx="5"/>
          </p:nvPr>
        </p:nvSpPr>
        <p:spPr/>
        <p:txBody>
          <a:bodyPr/>
          <a:lstStyle/>
          <a:p>
            <a:fld id="{074C1465-738F-4BB6-B6E4-EBA8CE2D4CD8}" type="slidenum">
              <a:rPr kumimoji="1" lang="ja-JP" altLang="en-US" smtClean="0"/>
              <a:t>6</a:t>
            </a:fld>
            <a:endParaRPr kumimoji="1" lang="ja-JP" altLang="en-US"/>
          </a:p>
        </p:txBody>
      </p:sp>
    </p:spTree>
    <p:extLst>
      <p:ext uri="{BB962C8B-B14F-4D97-AF65-F5344CB8AC3E}">
        <p14:creationId xmlns:p14="http://schemas.microsoft.com/office/powerpoint/2010/main" val="28689196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続いて、このプリエンプティブ方式がシステム全体のタスク完了時間に与える影響について検証しました。今回の評価では、「タスクがいかに早く完了するか」に着目し、指標としてターンアラウンドタイム（</a:t>
            </a:r>
            <a:r>
              <a:rPr lang="en-US" altLang="ja-JP" dirty="0"/>
              <a:t>TAT</a:t>
            </a:r>
            <a:r>
              <a:rPr lang="ja-JP" altLang="en-US" dirty="0"/>
              <a:t>）を用いています。</a:t>
            </a:r>
            <a:r>
              <a:rPr lang="en-US" altLang="ja-JP" dirty="0"/>
              <a:t>TAT</a:t>
            </a:r>
            <a:r>
              <a:rPr lang="ja-JP" altLang="en-US" dirty="0"/>
              <a:t>は、タスクの投入から完了までに要した総時間を表す指標であり、ユーザー体感の性能を評価する上で重要な指標です。</a:t>
            </a:r>
          </a:p>
          <a:p>
            <a:r>
              <a:rPr lang="ja-JP" altLang="en-US" dirty="0"/>
              <a:t>評価にあたっては、学内環境をモデル化し、各ユーザーがポアソン分布に従ってタスクを生成する状況を想定しました。そして、動的に</a:t>
            </a:r>
            <a:r>
              <a:rPr lang="en-US" altLang="ja-JP" dirty="0"/>
              <a:t>GPU</a:t>
            </a:r>
            <a:r>
              <a:rPr lang="ja-JP" altLang="en-US" dirty="0"/>
              <a:t>を選択して処理を行うイベントシミュレーションを構築し、異なる運用ルールのもとで</a:t>
            </a:r>
            <a:r>
              <a:rPr lang="en-US" altLang="ja-JP" dirty="0"/>
              <a:t>TAT</a:t>
            </a:r>
            <a:r>
              <a:rPr lang="ja-JP" altLang="en-US" dirty="0"/>
              <a:t>を比較しました。</a:t>
            </a:r>
          </a:p>
          <a:p>
            <a:r>
              <a:rPr lang="ja-JP" altLang="en-US" dirty="0"/>
              <a:t>比較対象とした運用ルールは、以下の</a:t>
            </a:r>
            <a:r>
              <a:rPr lang="en-US" altLang="ja-JP" dirty="0"/>
              <a:t>4</a:t>
            </a:r>
            <a:r>
              <a:rPr lang="ja-JP" altLang="en-US" dirty="0"/>
              <a:t>つです。</a:t>
            </a:r>
          </a:p>
          <a:p>
            <a:r>
              <a:rPr lang="en-US" altLang="ja-JP" dirty="0"/>
              <a:t>1</a:t>
            </a:r>
            <a:r>
              <a:rPr lang="ja-JP" altLang="en-US" dirty="0"/>
              <a:t>つ目は、</a:t>
            </a:r>
            <a:r>
              <a:rPr lang="en-US" altLang="ja-JP" dirty="0"/>
              <a:t>ACP</a:t>
            </a:r>
            <a:r>
              <a:rPr lang="ja-JP" altLang="en-US" dirty="0"/>
              <a:t>を導入しない「共有なし」の方式です。この方式では、各ユーザーが自分の</a:t>
            </a:r>
            <a:r>
              <a:rPr lang="en-US" altLang="ja-JP" dirty="0"/>
              <a:t>GPU</a:t>
            </a:r>
            <a:r>
              <a:rPr lang="ja-JP" altLang="en-US" dirty="0"/>
              <a:t>のみを使用してタスクを処理します。他者の</a:t>
            </a:r>
            <a:r>
              <a:rPr lang="en-US" altLang="ja-JP" dirty="0"/>
              <a:t>GPU</a:t>
            </a:r>
            <a:r>
              <a:rPr lang="ja-JP" altLang="en-US" dirty="0"/>
              <a:t>を利用できないため、</a:t>
            </a:r>
            <a:r>
              <a:rPr lang="en-US" altLang="ja-JP" dirty="0"/>
              <a:t>GPU</a:t>
            </a:r>
            <a:r>
              <a:rPr lang="ja-JP" altLang="en-US" dirty="0"/>
              <a:t>の遊休時間が発生しやすい一方で、所有権は完全に保証されます。これは共有基盤を導入しない場合のベースラインとして位置づけています。</a:t>
            </a:r>
          </a:p>
          <a:p>
            <a:r>
              <a:rPr lang="en-US" altLang="ja-JP" dirty="0"/>
              <a:t>2</a:t>
            </a:r>
            <a:r>
              <a:rPr lang="ja-JP" altLang="en-US" dirty="0"/>
              <a:t>つ目は、</a:t>
            </a:r>
            <a:r>
              <a:rPr lang="en-US" altLang="ja-JP" dirty="0"/>
              <a:t>FCFS</a:t>
            </a:r>
            <a:r>
              <a:rPr lang="ja-JP" altLang="en-US" dirty="0"/>
              <a:t>（先着順）方式です。この方式では、全ユーザーが</a:t>
            </a:r>
            <a:r>
              <a:rPr lang="en-US" altLang="ja-JP" dirty="0"/>
              <a:t>ACP</a:t>
            </a:r>
            <a:r>
              <a:rPr lang="ja-JP" altLang="en-US" dirty="0"/>
              <a:t>上のすべての</a:t>
            </a:r>
            <a:r>
              <a:rPr lang="en-US" altLang="ja-JP" dirty="0"/>
              <a:t>GPU</a:t>
            </a:r>
            <a:r>
              <a:rPr lang="ja-JP" altLang="en-US" dirty="0"/>
              <a:t>を平等に利用可能とし、タスクは早い者勝ちで割り当てられます。資源利用効率は向上すると考えられますが、所有者の優先権は考慮されません。</a:t>
            </a:r>
          </a:p>
          <a:p>
            <a:r>
              <a:rPr lang="en-US" altLang="ja-JP" dirty="0"/>
              <a:t>3</a:t>
            </a:r>
            <a:r>
              <a:rPr lang="ja-JP" altLang="en-US" dirty="0"/>
              <a:t>つ目は、所有者優先方式です。この方式では、自分の</a:t>
            </a:r>
            <a:r>
              <a:rPr lang="en-US" altLang="ja-JP" dirty="0"/>
              <a:t>GPU</a:t>
            </a:r>
            <a:r>
              <a:rPr lang="ja-JP" altLang="en-US" dirty="0"/>
              <a:t>が空いている場合には即座に利用できますが、他者のタスクが実行中である場合には、その終了を待つ必要があります。つまり、所有者に一定の優先権はあるものの、実行中タスクの中断は行いません。そのため、所有者の利便性とタスク継続性のバランスをとった方式といえます。</a:t>
            </a:r>
          </a:p>
          <a:p>
            <a:r>
              <a:rPr lang="en-US" altLang="ja-JP" dirty="0"/>
              <a:t>4</a:t>
            </a:r>
            <a:r>
              <a:rPr lang="ja-JP" altLang="en-US" dirty="0"/>
              <a:t>つ目が、本研究で提案するプリエンプティブ方式です。この方式では、自分の</a:t>
            </a:r>
            <a:r>
              <a:rPr lang="en-US" altLang="ja-JP" dirty="0"/>
              <a:t>GPU</a:t>
            </a:r>
            <a:r>
              <a:rPr lang="ja-JP" altLang="en-US" dirty="0"/>
              <a:t>を利用する際に、たとえ他者のタスクが実行中であってもプリエンプションを行い、即座に自分のタスクを実行できます。中断されたタスクは他の</a:t>
            </a:r>
            <a:r>
              <a:rPr lang="en-US" altLang="ja-JP" dirty="0"/>
              <a:t>GPU</a:t>
            </a:r>
            <a:r>
              <a:rPr lang="ja-JP" altLang="en-US" dirty="0"/>
              <a:t>へマイグレーションし、処理を継続します。これにより、所有者の即時利用要求に最大限応えることができるようになります。</a:t>
            </a:r>
          </a:p>
        </p:txBody>
      </p:sp>
      <p:sp>
        <p:nvSpPr>
          <p:cNvPr id="4" name="スライド番号プレースホルダー 3"/>
          <p:cNvSpPr>
            <a:spLocks noGrp="1"/>
          </p:cNvSpPr>
          <p:nvPr>
            <p:ph type="sldNum" sz="quarter" idx="5"/>
          </p:nvPr>
        </p:nvSpPr>
        <p:spPr/>
        <p:txBody>
          <a:bodyPr/>
          <a:lstStyle/>
          <a:p>
            <a:fld id="{074C1465-738F-4BB6-B6E4-EBA8CE2D4CD8}" type="slidenum">
              <a:rPr kumimoji="1" lang="ja-JP" altLang="en-US" smtClean="0"/>
              <a:t>7</a:t>
            </a:fld>
            <a:endParaRPr kumimoji="1" lang="ja-JP" altLang="en-US"/>
          </a:p>
        </p:txBody>
      </p:sp>
    </p:spTree>
    <p:extLst>
      <p:ext uri="{BB962C8B-B14F-4D97-AF65-F5344CB8AC3E}">
        <p14:creationId xmlns:p14="http://schemas.microsoft.com/office/powerpoint/2010/main" val="49330098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続いて、シミュレーションにおける変数設定について説明します。</a:t>
            </a:r>
          </a:p>
          <a:p>
            <a:r>
              <a:rPr lang="ja-JP" altLang="en-US" dirty="0"/>
              <a:t>ユーザー数は</a:t>
            </a:r>
            <a:r>
              <a:rPr lang="en-US" altLang="ja-JP" dirty="0"/>
              <a:t>18</a:t>
            </a:r>
            <a:r>
              <a:rPr lang="ja-JP" altLang="en-US" dirty="0"/>
              <a:t>人とし、各ユーザーが</a:t>
            </a:r>
            <a:r>
              <a:rPr lang="en-US" altLang="ja-JP" dirty="0"/>
              <a:t>1</a:t>
            </a:r>
            <a:r>
              <a:rPr lang="ja-JP" altLang="en-US" dirty="0"/>
              <a:t>台の</a:t>
            </a:r>
            <a:r>
              <a:rPr lang="en-US" altLang="ja-JP" dirty="0"/>
              <a:t>GPU</a:t>
            </a:r>
            <a:r>
              <a:rPr lang="ja-JP" altLang="en-US" dirty="0"/>
              <a:t>を所有している設定としています。</a:t>
            </a:r>
            <a:r>
              <a:rPr lang="en-US" altLang="ja-JP" dirty="0"/>
              <a:t>GPU</a:t>
            </a:r>
            <a:r>
              <a:rPr lang="ja-JP" altLang="en-US" dirty="0"/>
              <a:t>の性能については、右の表に示すように、実際に利用されている</a:t>
            </a:r>
            <a:r>
              <a:rPr lang="en-US" altLang="ja-JP" dirty="0"/>
              <a:t>9</a:t>
            </a:r>
            <a:r>
              <a:rPr lang="ja-JP" altLang="en-US" dirty="0"/>
              <a:t>種類の</a:t>
            </a:r>
            <a:r>
              <a:rPr lang="en-US" altLang="ja-JP" dirty="0"/>
              <a:t>GPU</a:t>
            </a:r>
            <a:r>
              <a:rPr lang="ja-JP" altLang="en-US" dirty="0"/>
              <a:t>を想定し、それぞれのベンチマーク結果に基づいて計算性能を定義しています。各</a:t>
            </a:r>
            <a:r>
              <a:rPr lang="en-US" altLang="ja-JP" dirty="0"/>
              <a:t>GPU</a:t>
            </a:r>
            <a:r>
              <a:rPr lang="ja-JP" altLang="en-US" dirty="0"/>
              <a:t>種別を</a:t>
            </a:r>
            <a:r>
              <a:rPr lang="en-US" altLang="ja-JP" dirty="0"/>
              <a:t>2</a:t>
            </a:r>
            <a:r>
              <a:rPr lang="ja-JP" altLang="en-US" dirty="0"/>
              <a:t>名ずつが所持する構成とし、合計で</a:t>
            </a:r>
            <a:r>
              <a:rPr lang="en-US" altLang="ja-JP" dirty="0"/>
              <a:t>18</a:t>
            </a:r>
            <a:r>
              <a:rPr lang="ja-JP" altLang="en-US" dirty="0"/>
              <a:t>ユーザーとなります。</a:t>
            </a:r>
          </a:p>
          <a:p>
            <a:r>
              <a:rPr lang="ja-JP" altLang="en-US" dirty="0"/>
              <a:t>タスクの到着率は</a:t>
            </a:r>
            <a:r>
              <a:rPr lang="en-US" altLang="ja-JP" dirty="0"/>
              <a:t>0.005 [tasks/s] </a:t>
            </a:r>
            <a:r>
              <a:rPr lang="ja-JP" altLang="en-US" dirty="0"/>
              <a:t>と設定しました。これは平均すると</a:t>
            </a:r>
            <a:r>
              <a:rPr lang="en-US" altLang="ja-JP" dirty="0"/>
              <a:t>200</a:t>
            </a:r>
            <a:r>
              <a:rPr lang="ja-JP" altLang="en-US" dirty="0"/>
              <a:t>秒に</a:t>
            </a:r>
            <a:r>
              <a:rPr lang="en-US" altLang="ja-JP" dirty="0"/>
              <a:t>1</a:t>
            </a:r>
            <a:r>
              <a:rPr lang="ja-JP" altLang="en-US" dirty="0"/>
              <a:t>回タスクが発生することを意味します。タスクサイズは全ユーザーで同一とし、</a:t>
            </a:r>
            <a:r>
              <a:rPr lang="en-US" altLang="ja-JP" dirty="0"/>
              <a:t>YOLOv7</a:t>
            </a:r>
            <a:r>
              <a:rPr lang="ja-JP" altLang="en-US" dirty="0"/>
              <a:t>の学習タスクを想定しています。具体的には、画像</a:t>
            </a:r>
            <a:r>
              <a:rPr lang="en-US" altLang="ja-JP" dirty="0"/>
              <a:t>1</a:t>
            </a:r>
            <a:r>
              <a:rPr lang="ja-JP" altLang="en-US" dirty="0"/>
              <a:t>枚あたり平均</a:t>
            </a:r>
            <a:r>
              <a:rPr lang="en-US" altLang="ja-JP" dirty="0"/>
              <a:t>0.360 TFLOPs</a:t>
            </a:r>
            <a:r>
              <a:rPr lang="ja-JP" altLang="en-US" dirty="0"/>
              <a:t>の計算量を要し、エポック数は</a:t>
            </a:r>
            <a:r>
              <a:rPr lang="en-US" altLang="ja-JP" dirty="0"/>
              <a:t>10</a:t>
            </a:r>
            <a:r>
              <a:rPr lang="ja-JP" altLang="en-US" dirty="0"/>
              <a:t>回と設定しています。</a:t>
            </a:r>
          </a:p>
          <a:p>
            <a:r>
              <a:rPr lang="ja-JP" altLang="en-US" dirty="0"/>
              <a:t>また、本シミュレーションではシステムの負荷状況を制御するために、「総タスク量 </a:t>
            </a:r>
            <a:r>
              <a:rPr lang="en-US" altLang="ja-JP" dirty="0"/>
              <a:t>÷ </a:t>
            </a:r>
            <a:r>
              <a:rPr lang="ja-JP" altLang="en-US" dirty="0"/>
              <a:t>全</a:t>
            </a:r>
            <a:r>
              <a:rPr lang="en-US" altLang="ja-JP" dirty="0"/>
              <a:t>GPU</a:t>
            </a:r>
            <a:r>
              <a:rPr lang="ja-JP" altLang="en-US" dirty="0"/>
              <a:t>の可能処理タスク量」で定義される負荷率をパラメータとして設定しています。この負荷率は、システム全体に対してどの程度の処理要求が発生しているかを示す指標です。</a:t>
            </a:r>
          </a:p>
          <a:p>
            <a:r>
              <a:rPr lang="ja-JP" altLang="en-US" dirty="0"/>
              <a:t>負荷率を変化させるために、バッチサイズを調整することで</a:t>
            </a:r>
            <a:r>
              <a:rPr lang="en-US" altLang="ja-JP" dirty="0"/>
              <a:t>1</a:t>
            </a:r>
            <a:r>
              <a:rPr lang="ja-JP" altLang="en-US" dirty="0"/>
              <a:t>タスクあたりの計算量を変動させています。これにより、低負荷状態から高負荷状態まで幅広い条件下において、各運用方式の性能を比較できるようにしています。</a:t>
            </a:r>
          </a:p>
        </p:txBody>
      </p:sp>
      <p:sp>
        <p:nvSpPr>
          <p:cNvPr id="4" name="スライド番号プレースホルダー 3"/>
          <p:cNvSpPr>
            <a:spLocks noGrp="1"/>
          </p:cNvSpPr>
          <p:nvPr>
            <p:ph type="sldNum" sz="quarter" idx="5"/>
          </p:nvPr>
        </p:nvSpPr>
        <p:spPr/>
        <p:txBody>
          <a:bodyPr/>
          <a:lstStyle/>
          <a:p>
            <a:fld id="{074C1465-738F-4BB6-B6E4-EBA8CE2D4CD8}" type="slidenum">
              <a:rPr kumimoji="1" lang="ja-JP" altLang="en-US" smtClean="0"/>
              <a:t>8</a:t>
            </a:fld>
            <a:endParaRPr kumimoji="1" lang="ja-JP" altLang="en-US"/>
          </a:p>
        </p:txBody>
      </p:sp>
    </p:spTree>
    <p:extLst>
      <p:ext uri="{BB962C8B-B14F-4D97-AF65-F5344CB8AC3E}">
        <p14:creationId xmlns:p14="http://schemas.microsoft.com/office/powerpoint/2010/main" val="164001961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こちらのグラフは、全ユーザーの平均ターンアラウンドタイム（</a:t>
            </a:r>
            <a:r>
              <a:rPr lang="en-US" altLang="ja-JP" dirty="0"/>
              <a:t>TAT</a:t>
            </a:r>
            <a:r>
              <a:rPr lang="ja-JP" altLang="en-US" dirty="0"/>
              <a:t>）を示したものです。縦軸は平均</a:t>
            </a:r>
            <a:r>
              <a:rPr lang="en-US" altLang="ja-JP" dirty="0"/>
              <a:t>TAT</a:t>
            </a:r>
            <a:r>
              <a:rPr lang="ja-JP" altLang="en-US" dirty="0"/>
              <a:t>を表しており、値は </a:t>
            </a:r>
            <a:r>
              <a:rPr lang="en-US" altLang="ja-JP" dirty="0"/>
              <a:t>log10 </a:t>
            </a:r>
            <a:r>
              <a:rPr lang="ja-JP" altLang="en-US" dirty="0"/>
              <a:t>スケールで表示しています。横軸はシステムの負荷率です。</a:t>
            </a:r>
          </a:p>
          <a:p>
            <a:r>
              <a:rPr lang="ja-JP" altLang="en-US" dirty="0"/>
              <a:t>まず注目すべき点は、「共有なし」のシナリオと、</a:t>
            </a:r>
            <a:r>
              <a:rPr lang="en-US" altLang="ja-JP" dirty="0"/>
              <a:t>3</a:t>
            </a:r>
            <a:r>
              <a:rPr lang="ja-JP" altLang="en-US" dirty="0"/>
              <a:t>つの共有シナリオとの</a:t>
            </a:r>
            <a:r>
              <a:rPr lang="en-US" altLang="ja-JP" dirty="0"/>
              <a:t>TAT</a:t>
            </a:r>
            <a:r>
              <a:rPr lang="ja-JP" altLang="en-US" dirty="0"/>
              <a:t>の差です。いずれの負荷率においても、</a:t>
            </a:r>
            <a:r>
              <a:rPr lang="en-US" altLang="ja-JP" dirty="0"/>
              <a:t>ACP</a:t>
            </a:r>
            <a:r>
              <a:rPr lang="ja-JP" altLang="en-US" dirty="0"/>
              <a:t>を導入することで平均</a:t>
            </a:r>
            <a:r>
              <a:rPr lang="en-US" altLang="ja-JP" dirty="0"/>
              <a:t>TAT</a:t>
            </a:r>
            <a:r>
              <a:rPr lang="ja-JP" altLang="en-US" dirty="0"/>
              <a:t>が大きく短縮されていることが確認できます。これは、学内全体で</a:t>
            </a:r>
            <a:r>
              <a:rPr lang="en-US" altLang="ja-JP" dirty="0"/>
              <a:t>GPU</a:t>
            </a:r>
            <a:r>
              <a:rPr lang="ja-JP" altLang="en-US" dirty="0"/>
              <a:t>資源を共有することにより、遊休資源が有効活用され、処理効率が向上していることを示しています。</a:t>
            </a:r>
          </a:p>
          <a:p>
            <a:r>
              <a:rPr lang="ja-JP" altLang="en-US" dirty="0"/>
              <a:t>次に、共有方式間の比較に注目します。負荷率が</a:t>
            </a:r>
            <a:r>
              <a:rPr lang="en-US" altLang="ja-JP" dirty="0"/>
              <a:t>0.8</a:t>
            </a:r>
            <a:r>
              <a:rPr lang="ja-JP" altLang="en-US" dirty="0"/>
              <a:t>までは、プリエンプティブ方式の平均</a:t>
            </a:r>
            <a:r>
              <a:rPr lang="en-US" altLang="ja-JP" dirty="0"/>
              <a:t>TAT</a:t>
            </a:r>
            <a:r>
              <a:rPr lang="ja-JP" altLang="en-US" dirty="0"/>
              <a:t>が最も小さくなっています。つまり、中程度までの負荷環境においては、所有者優先権を強く保証する本方式が、全体の性能向上にも寄与していることが分かります。</a:t>
            </a:r>
          </a:p>
          <a:p>
            <a:r>
              <a:rPr lang="ja-JP" altLang="en-US" dirty="0"/>
              <a:t>しかし、負荷率が</a:t>
            </a:r>
            <a:r>
              <a:rPr lang="en-US" altLang="ja-JP" dirty="0"/>
              <a:t>0.8</a:t>
            </a:r>
            <a:r>
              <a:rPr lang="ja-JP" altLang="en-US" dirty="0"/>
              <a:t>を超えると、プリエンプティブ方式の</a:t>
            </a:r>
            <a:r>
              <a:rPr lang="en-US" altLang="ja-JP" dirty="0"/>
              <a:t>TAT</a:t>
            </a:r>
            <a:r>
              <a:rPr lang="ja-JP" altLang="en-US" dirty="0"/>
              <a:t>が急激に増加し、他方式との間で逆転現象が生じています。</a:t>
            </a:r>
          </a:p>
          <a:p>
            <a:r>
              <a:rPr lang="ja-JP" altLang="en-US" dirty="0"/>
              <a:t>この要因として、負荷率が高まるにつれてプリエンプションの発生回数が増加する点が挙げられます。特に、高性能な</a:t>
            </a:r>
            <a:r>
              <a:rPr lang="en-US" altLang="ja-JP" dirty="0"/>
              <a:t>GPU</a:t>
            </a:r>
            <a:r>
              <a:rPr lang="ja-JP" altLang="en-US" dirty="0"/>
              <a:t>を所有するユーザーが頻繁に自身の</a:t>
            </a:r>
            <a:r>
              <a:rPr lang="en-US" altLang="ja-JP" dirty="0"/>
              <a:t>GPU</a:t>
            </a:r>
            <a:r>
              <a:rPr lang="ja-JP" altLang="en-US" dirty="0"/>
              <a:t>を取り戻すことで、低性能</a:t>
            </a:r>
            <a:r>
              <a:rPr lang="en-US" altLang="ja-JP" dirty="0"/>
              <a:t>GPU</a:t>
            </a:r>
            <a:r>
              <a:rPr lang="ja-JP" altLang="en-US" dirty="0"/>
              <a:t>へマイグレーションされたタスクの処理時間が大きく延びます。その結果、低性能</a:t>
            </a:r>
            <a:r>
              <a:rPr lang="en-US" altLang="ja-JP" dirty="0"/>
              <a:t>GPU</a:t>
            </a:r>
            <a:r>
              <a:rPr lang="ja-JP" altLang="en-US" dirty="0"/>
              <a:t>を主に利用するユーザーの平均</a:t>
            </a:r>
            <a:r>
              <a:rPr lang="en-US" altLang="ja-JP" dirty="0"/>
              <a:t>TAT</a:t>
            </a:r>
            <a:r>
              <a:rPr lang="ja-JP" altLang="en-US" dirty="0"/>
              <a:t>が大幅に増加し、全体平均を押し上げる要因となっています。</a:t>
            </a:r>
          </a:p>
        </p:txBody>
      </p:sp>
      <p:sp>
        <p:nvSpPr>
          <p:cNvPr id="4" name="スライド番号プレースホルダー 3"/>
          <p:cNvSpPr>
            <a:spLocks noGrp="1"/>
          </p:cNvSpPr>
          <p:nvPr>
            <p:ph type="sldNum" sz="quarter" idx="5"/>
          </p:nvPr>
        </p:nvSpPr>
        <p:spPr/>
        <p:txBody>
          <a:bodyPr/>
          <a:lstStyle/>
          <a:p>
            <a:fld id="{074C1465-738F-4BB6-B6E4-EBA8CE2D4CD8}" type="slidenum">
              <a:rPr kumimoji="1" lang="ja-JP" altLang="en-US" smtClean="0"/>
              <a:t>9</a:t>
            </a:fld>
            <a:endParaRPr kumimoji="1" lang="ja-JP" altLang="en-US"/>
          </a:p>
        </p:txBody>
      </p:sp>
    </p:spTree>
    <p:extLst>
      <p:ext uri="{BB962C8B-B14F-4D97-AF65-F5344CB8AC3E}">
        <p14:creationId xmlns:p14="http://schemas.microsoft.com/office/powerpoint/2010/main" val="35961011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次に、高性能な</a:t>
            </a:r>
            <a:r>
              <a:rPr lang="en-US" altLang="ja-JP" dirty="0"/>
              <a:t>GPU</a:t>
            </a:r>
            <a:r>
              <a:rPr lang="ja-JP" altLang="en-US" dirty="0"/>
              <a:t>所有者のみの平均</a:t>
            </a:r>
            <a:r>
              <a:rPr lang="en-US" altLang="ja-JP" dirty="0"/>
              <a:t>TAT</a:t>
            </a:r>
            <a:r>
              <a:rPr lang="ja-JP" altLang="en-US" dirty="0"/>
              <a:t>を示したグラフに注目します。ここでいう高性能ユーザーとは、性能上位</a:t>
            </a:r>
            <a:r>
              <a:rPr lang="en-US" altLang="ja-JP" dirty="0"/>
              <a:t>3</a:t>
            </a:r>
            <a:r>
              <a:rPr lang="ja-JP" altLang="en-US" dirty="0"/>
              <a:t>種類の</a:t>
            </a:r>
            <a:r>
              <a:rPr lang="en-US" altLang="ja-JP" dirty="0"/>
              <a:t>GPU</a:t>
            </a:r>
            <a:r>
              <a:rPr lang="ja-JP" altLang="en-US" dirty="0"/>
              <a:t>を所有するユーザーと定義しています。</a:t>
            </a:r>
          </a:p>
          <a:p>
            <a:r>
              <a:rPr lang="ja-JP" altLang="en-US" dirty="0"/>
              <a:t>先ほどの全体平均</a:t>
            </a:r>
            <a:r>
              <a:rPr lang="en-US" altLang="ja-JP" dirty="0"/>
              <a:t>TAT</a:t>
            </a:r>
            <a:r>
              <a:rPr lang="ja-JP" altLang="en-US" dirty="0"/>
              <a:t>のグラフとは異なり、このグラフでは明確な傾向が見られます。いずれの負荷率においても、</a:t>
            </a:r>
            <a:r>
              <a:rPr lang="en-US" altLang="ja-JP" dirty="0"/>
              <a:t>FCFS</a:t>
            </a:r>
            <a:r>
              <a:rPr lang="ja-JP" altLang="en-US" dirty="0"/>
              <a:t>方式および所有者優先方式では、「共有なし」の場合よりも平均</a:t>
            </a:r>
            <a:r>
              <a:rPr lang="en-US" altLang="ja-JP" dirty="0"/>
              <a:t>TAT</a:t>
            </a:r>
            <a:r>
              <a:rPr lang="ja-JP" altLang="en-US" dirty="0"/>
              <a:t>が大きくなっています。つまり、高性能</a:t>
            </a:r>
            <a:r>
              <a:rPr lang="en-US" altLang="ja-JP" dirty="0"/>
              <a:t>GPU</a:t>
            </a:r>
            <a:r>
              <a:rPr lang="ja-JP" altLang="en-US" dirty="0"/>
              <a:t>を所有するユーザーにとっては、これらの共有方式に参加することで、かえってタスク完了時間が延びてしまう結果となっています。</a:t>
            </a:r>
          </a:p>
          <a:p>
            <a:r>
              <a:rPr lang="ja-JP" altLang="en-US" dirty="0"/>
              <a:t>一方で、プリエンプティブ方式では、「共有なし」の場合とほぼ同水準の</a:t>
            </a:r>
            <a:r>
              <a:rPr lang="en-US" altLang="ja-JP" dirty="0"/>
              <a:t>TAT</a:t>
            </a:r>
            <a:r>
              <a:rPr lang="ja-JP" altLang="en-US" dirty="0"/>
              <a:t>が維持されています。これは、所有者が必要なときに自分の</a:t>
            </a:r>
            <a:r>
              <a:rPr lang="en-US" altLang="ja-JP" dirty="0"/>
              <a:t>GPU</a:t>
            </a:r>
            <a:r>
              <a:rPr lang="ja-JP" altLang="en-US" dirty="0"/>
              <a:t>を即座に利用できるため、自身の処理性能が実質的に損なわれないことを示しています。</a:t>
            </a:r>
          </a:p>
          <a:p>
            <a:r>
              <a:rPr lang="ja-JP" altLang="en-US" dirty="0"/>
              <a:t>この結果から、高性能ユーザーにとっては、プリエンプティブ方式以外の運用ルールでは参加によって不利益が生じる可能性があり、参加インセンティブが損なわれることが分かります。逆に言えば、所有者の利便性を強く保証するプリエンプティブ方式を採用することで、高性能ユーザーの参加を維持できる可能性が示唆されます。</a:t>
            </a:r>
            <a:endParaRPr lang="en-US" altLang="ja-JP" dirty="0"/>
          </a:p>
          <a:p>
            <a:endParaRPr lang="en-US" altLang="ja-JP" dirty="0"/>
          </a:p>
          <a:p>
            <a:r>
              <a:rPr lang="ja-JP" altLang="en-US" dirty="0"/>
              <a:t>プリエンプティブ方式はでも</a:t>
            </a:r>
            <a:r>
              <a:rPr lang="en-US" altLang="ja-JP" dirty="0"/>
              <a:t>TAT</a:t>
            </a:r>
            <a:r>
              <a:rPr lang="ja-JP" altLang="en-US" dirty="0"/>
              <a:t>が下がるということを主張する</a:t>
            </a:r>
            <a:endParaRPr lang="en-US" altLang="ja-JP" dirty="0"/>
          </a:p>
          <a:p>
            <a:r>
              <a:rPr lang="ja-JP" altLang="en-US" dirty="0"/>
              <a:t>今後の展望でポイント制を導入することでレバレッジを広げる</a:t>
            </a:r>
          </a:p>
        </p:txBody>
      </p:sp>
      <p:sp>
        <p:nvSpPr>
          <p:cNvPr id="4" name="スライド番号プレースホルダー 3"/>
          <p:cNvSpPr>
            <a:spLocks noGrp="1"/>
          </p:cNvSpPr>
          <p:nvPr>
            <p:ph type="sldNum" sz="quarter" idx="5"/>
          </p:nvPr>
        </p:nvSpPr>
        <p:spPr/>
        <p:txBody>
          <a:bodyPr/>
          <a:lstStyle/>
          <a:p>
            <a:fld id="{074C1465-738F-4BB6-B6E4-EBA8CE2D4CD8}" type="slidenum">
              <a:rPr kumimoji="1" lang="ja-JP" altLang="en-US" smtClean="0"/>
              <a:t>10</a:t>
            </a:fld>
            <a:endParaRPr kumimoji="1" lang="ja-JP" altLang="en-US"/>
          </a:p>
        </p:txBody>
      </p:sp>
    </p:spTree>
    <p:extLst>
      <p:ext uri="{BB962C8B-B14F-4D97-AF65-F5344CB8AC3E}">
        <p14:creationId xmlns:p14="http://schemas.microsoft.com/office/powerpoint/2010/main" val="401577259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次に、これまでは全ユーザーが</a:t>
            </a:r>
            <a:r>
              <a:rPr lang="en-US" altLang="ja-JP" dirty="0"/>
              <a:t>ACP</a:t>
            </a:r>
            <a:r>
              <a:rPr lang="ja-JP" altLang="en-US" dirty="0"/>
              <a:t>に参加するという前提のもとで性能評価を行っていましたが、より現実的な状況を想定し、各ユーザーが自らの判断で</a:t>
            </a:r>
            <a:r>
              <a:rPr lang="en-US" altLang="ja-JP" dirty="0"/>
              <a:t>ACP</a:t>
            </a:r>
            <a:r>
              <a:rPr lang="ja-JP" altLang="en-US" dirty="0"/>
              <a:t>に資源を提供するかどうかを選択できるゲーム理論的シミュレーションを実施しました。これにより、各運用ルールの「持続性」を評価しています。</a:t>
            </a:r>
          </a:p>
          <a:p>
            <a:r>
              <a:rPr lang="ja-JP" altLang="en-US" dirty="0"/>
              <a:t>具体的には、</a:t>
            </a:r>
            <a:r>
              <a:rPr lang="en-US" altLang="ja-JP" dirty="0"/>
              <a:t>24</a:t>
            </a:r>
            <a:r>
              <a:rPr lang="ja-JP" altLang="en-US" dirty="0"/>
              <a:t>時間のイベントシミュレーションを</a:t>
            </a:r>
            <a:r>
              <a:rPr lang="en-US" altLang="ja-JP" dirty="0"/>
              <a:t>1</a:t>
            </a:r>
            <a:r>
              <a:rPr lang="ja-JP" altLang="en-US" dirty="0"/>
              <a:t>ループとし、これを複数回繰り返します。各ループの終了時点で、ユーザーはターンアラウンドタイム（</a:t>
            </a:r>
            <a:r>
              <a:rPr lang="en-US" altLang="ja-JP" dirty="0"/>
              <a:t>TAT</a:t>
            </a:r>
            <a:r>
              <a:rPr lang="ja-JP" altLang="en-US" dirty="0"/>
              <a:t>）のみを効用関数とし、次のループに参加するか不参加とするかを判断します。つまり、意思決定の基準は「自分のタスクがどれだけ速く終わるか」のみとしています。</a:t>
            </a:r>
          </a:p>
          <a:p>
            <a:r>
              <a:rPr lang="ja-JP" altLang="en-US" dirty="0"/>
              <a:t>前のループで</a:t>
            </a:r>
            <a:r>
              <a:rPr lang="en-US" altLang="ja-JP" dirty="0"/>
              <a:t>ACP</a:t>
            </a:r>
            <a:r>
              <a:rPr lang="ja-JP" altLang="en-US" dirty="0"/>
              <a:t>に参加していたユーザーは、そのループにおける実測</a:t>
            </a:r>
            <a:r>
              <a:rPr lang="en-US" altLang="ja-JP" dirty="0"/>
              <a:t>TAT</a:t>
            </a:r>
            <a:r>
              <a:rPr lang="ja-JP" altLang="en-US" dirty="0"/>
              <a:t>と、自身の</a:t>
            </a:r>
            <a:r>
              <a:rPr lang="en-US" altLang="ja-JP" dirty="0"/>
              <a:t>GPU</a:t>
            </a:r>
            <a:r>
              <a:rPr lang="ja-JP" altLang="en-US" dirty="0"/>
              <a:t>のみを利用した場合の</a:t>
            </a:r>
            <a:r>
              <a:rPr lang="en-US" altLang="ja-JP" dirty="0"/>
              <a:t>TAT</a:t>
            </a:r>
            <a:r>
              <a:rPr lang="ja-JP" altLang="en-US" dirty="0"/>
              <a:t>を比較し、参加継続の是非を決定します。一方、前のループで不参加であったユーザーは、その時点の参加者構成に自分が加わった場合の</a:t>
            </a:r>
            <a:r>
              <a:rPr lang="en-US" altLang="ja-JP" dirty="0"/>
              <a:t>TAT</a:t>
            </a:r>
            <a:r>
              <a:rPr lang="ja-JP" altLang="en-US" dirty="0"/>
              <a:t>を予測し、単独利用時の</a:t>
            </a:r>
            <a:r>
              <a:rPr lang="en-US" altLang="ja-JP" dirty="0"/>
              <a:t>TAT</a:t>
            </a:r>
            <a:r>
              <a:rPr lang="ja-JP" altLang="en-US" dirty="0"/>
              <a:t>と比較することで参加の可否を判断します。</a:t>
            </a:r>
          </a:p>
          <a:p>
            <a:r>
              <a:rPr lang="ja-JP" altLang="en-US" dirty="0"/>
              <a:t>評価指標としては、各ループにおける参加者数の推移と、ループを</a:t>
            </a:r>
            <a:r>
              <a:rPr lang="en-US" altLang="ja-JP" dirty="0"/>
              <a:t>10</a:t>
            </a:r>
            <a:r>
              <a:rPr lang="ja-JP" altLang="en-US" dirty="0"/>
              <a:t>回繰り返した後の最終参加者数を用いています。これにより、各運用ルールが長期的にどの程度の参加者を維持できるのか、すなわちシステムの持続性を比較しています。</a:t>
            </a:r>
          </a:p>
        </p:txBody>
      </p:sp>
      <p:sp>
        <p:nvSpPr>
          <p:cNvPr id="4" name="スライド番号プレースホルダー 3"/>
          <p:cNvSpPr>
            <a:spLocks noGrp="1"/>
          </p:cNvSpPr>
          <p:nvPr>
            <p:ph type="sldNum" sz="quarter" idx="5"/>
          </p:nvPr>
        </p:nvSpPr>
        <p:spPr/>
        <p:txBody>
          <a:bodyPr/>
          <a:lstStyle/>
          <a:p>
            <a:fld id="{074C1465-738F-4BB6-B6E4-EBA8CE2D4CD8}" type="slidenum">
              <a:rPr kumimoji="1" lang="ja-JP" altLang="en-US" smtClean="0"/>
              <a:t>11</a:t>
            </a:fld>
            <a:endParaRPr kumimoji="1" lang="ja-JP" altLang="en-US"/>
          </a:p>
        </p:txBody>
      </p:sp>
    </p:spTree>
    <p:extLst>
      <p:ext uri="{BB962C8B-B14F-4D97-AF65-F5344CB8AC3E}">
        <p14:creationId xmlns:p14="http://schemas.microsoft.com/office/powerpoint/2010/main" val="13647407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こちらは、負荷率を</a:t>
            </a:r>
            <a:r>
              <a:rPr lang="en-US" altLang="ja-JP" dirty="0"/>
              <a:t>0.7</a:t>
            </a:r>
            <a:r>
              <a:rPr lang="ja-JP" altLang="en-US" dirty="0"/>
              <a:t>に固定してゲーム理論的シミュレーションを行った結果です。縦軸は参加者数、横軸はループ番号を示しています。青、オレンジ、赤の線は、それぞれ低性能ユーザー、中性能ユーザー、高性能ユーザーの参加者数を表しています。</a:t>
            </a:r>
          </a:p>
          <a:p>
            <a:r>
              <a:rPr lang="ja-JP" altLang="en-US" dirty="0"/>
              <a:t>まず、上段のグラフである</a:t>
            </a:r>
            <a:r>
              <a:rPr lang="en-US" altLang="ja-JP" dirty="0"/>
              <a:t>FCFS</a:t>
            </a:r>
            <a:r>
              <a:rPr lang="ja-JP" altLang="en-US" dirty="0"/>
              <a:t>方式について説明します。この方式では、高性能ユーザーが早い段階でシステムから離脱していることが分かります。高性能ユーザーが離脱すると、システム全体の処理性能が低下し、それに伴って中性能ユーザーも次第に離脱します。最終的には参加者がほとんど残らず、システムには</a:t>
            </a:r>
            <a:r>
              <a:rPr lang="en-US" altLang="ja-JP" dirty="0"/>
              <a:t>1</a:t>
            </a:r>
            <a:r>
              <a:rPr lang="ja-JP" altLang="en-US" dirty="0"/>
              <a:t>人しか残らない状態に収束しています。これは、</a:t>
            </a:r>
            <a:r>
              <a:rPr lang="en-US" altLang="ja-JP" dirty="0"/>
              <a:t>FCFS</a:t>
            </a:r>
            <a:r>
              <a:rPr lang="ja-JP" altLang="en-US" dirty="0"/>
              <a:t>方式では高性能ユーザーにとって参加メリットがないため、持続的な運用が困難であることを示しています。</a:t>
            </a:r>
          </a:p>
          <a:p>
            <a:r>
              <a:rPr lang="ja-JP" altLang="en-US" dirty="0"/>
              <a:t>次に、左図の所有者優先方式についてです。この方式でも、高性能ユーザーは比較的早期に離脱しています。ただし、</a:t>
            </a:r>
            <a:r>
              <a:rPr lang="en-US" altLang="ja-JP" dirty="0"/>
              <a:t>FCFS</a:t>
            </a:r>
            <a:r>
              <a:rPr lang="ja-JP" altLang="en-US" dirty="0"/>
              <a:t>方式とは異なり、中性能ユーザーの一部はシステムに残存しています。その結果、低性能ユーザーは全員が参加を継続するという状態になっています。つまり、一定の参加者は維持できるものの、高性能層を維持できないため、システム全体としては最適な資源構成とはいえません。</a:t>
            </a:r>
          </a:p>
          <a:p>
            <a:r>
              <a:rPr lang="ja-JP" altLang="en-US" dirty="0"/>
              <a:t>最後に、右図のプリエンプティブ方式についてです。この方式では、高性能ユーザーの</a:t>
            </a:r>
            <a:r>
              <a:rPr lang="en-US" altLang="ja-JP" dirty="0"/>
              <a:t>TAT</a:t>
            </a:r>
            <a:r>
              <a:rPr lang="ja-JP" altLang="en-US" dirty="0"/>
              <a:t>がシステム参加によって悪化しないため、離脱が発生していません。その結果、高性能</a:t>
            </a:r>
            <a:r>
              <a:rPr lang="en-US" altLang="ja-JP" dirty="0"/>
              <a:t>GPU</a:t>
            </a:r>
            <a:r>
              <a:rPr lang="ja-JP" altLang="en-US" dirty="0"/>
              <a:t>が常に共有基盤上に存在し続けます。これにより、他のユーザーも高性能</a:t>
            </a:r>
            <a:r>
              <a:rPr lang="en-US" altLang="ja-JP" dirty="0"/>
              <a:t>GPU</a:t>
            </a:r>
            <a:r>
              <a:rPr lang="ja-JP" altLang="en-US" dirty="0"/>
              <a:t>を利用できるため、全体として参加メリットが生まれます。最終的には、全ユーザーが参加する状態へと収束しています。</a:t>
            </a:r>
          </a:p>
          <a:p>
            <a:r>
              <a:rPr lang="ja-JP" altLang="en-US" dirty="0"/>
              <a:t>この結果から、持続的な共有基盤を実現するためには、高性能資源の提供者が不利益を被らない設計が不可欠であり、その点でプリエンプティブ方式が有効であることが示されました。</a:t>
            </a:r>
          </a:p>
        </p:txBody>
      </p:sp>
      <p:sp>
        <p:nvSpPr>
          <p:cNvPr id="4" name="スライド番号プレースホルダー 3"/>
          <p:cNvSpPr>
            <a:spLocks noGrp="1"/>
          </p:cNvSpPr>
          <p:nvPr>
            <p:ph type="sldNum" sz="quarter" idx="5"/>
          </p:nvPr>
        </p:nvSpPr>
        <p:spPr/>
        <p:txBody>
          <a:bodyPr/>
          <a:lstStyle/>
          <a:p>
            <a:fld id="{074C1465-738F-4BB6-B6E4-EBA8CE2D4CD8}" type="slidenum">
              <a:rPr kumimoji="1" lang="ja-JP" altLang="en-US" smtClean="0"/>
              <a:t>12</a:t>
            </a:fld>
            <a:endParaRPr kumimoji="1" lang="ja-JP" altLang="en-US"/>
          </a:p>
        </p:txBody>
      </p:sp>
    </p:spTree>
    <p:extLst>
      <p:ext uri="{BB962C8B-B14F-4D97-AF65-F5344CB8AC3E}">
        <p14:creationId xmlns:p14="http://schemas.microsoft.com/office/powerpoint/2010/main" val="12450973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先ほどの結果は、負荷率</a:t>
            </a:r>
            <a:r>
              <a:rPr lang="en-US" altLang="ja-JP" dirty="0"/>
              <a:t>0.7</a:t>
            </a:r>
            <a:r>
              <a:rPr lang="ja-JP" altLang="en-US" dirty="0"/>
              <a:t>における参加者数の推移を示したものでした。ここでは、負荷率の変化に伴って最終的な参加者数がどのように変化するかを検証しています。</a:t>
            </a:r>
          </a:p>
          <a:p>
            <a:r>
              <a:rPr lang="ja-JP" altLang="en-US" dirty="0"/>
              <a:t>具体的には、タスクサイズを調整することで負荷率をパラメータとして変化させ、各シナリオにおける最終参加者数を縦軸にプロットしています。</a:t>
            </a:r>
          </a:p>
          <a:p>
            <a:r>
              <a:rPr lang="ja-JP" altLang="en-US" dirty="0"/>
              <a:t>グラフから分かるように、プリエンプティブ方式は、いずれの負荷率においても高い参加者数を維持しています。負荷が増加しても参加者が大きく減少することはなく、安定した運用が可能であることが示されています。</a:t>
            </a:r>
          </a:p>
          <a:p>
            <a:r>
              <a:rPr lang="ja-JP" altLang="en-US" dirty="0"/>
              <a:t>一方、</a:t>
            </a:r>
            <a:r>
              <a:rPr lang="en-US" altLang="ja-JP" dirty="0"/>
              <a:t>FCFS</a:t>
            </a:r>
            <a:r>
              <a:rPr lang="ja-JP" altLang="en-US" dirty="0"/>
              <a:t>方式では、負荷率に関わらず参加者がほとんど存在しない結果となっています。これは、高性能ユーザーにとって参加メリットがなく、早期に離脱が発生するため、持続的なシステム構成が成立しないことを示しています。</a:t>
            </a:r>
          </a:p>
          <a:p>
            <a:r>
              <a:rPr lang="ja-JP" altLang="en-US" dirty="0"/>
              <a:t>また、所有者優先方式では、負荷率が高くなるにつれて参加者数が増加する傾向が見られます。これは、中性能</a:t>
            </a:r>
            <a:r>
              <a:rPr lang="en-US" altLang="ja-JP" dirty="0"/>
              <a:t>GPU</a:t>
            </a:r>
            <a:r>
              <a:rPr lang="ja-JP" altLang="en-US" dirty="0"/>
              <a:t>を所有するユーザーが、自身の</a:t>
            </a:r>
            <a:r>
              <a:rPr lang="en-US" altLang="ja-JP" dirty="0"/>
              <a:t>GPU</a:t>
            </a:r>
            <a:r>
              <a:rPr lang="ja-JP" altLang="en-US" dirty="0"/>
              <a:t>のみではタスクを処理しきれなくなる状況において、他ユーザーとの共有によって遊休時間を活用することで</a:t>
            </a:r>
            <a:r>
              <a:rPr lang="en-US" altLang="ja-JP" dirty="0"/>
              <a:t>TAT</a:t>
            </a:r>
            <a:r>
              <a:rPr lang="ja-JP" altLang="en-US" dirty="0"/>
              <a:t>を短縮できるため、参加インセンティブが高まることが要因と考えられます。</a:t>
            </a:r>
          </a:p>
          <a:p>
            <a:r>
              <a:rPr lang="ja-JP" altLang="en-US" dirty="0"/>
              <a:t>以上の結果から、プリエンプティブ方式は負荷条件に依存せず安定的に参加者を維持できる一方で、他の方式では負荷状況に応じて参加構造が大きく変化することが明らかになりました。</a:t>
            </a:r>
          </a:p>
        </p:txBody>
      </p:sp>
      <p:sp>
        <p:nvSpPr>
          <p:cNvPr id="4" name="スライド番号プレースホルダー 3"/>
          <p:cNvSpPr>
            <a:spLocks noGrp="1"/>
          </p:cNvSpPr>
          <p:nvPr>
            <p:ph type="sldNum" sz="quarter" idx="5"/>
          </p:nvPr>
        </p:nvSpPr>
        <p:spPr/>
        <p:txBody>
          <a:bodyPr/>
          <a:lstStyle/>
          <a:p>
            <a:fld id="{074C1465-738F-4BB6-B6E4-EBA8CE2D4CD8}" type="slidenum">
              <a:rPr kumimoji="1" lang="ja-JP" altLang="en-US" smtClean="0"/>
              <a:t>13</a:t>
            </a:fld>
            <a:endParaRPr kumimoji="1" lang="ja-JP" altLang="en-US"/>
          </a:p>
        </p:txBody>
      </p:sp>
    </p:spTree>
    <p:extLst>
      <p:ext uri="{BB962C8B-B14F-4D97-AF65-F5344CB8AC3E}">
        <p14:creationId xmlns:p14="http://schemas.microsoft.com/office/powerpoint/2010/main" val="262376576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本研究では、</a:t>
            </a:r>
            <a:r>
              <a:rPr lang="en-US" altLang="ja-JP" dirty="0"/>
              <a:t>ACP</a:t>
            </a:r>
            <a:r>
              <a:rPr lang="ja-JP" altLang="en-US" dirty="0"/>
              <a:t>を導入することで、システム全体のターンアラウンドタイム（</a:t>
            </a:r>
            <a:r>
              <a:rPr lang="en-US" altLang="ja-JP" dirty="0"/>
              <a:t>TAT</a:t>
            </a:r>
            <a:r>
              <a:rPr lang="ja-JP" altLang="en-US" dirty="0"/>
              <a:t>）が大幅に減少することを示しました。</a:t>
            </a:r>
          </a:p>
          <a:p>
            <a:r>
              <a:rPr lang="ja-JP" altLang="en-US" dirty="0"/>
              <a:t>また、高性能ユーザーに着目すると、プリエンプティブ方式を採用することで、自身の</a:t>
            </a:r>
            <a:r>
              <a:rPr lang="en-US" altLang="ja-JP" dirty="0"/>
              <a:t>GPU</a:t>
            </a:r>
            <a:r>
              <a:rPr lang="ja-JP" altLang="en-US" dirty="0"/>
              <a:t>の優先利用権を確保しつつ、他の</a:t>
            </a:r>
            <a:r>
              <a:rPr lang="en-US" altLang="ja-JP" dirty="0"/>
              <a:t>GPU</a:t>
            </a:r>
            <a:r>
              <a:rPr lang="ja-JP" altLang="en-US" dirty="0"/>
              <a:t>も活用できるため、</a:t>
            </a:r>
            <a:r>
              <a:rPr lang="en-US" altLang="ja-JP" dirty="0"/>
              <a:t>TAT</a:t>
            </a:r>
            <a:r>
              <a:rPr lang="ja-JP" altLang="en-US" dirty="0"/>
              <a:t>を悪化させることなくシステムに参加できることが分かりました。すなわち、本提案は金銭的報酬に依存せず、運用ルールの設計という技術的アプローチによって処理効率を向上させると同時に、ユーザーの参加インセンティブを確保できる可能性を示しています。</a:t>
            </a:r>
          </a:p>
          <a:p>
            <a:r>
              <a:rPr lang="ja-JP" altLang="en-US" dirty="0"/>
              <a:t>今後の展望としては、より現実的な学内環境を再現するために、タスクの多様化や複数</a:t>
            </a:r>
            <a:r>
              <a:rPr lang="en-US" altLang="ja-JP" dirty="0"/>
              <a:t>GPU</a:t>
            </a:r>
            <a:r>
              <a:rPr lang="ja-JP" altLang="en-US" dirty="0"/>
              <a:t>を所有する研究室のモデル化などを行い、シミュレーションの精緻化を進めていきます。</a:t>
            </a:r>
          </a:p>
          <a:p>
            <a:r>
              <a:rPr lang="ja-JP" altLang="en-US" dirty="0"/>
              <a:t>さらに、タスク集中による電力コストの増加やフリーライダー問題といった課題も考慮し、必要に応じてポイント制などの経済的インセンティブの導入についても検討していきます。</a:t>
            </a:r>
          </a:p>
        </p:txBody>
      </p:sp>
      <p:sp>
        <p:nvSpPr>
          <p:cNvPr id="4" name="スライド番号プレースホルダー 3"/>
          <p:cNvSpPr>
            <a:spLocks noGrp="1"/>
          </p:cNvSpPr>
          <p:nvPr>
            <p:ph type="sldNum" sz="quarter" idx="5"/>
          </p:nvPr>
        </p:nvSpPr>
        <p:spPr/>
        <p:txBody>
          <a:bodyPr/>
          <a:lstStyle/>
          <a:p>
            <a:fld id="{074C1465-738F-4BB6-B6E4-EBA8CE2D4CD8}" type="slidenum">
              <a:rPr kumimoji="1" lang="ja-JP" altLang="en-US" smtClean="0"/>
              <a:t>14</a:t>
            </a:fld>
            <a:endParaRPr kumimoji="1" lang="ja-JP" altLang="en-US"/>
          </a:p>
        </p:txBody>
      </p:sp>
    </p:spTree>
    <p:extLst>
      <p:ext uri="{BB962C8B-B14F-4D97-AF65-F5344CB8AC3E}">
        <p14:creationId xmlns:p14="http://schemas.microsoft.com/office/powerpoint/2010/main" val="4205838180"/>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CFB0924-4C56-098C-13CF-DDA972DCC438}"/>
              </a:ext>
            </a:extLst>
          </p:cNvPr>
          <p:cNvSpPr>
            <a:spLocks noGrp="1"/>
          </p:cNvSpPr>
          <p:nvPr>
            <p:ph type="ctrTitle" hasCustomPrompt="1"/>
          </p:nvPr>
        </p:nvSpPr>
        <p:spPr>
          <a:xfrm>
            <a:off x="1524000" y="1854199"/>
            <a:ext cx="9144000" cy="1655763"/>
          </a:xfrm>
        </p:spPr>
        <p:txBody>
          <a:bodyPr anchor="t" anchorCtr="0"/>
          <a:lstStyle>
            <a:lvl1pPr algn="l">
              <a:defRPr sz="6000">
                <a:solidFill>
                  <a:schemeClr val="bg1"/>
                </a:solidFill>
              </a:defRPr>
            </a:lvl1pPr>
          </a:lstStyle>
          <a:p>
            <a:r>
              <a:rPr kumimoji="1" lang="ja-JP" altLang="en-US"/>
              <a:t>発表題目</a:t>
            </a:r>
          </a:p>
        </p:txBody>
      </p:sp>
      <p:sp>
        <p:nvSpPr>
          <p:cNvPr id="3" name="字幕 2">
            <a:extLst>
              <a:ext uri="{FF2B5EF4-FFF2-40B4-BE49-F238E27FC236}">
                <a16:creationId xmlns:a16="http://schemas.microsoft.com/office/drawing/2014/main" id="{854480EE-6EF3-7E65-7A05-0EE0C2137600}"/>
              </a:ext>
            </a:extLst>
          </p:cNvPr>
          <p:cNvSpPr>
            <a:spLocks noGrp="1"/>
          </p:cNvSpPr>
          <p:nvPr>
            <p:ph type="subTitle" idx="1" hasCustomPrompt="1"/>
          </p:nvPr>
        </p:nvSpPr>
        <p:spPr>
          <a:xfrm>
            <a:off x="1524000" y="3791365"/>
            <a:ext cx="9144000" cy="517475"/>
          </a:xfrm>
        </p:spPr>
        <p:txBody>
          <a:bodyPr>
            <a:normAutofit/>
          </a:bodyPr>
          <a:lstStyle>
            <a:lvl1pPr marL="0" indent="0" algn="l">
              <a:buNone/>
              <a:defRPr sz="2800" b="1" u="sng">
                <a:solidFill>
                  <a:schemeClr val="bg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発表者名　大阪大学 情報科学研究科</a:t>
            </a:r>
            <a:endParaRPr kumimoji="1" lang="en-US" altLang="ja-JP"/>
          </a:p>
          <a:p>
            <a:endParaRPr kumimoji="1" lang="en-US" altLang="ja-JP"/>
          </a:p>
        </p:txBody>
      </p:sp>
      <p:sp>
        <p:nvSpPr>
          <p:cNvPr id="4" name="日付プレースホルダー 3">
            <a:extLst>
              <a:ext uri="{FF2B5EF4-FFF2-40B4-BE49-F238E27FC236}">
                <a16:creationId xmlns:a16="http://schemas.microsoft.com/office/drawing/2014/main" id="{4F244CD9-25EC-60E4-4EC0-903F80D1408E}"/>
              </a:ext>
            </a:extLst>
          </p:cNvPr>
          <p:cNvSpPr>
            <a:spLocks noGrp="1"/>
          </p:cNvSpPr>
          <p:nvPr>
            <p:ph type="dt" sz="half" idx="10"/>
          </p:nvPr>
        </p:nvSpPr>
        <p:spPr>
          <a:xfrm>
            <a:off x="9296400" y="184903"/>
            <a:ext cx="2743200" cy="744718"/>
          </a:xfrm>
        </p:spPr>
        <p:txBody>
          <a:bodyPr/>
          <a:lstStyle>
            <a:lvl1pPr>
              <a:defRPr sz="1800">
                <a:solidFill>
                  <a:schemeClr val="bg1"/>
                </a:solidFill>
                <a:latin typeface="+mj-lt"/>
              </a:defRPr>
            </a:lvl1pPr>
          </a:lstStyle>
          <a:p>
            <a:r>
              <a:rPr lang="ja-JP" altLang="en-US"/>
              <a:t>会議名</a:t>
            </a:r>
            <a:endParaRPr lang="en-US" altLang="ja-JP"/>
          </a:p>
          <a:p>
            <a:fld id="{BA3EB691-FF5E-41A6-9C8B-4C4CF21B2DEE}" type="datetime1">
              <a:rPr lang="ja-JP" altLang="en-US" smtClean="0"/>
              <a:t>2026/3/3</a:t>
            </a:fld>
            <a:endParaRPr lang="ja-JP" altLang="en-US"/>
          </a:p>
        </p:txBody>
      </p:sp>
      <p:pic>
        <p:nvPicPr>
          <p:cNvPr id="9" name="図 8" descr="ロゴ, 会社名&#10;&#10;AI 生成コンテンツは誤りを含む可能性があります。">
            <a:extLst>
              <a:ext uri="{FF2B5EF4-FFF2-40B4-BE49-F238E27FC236}">
                <a16:creationId xmlns:a16="http://schemas.microsoft.com/office/drawing/2014/main" id="{D9256B1B-38F1-2BFB-7B53-8D49CF2779B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605101" y="5712643"/>
            <a:ext cx="3434499" cy="852278"/>
          </a:xfrm>
          <a:prstGeom prst="rect">
            <a:avLst/>
          </a:prstGeom>
        </p:spPr>
      </p:pic>
      <p:sp>
        <p:nvSpPr>
          <p:cNvPr id="6" name="テキスト プレースホルダー 5">
            <a:extLst>
              <a:ext uri="{FF2B5EF4-FFF2-40B4-BE49-F238E27FC236}">
                <a16:creationId xmlns:a16="http://schemas.microsoft.com/office/drawing/2014/main" id="{79C68F70-1603-10AC-D098-F23D2F6D0129}"/>
              </a:ext>
            </a:extLst>
          </p:cNvPr>
          <p:cNvSpPr>
            <a:spLocks noGrp="1"/>
          </p:cNvSpPr>
          <p:nvPr>
            <p:ph type="body" sz="quarter" idx="11" hasCustomPrompt="1"/>
          </p:nvPr>
        </p:nvSpPr>
        <p:spPr>
          <a:xfrm>
            <a:off x="1524000" y="4848590"/>
            <a:ext cx="7258050" cy="1095009"/>
          </a:xfrm>
        </p:spPr>
        <p:txBody>
          <a:bodyPr/>
          <a:lstStyle>
            <a:lvl1pPr marL="0" indent="0">
              <a:buNone/>
              <a:defRPr sz="1800">
                <a:solidFill>
                  <a:schemeClr val="bg1"/>
                </a:solidFill>
              </a:defRPr>
            </a:lvl1pPr>
          </a:lstStyle>
          <a:p>
            <a:pPr lvl="0"/>
            <a:r>
              <a:rPr kumimoji="1" lang="ja-JP" altLang="en-US"/>
              <a:t>共著者名　所属</a:t>
            </a:r>
            <a:endParaRPr kumimoji="1" lang="en-US" altLang="ja-JP"/>
          </a:p>
          <a:p>
            <a:pPr lvl="0"/>
            <a:r>
              <a:rPr kumimoji="1" lang="ja-JP" altLang="en-US"/>
              <a:t>共著者名　所属</a:t>
            </a:r>
            <a:endParaRPr kumimoji="1" lang="en-US" altLang="ja-JP"/>
          </a:p>
          <a:p>
            <a:pPr lvl="0"/>
            <a:r>
              <a:rPr kumimoji="1" lang="ja-JP" altLang="en-US"/>
              <a:t>共著者名　所属</a:t>
            </a:r>
          </a:p>
        </p:txBody>
      </p:sp>
      <p:sp>
        <p:nvSpPr>
          <p:cNvPr id="5" name="テキスト ボックス 4">
            <a:extLst>
              <a:ext uri="{FF2B5EF4-FFF2-40B4-BE49-F238E27FC236}">
                <a16:creationId xmlns:a16="http://schemas.microsoft.com/office/drawing/2014/main" id="{2F2C4110-5C2F-A0CF-CEEF-A040395BCB53}"/>
              </a:ext>
            </a:extLst>
          </p:cNvPr>
          <p:cNvSpPr txBox="1"/>
          <p:nvPr userDrawn="1"/>
        </p:nvSpPr>
        <p:spPr>
          <a:xfrm>
            <a:off x="9614913" y="6137114"/>
            <a:ext cx="1334604" cy="276999"/>
          </a:xfrm>
          <a:prstGeom prst="rect">
            <a:avLst/>
          </a:prstGeom>
          <a:solidFill>
            <a:schemeClr val="bg1"/>
          </a:solidFill>
        </p:spPr>
        <p:txBody>
          <a:bodyPr wrap="square" rtlCol="0">
            <a:spAutoFit/>
          </a:bodyPr>
          <a:lstStyle/>
          <a:p>
            <a:r>
              <a:rPr kumimoji="1" lang="en-US" altLang="ja-JP" sz="1200">
                <a:solidFill>
                  <a:srgbClr val="979085"/>
                </a:solidFill>
                <a:latin typeface="Edwardian Script ITC" panose="030303020407070D0804" pitchFamily="66" charset="0"/>
              </a:rPr>
              <a:t>The University of Osaka</a:t>
            </a:r>
            <a:endParaRPr kumimoji="1" lang="ja-JP" altLang="en-US" sz="1200">
              <a:solidFill>
                <a:srgbClr val="979085"/>
              </a:solidFill>
              <a:latin typeface="Edwardian Script ITC" panose="030303020407070D0804" pitchFamily="66" charset="0"/>
            </a:endParaRPr>
          </a:p>
        </p:txBody>
      </p:sp>
    </p:spTree>
    <p:extLst>
      <p:ext uri="{BB962C8B-B14F-4D97-AF65-F5344CB8AC3E}">
        <p14:creationId xmlns:p14="http://schemas.microsoft.com/office/powerpoint/2010/main" val="2775203085"/>
      </p:ext>
    </p:extLst>
  </p:cSld>
  <p:clrMapOvr>
    <a:masterClrMapping/>
  </p:clrMapOvr>
  <p:hf sldNum="0" hdr="0" ftr="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_標準">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CE4981D-F3E1-A957-C0E7-47018581307B}"/>
              </a:ext>
            </a:extLst>
          </p:cNvPr>
          <p:cNvSpPr>
            <a:spLocks noGrp="1"/>
          </p:cNvSpPr>
          <p:nvPr>
            <p:ph type="title"/>
          </p:nvPr>
        </p:nvSpPr>
        <p:spPr>
          <a:xfrm>
            <a:off x="838200" y="231697"/>
            <a:ext cx="8268093" cy="457044"/>
          </a:xfrm>
        </p:spPr>
        <p:txBody>
          <a:bodyPr>
            <a:noAutofit/>
          </a:bodyPr>
          <a:lstStyle>
            <a:lvl1pPr>
              <a:defRPr sz="2800">
                <a:solidFill>
                  <a:schemeClr val="bg1"/>
                </a:solidFill>
              </a:defRPr>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2FF7D598-3437-0B1C-AC16-BAD871C30B3E}"/>
              </a:ext>
            </a:extLst>
          </p:cNvPr>
          <p:cNvSpPr>
            <a:spLocks noGrp="1"/>
          </p:cNvSpPr>
          <p:nvPr>
            <p:ph idx="1"/>
          </p:nvPr>
        </p:nvSpPr>
        <p:spPr>
          <a:xfrm>
            <a:off x="838200" y="1253331"/>
            <a:ext cx="10515600" cy="5327012"/>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スライド番号プレースホルダー 5">
            <a:extLst>
              <a:ext uri="{FF2B5EF4-FFF2-40B4-BE49-F238E27FC236}">
                <a16:creationId xmlns:a16="http://schemas.microsoft.com/office/drawing/2014/main" id="{1978F53E-4C54-5978-324C-CDA5322A0EDC}"/>
              </a:ext>
            </a:extLst>
          </p:cNvPr>
          <p:cNvSpPr>
            <a:spLocks noGrp="1"/>
          </p:cNvSpPr>
          <p:nvPr>
            <p:ph type="sldNum" sz="quarter" idx="12"/>
          </p:nvPr>
        </p:nvSpPr>
        <p:spPr>
          <a:xfrm>
            <a:off x="11160803" y="277657"/>
            <a:ext cx="838200" cy="365125"/>
          </a:xfrm>
        </p:spPr>
        <p:txBody>
          <a:bodyPr/>
          <a:lstStyle>
            <a:lvl1pPr algn="ctr">
              <a:defRPr sz="1800">
                <a:solidFill>
                  <a:schemeClr val="bg1"/>
                </a:solidFill>
              </a:defRPr>
            </a:lvl1pPr>
          </a:lstStyle>
          <a:p>
            <a:fld id="{8D1BC46D-89B1-41A3-BBA1-F56BEABD0A90}" type="slidenum">
              <a:rPr lang="ja-JP" altLang="en-US" smtClean="0"/>
              <a:pPr/>
              <a:t>‹#›</a:t>
            </a:fld>
            <a:endParaRPr lang="ja-JP" altLang="en-US"/>
          </a:p>
        </p:txBody>
      </p:sp>
    </p:spTree>
    <p:extLst>
      <p:ext uri="{BB962C8B-B14F-4D97-AF65-F5344CB8AC3E}">
        <p14:creationId xmlns:p14="http://schemas.microsoft.com/office/powerpoint/2010/main" val="35376588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タイトルとコンテンツ_リード文あり">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CE4981D-F3E1-A957-C0E7-47018581307B}"/>
              </a:ext>
            </a:extLst>
          </p:cNvPr>
          <p:cNvSpPr>
            <a:spLocks noGrp="1"/>
          </p:cNvSpPr>
          <p:nvPr>
            <p:ph type="title"/>
          </p:nvPr>
        </p:nvSpPr>
        <p:spPr>
          <a:xfrm>
            <a:off x="838200" y="231697"/>
            <a:ext cx="8268093" cy="457044"/>
          </a:xfrm>
        </p:spPr>
        <p:txBody>
          <a:bodyPr>
            <a:noAutofit/>
          </a:bodyPr>
          <a:lstStyle>
            <a:lvl1pPr>
              <a:defRPr sz="2800">
                <a:solidFill>
                  <a:schemeClr val="bg1"/>
                </a:solidFill>
              </a:defRPr>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2FF7D598-3437-0B1C-AC16-BAD871C30B3E}"/>
              </a:ext>
            </a:extLst>
          </p:cNvPr>
          <p:cNvSpPr>
            <a:spLocks noGrp="1"/>
          </p:cNvSpPr>
          <p:nvPr>
            <p:ph idx="1" hasCustomPrompt="1"/>
          </p:nvPr>
        </p:nvSpPr>
        <p:spPr>
          <a:xfrm>
            <a:off x="838200" y="2139885"/>
            <a:ext cx="10515600" cy="4440458"/>
          </a:xfrm>
        </p:spPr>
        <p:txBody>
          <a:bodyPr/>
          <a:lstStyle/>
          <a:p>
            <a:pPr lvl="0"/>
            <a:r>
              <a:rPr kumimoji="1" lang="ja-JP" altLang="en-US"/>
              <a:t>メッセージについての補足説明</a:t>
            </a:r>
          </a:p>
        </p:txBody>
      </p:sp>
      <p:sp>
        <p:nvSpPr>
          <p:cNvPr id="6" name="スライド番号プレースホルダー 5">
            <a:extLst>
              <a:ext uri="{FF2B5EF4-FFF2-40B4-BE49-F238E27FC236}">
                <a16:creationId xmlns:a16="http://schemas.microsoft.com/office/drawing/2014/main" id="{1978F53E-4C54-5978-324C-CDA5322A0EDC}"/>
              </a:ext>
            </a:extLst>
          </p:cNvPr>
          <p:cNvSpPr>
            <a:spLocks noGrp="1"/>
          </p:cNvSpPr>
          <p:nvPr>
            <p:ph type="sldNum" sz="quarter" idx="12"/>
          </p:nvPr>
        </p:nvSpPr>
        <p:spPr>
          <a:xfrm>
            <a:off x="11160803" y="277657"/>
            <a:ext cx="838200" cy="365125"/>
          </a:xfrm>
        </p:spPr>
        <p:txBody>
          <a:bodyPr/>
          <a:lstStyle>
            <a:lvl1pPr algn="ctr">
              <a:defRPr sz="1800">
                <a:solidFill>
                  <a:schemeClr val="bg1"/>
                </a:solidFill>
              </a:defRPr>
            </a:lvl1pPr>
          </a:lstStyle>
          <a:p>
            <a:fld id="{8D1BC46D-89B1-41A3-BBA1-F56BEABD0A90}" type="slidenum">
              <a:rPr lang="ja-JP" altLang="en-US" smtClean="0"/>
              <a:pPr/>
              <a:t>‹#›</a:t>
            </a:fld>
            <a:endParaRPr lang="ja-JP" altLang="en-US"/>
          </a:p>
        </p:txBody>
      </p:sp>
      <p:sp>
        <p:nvSpPr>
          <p:cNvPr id="8" name="タイトル 1">
            <a:extLst>
              <a:ext uri="{FF2B5EF4-FFF2-40B4-BE49-F238E27FC236}">
                <a16:creationId xmlns:a16="http://schemas.microsoft.com/office/drawing/2014/main" id="{5708537F-1CE0-897D-A56D-51BA5E3A6155}"/>
              </a:ext>
            </a:extLst>
          </p:cNvPr>
          <p:cNvSpPr txBox="1">
            <a:spLocks/>
          </p:cNvSpPr>
          <p:nvPr userDrawn="1"/>
        </p:nvSpPr>
        <p:spPr>
          <a:xfrm>
            <a:off x="838200" y="1330335"/>
            <a:ext cx="10515600" cy="457044"/>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3600" kern="1200">
                <a:solidFill>
                  <a:schemeClr val="bg1"/>
                </a:solidFill>
                <a:latin typeface="+mj-lt"/>
                <a:ea typeface="+mj-ea"/>
                <a:cs typeface="+mj-cs"/>
              </a:defRPr>
            </a:lvl1pPr>
          </a:lstStyle>
          <a:p>
            <a:r>
              <a:rPr lang="ja-JP" altLang="en-US">
                <a:solidFill>
                  <a:schemeClr val="tx1"/>
                </a:solidFill>
              </a:rPr>
              <a:t>話題について伝えるべきメッセージ</a:t>
            </a:r>
          </a:p>
        </p:txBody>
      </p:sp>
    </p:spTree>
    <p:extLst>
      <p:ext uri="{BB962C8B-B14F-4D97-AF65-F5344CB8AC3E}">
        <p14:creationId xmlns:p14="http://schemas.microsoft.com/office/powerpoint/2010/main" val="16378889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図形レイアウト_1">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CE4981D-F3E1-A957-C0E7-47018581307B}"/>
              </a:ext>
            </a:extLst>
          </p:cNvPr>
          <p:cNvSpPr>
            <a:spLocks noGrp="1"/>
          </p:cNvSpPr>
          <p:nvPr>
            <p:ph type="title"/>
          </p:nvPr>
        </p:nvSpPr>
        <p:spPr>
          <a:xfrm>
            <a:off x="838200" y="231697"/>
            <a:ext cx="8268093" cy="457044"/>
          </a:xfrm>
        </p:spPr>
        <p:txBody>
          <a:bodyPr>
            <a:noAutofit/>
          </a:bodyPr>
          <a:lstStyle>
            <a:lvl1pPr>
              <a:defRPr sz="2800">
                <a:solidFill>
                  <a:schemeClr val="bg1"/>
                </a:solidFill>
              </a:defRPr>
            </a:lvl1pPr>
          </a:lstStyle>
          <a:p>
            <a:r>
              <a:rPr kumimoji="1" lang="ja-JP" altLang="en-US"/>
              <a:t>マスター タイトルの書式設定</a:t>
            </a:r>
          </a:p>
        </p:txBody>
      </p:sp>
      <p:sp>
        <p:nvSpPr>
          <p:cNvPr id="6" name="スライド番号プレースホルダー 5">
            <a:extLst>
              <a:ext uri="{FF2B5EF4-FFF2-40B4-BE49-F238E27FC236}">
                <a16:creationId xmlns:a16="http://schemas.microsoft.com/office/drawing/2014/main" id="{1978F53E-4C54-5978-324C-CDA5322A0EDC}"/>
              </a:ext>
            </a:extLst>
          </p:cNvPr>
          <p:cNvSpPr>
            <a:spLocks noGrp="1"/>
          </p:cNvSpPr>
          <p:nvPr>
            <p:ph type="sldNum" sz="quarter" idx="12"/>
          </p:nvPr>
        </p:nvSpPr>
        <p:spPr>
          <a:xfrm>
            <a:off x="11160803" y="277657"/>
            <a:ext cx="838200" cy="365125"/>
          </a:xfrm>
        </p:spPr>
        <p:txBody>
          <a:bodyPr/>
          <a:lstStyle>
            <a:lvl1pPr algn="ctr">
              <a:defRPr sz="1800">
                <a:solidFill>
                  <a:schemeClr val="bg1"/>
                </a:solidFill>
              </a:defRPr>
            </a:lvl1pPr>
          </a:lstStyle>
          <a:p>
            <a:fld id="{8D1BC46D-89B1-41A3-BBA1-F56BEABD0A90}" type="slidenum">
              <a:rPr lang="ja-JP" altLang="en-US" smtClean="0"/>
              <a:pPr/>
              <a:t>‹#›</a:t>
            </a:fld>
            <a:endParaRPr lang="ja-JP" altLang="en-US"/>
          </a:p>
        </p:txBody>
      </p:sp>
      <p:grpSp>
        <p:nvGrpSpPr>
          <p:cNvPr id="25" name="グループ化 24">
            <a:extLst>
              <a:ext uri="{FF2B5EF4-FFF2-40B4-BE49-F238E27FC236}">
                <a16:creationId xmlns:a16="http://schemas.microsoft.com/office/drawing/2014/main" id="{A3C33A2C-CCB1-1197-CB85-2CEEC50066B3}"/>
              </a:ext>
            </a:extLst>
          </p:cNvPr>
          <p:cNvGrpSpPr/>
          <p:nvPr userDrawn="1"/>
        </p:nvGrpSpPr>
        <p:grpSpPr>
          <a:xfrm>
            <a:off x="616017" y="1348268"/>
            <a:ext cx="6533120" cy="4938925"/>
            <a:chOff x="0" y="1396394"/>
            <a:chExt cx="6533120" cy="4938925"/>
          </a:xfrm>
        </p:grpSpPr>
        <p:sp>
          <p:nvSpPr>
            <p:cNvPr id="26" name="楕円 25">
              <a:extLst>
                <a:ext uri="{FF2B5EF4-FFF2-40B4-BE49-F238E27FC236}">
                  <a16:creationId xmlns:a16="http://schemas.microsoft.com/office/drawing/2014/main" id="{98913F8C-77C7-957C-594F-5C8DE84333F9}"/>
                </a:ext>
              </a:extLst>
            </p:cNvPr>
            <p:cNvSpPr/>
            <p:nvPr/>
          </p:nvSpPr>
          <p:spPr>
            <a:xfrm>
              <a:off x="2173905" y="1396394"/>
              <a:ext cx="2232000" cy="2232000"/>
            </a:xfrm>
            <a:prstGeom prst="ellipse">
              <a:avLst/>
            </a:prstGeom>
            <a:solidFill>
              <a:schemeClr val="accent4"/>
            </a:solidFill>
            <a:ln>
              <a:solidFill>
                <a:schemeClr val="accent4"/>
              </a:solidFill>
              <a:extLst>
                <a:ext uri="{C807C97D-BFC1-408E-A445-0C87EB9F89A2}">
                  <ask:lineSketchStyleProps xmlns:ask="http://schemas.microsoft.com/office/drawing/2018/sketchyshapes" sd="138476517">
                    <a:custGeom>
                      <a:avLst/>
                      <a:gdLst>
                        <a:gd name="connsiteX0" fmla="*/ 0 w 2396691"/>
                        <a:gd name="connsiteY0" fmla="*/ 1176574 h 2353148"/>
                        <a:gd name="connsiteX1" fmla="*/ 1198346 w 2396691"/>
                        <a:gd name="connsiteY1" fmla="*/ 0 h 2353148"/>
                        <a:gd name="connsiteX2" fmla="*/ 2396692 w 2396691"/>
                        <a:gd name="connsiteY2" fmla="*/ 1176574 h 2353148"/>
                        <a:gd name="connsiteX3" fmla="*/ 1198346 w 2396691"/>
                        <a:gd name="connsiteY3" fmla="*/ 2353148 h 2353148"/>
                        <a:gd name="connsiteX4" fmla="*/ 0 w 2396691"/>
                        <a:gd name="connsiteY4" fmla="*/ 1176574 h 2353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96691" h="2353148" fill="none" extrusionOk="0">
                          <a:moveTo>
                            <a:pt x="0" y="1176574"/>
                          </a:moveTo>
                          <a:cubicBezTo>
                            <a:pt x="17053" y="544093"/>
                            <a:pt x="596455" y="78735"/>
                            <a:pt x="1198346" y="0"/>
                          </a:cubicBezTo>
                          <a:cubicBezTo>
                            <a:pt x="1834464" y="-42937"/>
                            <a:pt x="2341220" y="491711"/>
                            <a:pt x="2396692" y="1176574"/>
                          </a:cubicBezTo>
                          <a:cubicBezTo>
                            <a:pt x="2434753" y="1879535"/>
                            <a:pt x="1880410" y="2333741"/>
                            <a:pt x="1198346" y="2353148"/>
                          </a:cubicBezTo>
                          <a:cubicBezTo>
                            <a:pt x="503664" y="2298627"/>
                            <a:pt x="14412" y="1848257"/>
                            <a:pt x="0" y="1176574"/>
                          </a:cubicBezTo>
                          <a:close/>
                        </a:path>
                        <a:path w="2396691" h="2353148" stroke="0" extrusionOk="0">
                          <a:moveTo>
                            <a:pt x="0" y="1176574"/>
                          </a:moveTo>
                          <a:cubicBezTo>
                            <a:pt x="22017" y="512503"/>
                            <a:pt x="554245" y="-126587"/>
                            <a:pt x="1198346" y="0"/>
                          </a:cubicBezTo>
                          <a:cubicBezTo>
                            <a:pt x="1782464" y="-71399"/>
                            <a:pt x="2410063" y="501058"/>
                            <a:pt x="2396692" y="1176574"/>
                          </a:cubicBezTo>
                          <a:cubicBezTo>
                            <a:pt x="2422326" y="1889440"/>
                            <a:pt x="1843165" y="2478575"/>
                            <a:pt x="1198346" y="2353148"/>
                          </a:cubicBezTo>
                          <a:cubicBezTo>
                            <a:pt x="488789" y="2321300"/>
                            <a:pt x="-48884" y="1872731"/>
                            <a:pt x="0" y="1176574"/>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040D31E5-C3CC-B29E-B012-9F95248D2893}"/>
                </a:ext>
              </a:extLst>
            </p:cNvPr>
            <p:cNvSpPr txBox="1"/>
            <p:nvPr/>
          </p:nvSpPr>
          <p:spPr>
            <a:xfrm>
              <a:off x="2139601" y="1944955"/>
              <a:ext cx="2396691" cy="954107"/>
            </a:xfrm>
            <a:prstGeom prst="rect">
              <a:avLst/>
            </a:prstGeom>
            <a:noFill/>
          </p:spPr>
          <p:txBody>
            <a:bodyPr wrap="square" rtlCol="0">
              <a:spAutoFit/>
            </a:bodyPr>
            <a:lstStyle/>
            <a:p>
              <a:pPr algn="ctr"/>
              <a:r>
                <a:rPr lang="ja-JP" altLang="en-US" sz="2800" b="1">
                  <a:solidFill>
                    <a:schemeClr val="bg1"/>
                  </a:solidFill>
                  <a:latin typeface="游ゴシック" panose="020B0400000000000000" pitchFamily="50" charset="-128"/>
                  <a:ea typeface="游ゴシック" panose="020B0400000000000000" pitchFamily="50" charset="-128"/>
                </a:rPr>
                <a:t>①</a:t>
              </a:r>
              <a:endParaRPr lang="en-US" altLang="ja-JP" sz="2800" b="1">
                <a:solidFill>
                  <a:schemeClr val="bg1"/>
                </a:solidFill>
                <a:latin typeface="游ゴシック" panose="020B0400000000000000" pitchFamily="50" charset="-128"/>
                <a:ea typeface="游ゴシック" panose="020B0400000000000000" pitchFamily="50" charset="-128"/>
              </a:endParaRPr>
            </a:p>
            <a:p>
              <a:pPr algn="ctr"/>
              <a:r>
                <a:rPr lang="ja-JP" altLang="en-US" sz="2800" b="1">
                  <a:solidFill>
                    <a:schemeClr val="bg1"/>
                  </a:solidFill>
                  <a:latin typeface="游ゴシック" panose="020B0400000000000000" pitchFamily="50" charset="-128"/>
                  <a:ea typeface="游ゴシック" panose="020B0400000000000000" pitchFamily="50" charset="-128"/>
                </a:rPr>
                <a:t>ひとつめ</a:t>
              </a:r>
              <a:endParaRPr kumimoji="1" lang="ja-JP" altLang="en-US" sz="2800" b="1">
                <a:solidFill>
                  <a:schemeClr val="bg1"/>
                </a:solidFill>
                <a:latin typeface="游ゴシック" panose="020B0400000000000000" pitchFamily="50" charset="-128"/>
                <a:ea typeface="游ゴシック" panose="020B0400000000000000" pitchFamily="50" charset="-128"/>
              </a:endParaRPr>
            </a:p>
          </p:txBody>
        </p:sp>
        <p:sp>
          <p:nvSpPr>
            <p:cNvPr id="28" name="楕円 27">
              <a:extLst>
                <a:ext uri="{FF2B5EF4-FFF2-40B4-BE49-F238E27FC236}">
                  <a16:creationId xmlns:a16="http://schemas.microsoft.com/office/drawing/2014/main" id="{59A8DAAC-3C4A-1010-61A7-EA6D2DC40F78}"/>
                </a:ext>
              </a:extLst>
            </p:cNvPr>
            <p:cNvSpPr/>
            <p:nvPr/>
          </p:nvSpPr>
          <p:spPr>
            <a:xfrm>
              <a:off x="815779" y="3666494"/>
              <a:ext cx="2232000" cy="2232000"/>
            </a:xfrm>
            <a:prstGeom prst="ellipse">
              <a:avLst/>
            </a:prstGeom>
            <a:solidFill>
              <a:schemeClr val="accent4"/>
            </a:solidFill>
            <a:ln>
              <a:solidFill>
                <a:schemeClr val="accent4"/>
              </a:solidFill>
              <a:extLst>
                <a:ext uri="{C807C97D-BFC1-408E-A445-0C87EB9F89A2}">
                  <ask:lineSketchStyleProps xmlns:ask="http://schemas.microsoft.com/office/drawing/2018/sketchyshapes" sd="138476517">
                    <a:custGeom>
                      <a:avLst/>
                      <a:gdLst>
                        <a:gd name="connsiteX0" fmla="*/ 0 w 2396691"/>
                        <a:gd name="connsiteY0" fmla="*/ 1176574 h 2353148"/>
                        <a:gd name="connsiteX1" fmla="*/ 1198346 w 2396691"/>
                        <a:gd name="connsiteY1" fmla="*/ 0 h 2353148"/>
                        <a:gd name="connsiteX2" fmla="*/ 2396692 w 2396691"/>
                        <a:gd name="connsiteY2" fmla="*/ 1176574 h 2353148"/>
                        <a:gd name="connsiteX3" fmla="*/ 1198346 w 2396691"/>
                        <a:gd name="connsiteY3" fmla="*/ 2353148 h 2353148"/>
                        <a:gd name="connsiteX4" fmla="*/ 0 w 2396691"/>
                        <a:gd name="connsiteY4" fmla="*/ 1176574 h 2353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96691" h="2353148" fill="none" extrusionOk="0">
                          <a:moveTo>
                            <a:pt x="0" y="1176574"/>
                          </a:moveTo>
                          <a:cubicBezTo>
                            <a:pt x="17053" y="544093"/>
                            <a:pt x="596455" y="78735"/>
                            <a:pt x="1198346" y="0"/>
                          </a:cubicBezTo>
                          <a:cubicBezTo>
                            <a:pt x="1834464" y="-42937"/>
                            <a:pt x="2341220" y="491711"/>
                            <a:pt x="2396692" y="1176574"/>
                          </a:cubicBezTo>
                          <a:cubicBezTo>
                            <a:pt x="2434753" y="1879535"/>
                            <a:pt x="1880410" y="2333741"/>
                            <a:pt x="1198346" y="2353148"/>
                          </a:cubicBezTo>
                          <a:cubicBezTo>
                            <a:pt x="503664" y="2298627"/>
                            <a:pt x="14412" y="1848257"/>
                            <a:pt x="0" y="1176574"/>
                          </a:cubicBezTo>
                          <a:close/>
                        </a:path>
                        <a:path w="2396691" h="2353148" stroke="0" extrusionOk="0">
                          <a:moveTo>
                            <a:pt x="0" y="1176574"/>
                          </a:moveTo>
                          <a:cubicBezTo>
                            <a:pt x="22017" y="512503"/>
                            <a:pt x="554245" y="-126587"/>
                            <a:pt x="1198346" y="0"/>
                          </a:cubicBezTo>
                          <a:cubicBezTo>
                            <a:pt x="1782464" y="-71399"/>
                            <a:pt x="2410063" y="501058"/>
                            <a:pt x="2396692" y="1176574"/>
                          </a:cubicBezTo>
                          <a:cubicBezTo>
                            <a:pt x="2422326" y="1889440"/>
                            <a:pt x="1843165" y="2478575"/>
                            <a:pt x="1198346" y="2353148"/>
                          </a:cubicBezTo>
                          <a:cubicBezTo>
                            <a:pt x="488789" y="2321300"/>
                            <a:pt x="-48884" y="1872731"/>
                            <a:pt x="0" y="1176574"/>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テキスト ボックス 28">
              <a:extLst>
                <a:ext uri="{FF2B5EF4-FFF2-40B4-BE49-F238E27FC236}">
                  <a16:creationId xmlns:a16="http://schemas.microsoft.com/office/drawing/2014/main" id="{C332B804-F377-AD40-1C73-DA0B1C4839F0}"/>
                </a:ext>
              </a:extLst>
            </p:cNvPr>
            <p:cNvSpPr txBox="1"/>
            <p:nvPr/>
          </p:nvSpPr>
          <p:spPr>
            <a:xfrm>
              <a:off x="733433" y="4231597"/>
              <a:ext cx="2396691" cy="954107"/>
            </a:xfrm>
            <a:prstGeom prst="rect">
              <a:avLst/>
            </a:prstGeom>
            <a:noFill/>
          </p:spPr>
          <p:txBody>
            <a:bodyPr wrap="square" rtlCol="0">
              <a:spAutoFit/>
            </a:bodyPr>
            <a:lstStyle/>
            <a:p>
              <a:pPr algn="ctr"/>
              <a:r>
                <a:rPr lang="ja-JP" altLang="en-US" sz="2800" b="1">
                  <a:solidFill>
                    <a:schemeClr val="bg1"/>
                  </a:solidFill>
                  <a:latin typeface="游ゴシック" panose="020B0400000000000000" pitchFamily="50" charset="-128"/>
                  <a:ea typeface="游ゴシック" panose="020B0400000000000000" pitchFamily="50" charset="-128"/>
                </a:rPr>
                <a:t>③</a:t>
              </a:r>
              <a:endParaRPr lang="en-US" altLang="ja-JP" sz="2800" b="1">
                <a:solidFill>
                  <a:schemeClr val="bg1"/>
                </a:solidFill>
                <a:latin typeface="游ゴシック" panose="020B0400000000000000" pitchFamily="50" charset="-128"/>
                <a:ea typeface="游ゴシック" panose="020B0400000000000000" pitchFamily="50" charset="-128"/>
              </a:endParaRPr>
            </a:p>
            <a:p>
              <a:pPr algn="ctr"/>
              <a:r>
                <a:rPr lang="ja-JP" altLang="en-US" sz="2800" b="1">
                  <a:solidFill>
                    <a:schemeClr val="bg1"/>
                  </a:solidFill>
                  <a:latin typeface="游ゴシック" panose="020B0400000000000000" pitchFamily="50" charset="-128"/>
                  <a:ea typeface="游ゴシック" panose="020B0400000000000000" pitchFamily="50" charset="-128"/>
                </a:rPr>
                <a:t>みっつめ</a:t>
              </a:r>
              <a:endParaRPr kumimoji="1" lang="ja-JP" altLang="en-US" sz="2800" b="1">
                <a:solidFill>
                  <a:schemeClr val="bg1"/>
                </a:solidFill>
                <a:latin typeface="游ゴシック" panose="020B0400000000000000" pitchFamily="50" charset="-128"/>
                <a:ea typeface="游ゴシック" panose="020B0400000000000000" pitchFamily="50" charset="-128"/>
              </a:endParaRPr>
            </a:p>
          </p:txBody>
        </p:sp>
        <p:sp>
          <p:nvSpPr>
            <p:cNvPr id="30" name="楕円 29">
              <a:extLst>
                <a:ext uri="{FF2B5EF4-FFF2-40B4-BE49-F238E27FC236}">
                  <a16:creationId xmlns:a16="http://schemas.microsoft.com/office/drawing/2014/main" id="{F7EA8DF9-A730-7977-1031-F7C04BCD564A}"/>
                </a:ext>
              </a:extLst>
            </p:cNvPr>
            <p:cNvSpPr/>
            <p:nvPr/>
          </p:nvSpPr>
          <p:spPr>
            <a:xfrm>
              <a:off x="3565643" y="3653794"/>
              <a:ext cx="2232000" cy="2232000"/>
            </a:xfrm>
            <a:prstGeom prst="ellipse">
              <a:avLst/>
            </a:prstGeom>
            <a:solidFill>
              <a:schemeClr val="accent4"/>
            </a:solidFill>
            <a:ln>
              <a:solidFill>
                <a:schemeClr val="accent4"/>
              </a:solidFill>
              <a:extLst>
                <a:ext uri="{C807C97D-BFC1-408E-A445-0C87EB9F89A2}">
                  <ask:lineSketchStyleProps xmlns:ask="http://schemas.microsoft.com/office/drawing/2018/sketchyshapes" sd="138476517">
                    <a:custGeom>
                      <a:avLst/>
                      <a:gdLst>
                        <a:gd name="connsiteX0" fmla="*/ 0 w 2396691"/>
                        <a:gd name="connsiteY0" fmla="*/ 1176574 h 2353148"/>
                        <a:gd name="connsiteX1" fmla="*/ 1198346 w 2396691"/>
                        <a:gd name="connsiteY1" fmla="*/ 0 h 2353148"/>
                        <a:gd name="connsiteX2" fmla="*/ 2396692 w 2396691"/>
                        <a:gd name="connsiteY2" fmla="*/ 1176574 h 2353148"/>
                        <a:gd name="connsiteX3" fmla="*/ 1198346 w 2396691"/>
                        <a:gd name="connsiteY3" fmla="*/ 2353148 h 2353148"/>
                        <a:gd name="connsiteX4" fmla="*/ 0 w 2396691"/>
                        <a:gd name="connsiteY4" fmla="*/ 1176574 h 23531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96691" h="2353148" fill="none" extrusionOk="0">
                          <a:moveTo>
                            <a:pt x="0" y="1176574"/>
                          </a:moveTo>
                          <a:cubicBezTo>
                            <a:pt x="17053" y="544093"/>
                            <a:pt x="596455" y="78735"/>
                            <a:pt x="1198346" y="0"/>
                          </a:cubicBezTo>
                          <a:cubicBezTo>
                            <a:pt x="1834464" y="-42937"/>
                            <a:pt x="2341220" y="491711"/>
                            <a:pt x="2396692" y="1176574"/>
                          </a:cubicBezTo>
                          <a:cubicBezTo>
                            <a:pt x="2434753" y="1879535"/>
                            <a:pt x="1880410" y="2333741"/>
                            <a:pt x="1198346" y="2353148"/>
                          </a:cubicBezTo>
                          <a:cubicBezTo>
                            <a:pt x="503664" y="2298627"/>
                            <a:pt x="14412" y="1848257"/>
                            <a:pt x="0" y="1176574"/>
                          </a:cubicBezTo>
                          <a:close/>
                        </a:path>
                        <a:path w="2396691" h="2353148" stroke="0" extrusionOk="0">
                          <a:moveTo>
                            <a:pt x="0" y="1176574"/>
                          </a:moveTo>
                          <a:cubicBezTo>
                            <a:pt x="22017" y="512503"/>
                            <a:pt x="554245" y="-126587"/>
                            <a:pt x="1198346" y="0"/>
                          </a:cubicBezTo>
                          <a:cubicBezTo>
                            <a:pt x="1782464" y="-71399"/>
                            <a:pt x="2410063" y="501058"/>
                            <a:pt x="2396692" y="1176574"/>
                          </a:cubicBezTo>
                          <a:cubicBezTo>
                            <a:pt x="2422326" y="1889440"/>
                            <a:pt x="1843165" y="2478575"/>
                            <a:pt x="1198346" y="2353148"/>
                          </a:cubicBezTo>
                          <a:cubicBezTo>
                            <a:pt x="488789" y="2321300"/>
                            <a:pt x="-48884" y="1872731"/>
                            <a:pt x="0" y="1176574"/>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39144E88-A824-BDD8-1A5F-DF9932A28F58}"/>
                </a:ext>
              </a:extLst>
            </p:cNvPr>
            <p:cNvSpPr txBox="1"/>
            <p:nvPr/>
          </p:nvSpPr>
          <p:spPr>
            <a:xfrm>
              <a:off x="3511913" y="4222775"/>
              <a:ext cx="2396691" cy="954107"/>
            </a:xfrm>
            <a:prstGeom prst="rect">
              <a:avLst/>
            </a:prstGeom>
            <a:noFill/>
          </p:spPr>
          <p:txBody>
            <a:bodyPr wrap="square" rtlCol="0">
              <a:spAutoFit/>
            </a:bodyPr>
            <a:lstStyle/>
            <a:p>
              <a:pPr algn="ctr"/>
              <a:r>
                <a:rPr lang="ja-JP" altLang="en-US" sz="2800" b="1">
                  <a:solidFill>
                    <a:schemeClr val="bg1"/>
                  </a:solidFill>
                  <a:latin typeface="游ゴシック" panose="020B0400000000000000" pitchFamily="50" charset="-128"/>
                  <a:ea typeface="游ゴシック" panose="020B0400000000000000" pitchFamily="50" charset="-128"/>
                </a:rPr>
                <a:t>➁</a:t>
              </a:r>
              <a:endParaRPr lang="en-US" altLang="ja-JP" sz="2800" b="1">
                <a:solidFill>
                  <a:schemeClr val="bg1"/>
                </a:solidFill>
                <a:latin typeface="游ゴシック" panose="020B0400000000000000" pitchFamily="50" charset="-128"/>
                <a:ea typeface="游ゴシック" panose="020B0400000000000000" pitchFamily="50" charset="-128"/>
              </a:endParaRPr>
            </a:p>
            <a:p>
              <a:pPr algn="ctr"/>
              <a:r>
                <a:rPr lang="ja-JP" altLang="en-US" sz="2800" b="1">
                  <a:solidFill>
                    <a:schemeClr val="bg1"/>
                  </a:solidFill>
                  <a:latin typeface="游ゴシック" panose="020B0400000000000000" pitchFamily="50" charset="-128"/>
                  <a:ea typeface="游ゴシック" panose="020B0400000000000000" pitchFamily="50" charset="-128"/>
                </a:rPr>
                <a:t>ふたつめ</a:t>
              </a:r>
              <a:endParaRPr kumimoji="1" lang="ja-JP" altLang="en-US" sz="2800" b="1">
                <a:solidFill>
                  <a:schemeClr val="bg1"/>
                </a:solidFill>
                <a:latin typeface="游ゴシック" panose="020B0400000000000000" pitchFamily="50" charset="-128"/>
                <a:ea typeface="游ゴシック" panose="020B0400000000000000" pitchFamily="50" charset="-128"/>
              </a:endParaRPr>
            </a:p>
          </p:txBody>
        </p:sp>
        <p:grpSp>
          <p:nvGrpSpPr>
            <p:cNvPr id="32" name="グループ化 31">
              <a:extLst>
                <a:ext uri="{FF2B5EF4-FFF2-40B4-BE49-F238E27FC236}">
                  <a16:creationId xmlns:a16="http://schemas.microsoft.com/office/drawing/2014/main" id="{792C22EA-FF84-3A98-0809-0D050661F86E}"/>
                </a:ext>
              </a:extLst>
            </p:cNvPr>
            <p:cNvGrpSpPr/>
            <p:nvPr/>
          </p:nvGrpSpPr>
          <p:grpSpPr>
            <a:xfrm flipV="1">
              <a:off x="4488250" y="2706875"/>
              <a:ext cx="800237" cy="959619"/>
              <a:chOff x="2664127" y="3374455"/>
              <a:chExt cx="1201975" cy="1567649"/>
            </a:xfrm>
          </p:grpSpPr>
          <p:sp>
            <p:nvSpPr>
              <p:cNvPr id="42" name="二等辺三角形 41">
                <a:extLst>
                  <a:ext uri="{FF2B5EF4-FFF2-40B4-BE49-F238E27FC236}">
                    <a16:creationId xmlns:a16="http://schemas.microsoft.com/office/drawing/2014/main" id="{CFBF4968-EFF2-BBD6-A5B8-F05999D9E557}"/>
                  </a:ext>
                </a:extLst>
              </p:cNvPr>
              <p:cNvSpPr/>
              <p:nvPr/>
            </p:nvSpPr>
            <p:spPr>
              <a:xfrm rot="21516842">
                <a:off x="3025444" y="3374455"/>
                <a:ext cx="840658" cy="471949"/>
              </a:xfrm>
              <a:prstGeom prst="triangle">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フリーフォーム: 図形 42">
                <a:extLst>
                  <a:ext uri="{FF2B5EF4-FFF2-40B4-BE49-F238E27FC236}">
                    <a16:creationId xmlns:a16="http://schemas.microsoft.com/office/drawing/2014/main" id="{EE05FDD2-4061-3782-1A58-92A53F277356}"/>
                  </a:ext>
                </a:extLst>
              </p:cNvPr>
              <p:cNvSpPr/>
              <p:nvPr/>
            </p:nvSpPr>
            <p:spPr>
              <a:xfrm>
                <a:off x="2664127" y="3827205"/>
                <a:ext cx="956601" cy="1114899"/>
              </a:xfrm>
              <a:custGeom>
                <a:avLst/>
                <a:gdLst>
                  <a:gd name="connsiteX0" fmla="*/ 649311 w 956601"/>
                  <a:gd name="connsiteY0" fmla="*/ 0 h 1114899"/>
                  <a:gd name="connsiteX1" fmla="*/ 956601 w 956601"/>
                  <a:gd name="connsiteY1" fmla="*/ 0 h 1114899"/>
                  <a:gd name="connsiteX2" fmla="*/ 951973 w 956601"/>
                  <a:gd name="connsiteY2" fmla="*/ 97117 h 1114899"/>
                  <a:gd name="connsiteX3" fmla="*/ 5472 w 956601"/>
                  <a:gd name="connsiteY3" fmla="*/ 1113687 h 1114899"/>
                  <a:gd name="connsiteX4" fmla="*/ 0 w 956601"/>
                  <a:gd name="connsiteY4" fmla="*/ 1114899 h 1114899"/>
                  <a:gd name="connsiteX5" fmla="*/ 40056 w 956601"/>
                  <a:gd name="connsiteY5" fmla="*/ 1089636 h 1114899"/>
                  <a:gd name="connsiteX6" fmla="*/ 638394 w 956601"/>
                  <a:gd name="connsiteY6" fmla="*/ 162145 h 1114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56601" h="1114899">
                    <a:moveTo>
                      <a:pt x="649311" y="0"/>
                    </a:moveTo>
                    <a:lnTo>
                      <a:pt x="956601" y="0"/>
                    </a:lnTo>
                    <a:lnTo>
                      <a:pt x="951973" y="97117"/>
                    </a:lnTo>
                    <a:cubicBezTo>
                      <a:pt x="906000" y="577465"/>
                      <a:pt x="522068" y="975272"/>
                      <a:pt x="5472" y="1113687"/>
                    </a:cubicBezTo>
                    <a:lnTo>
                      <a:pt x="0" y="1114899"/>
                    </a:lnTo>
                    <a:lnTo>
                      <a:pt x="40056" y="1089636"/>
                    </a:lnTo>
                    <a:cubicBezTo>
                      <a:pt x="365632" y="863013"/>
                      <a:pt x="587911" y="534591"/>
                      <a:pt x="638394" y="162145"/>
                    </a:cubicBezTo>
                    <a:close/>
                  </a:path>
                </a:pathLst>
              </a:cu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3" name="グループ化 32">
              <a:extLst>
                <a:ext uri="{FF2B5EF4-FFF2-40B4-BE49-F238E27FC236}">
                  <a16:creationId xmlns:a16="http://schemas.microsoft.com/office/drawing/2014/main" id="{CC32EC09-DD6F-67F4-1515-E5D0B5A1F986}"/>
                </a:ext>
              </a:extLst>
            </p:cNvPr>
            <p:cNvGrpSpPr/>
            <p:nvPr/>
          </p:nvGrpSpPr>
          <p:grpSpPr>
            <a:xfrm rot="7241964" flipV="1">
              <a:off x="2843255" y="5233792"/>
              <a:ext cx="800237" cy="959619"/>
              <a:chOff x="2664127" y="3374455"/>
              <a:chExt cx="1201975" cy="1567649"/>
            </a:xfrm>
          </p:grpSpPr>
          <p:sp>
            <p:nvSpPr>
              <p:cNvPr id="40" name="二等辺三角形 39">
                <a:extLst>
                  <a:ext uri="{FF2B5EF4-FFF2-40B4-BE49-F238E27FC236}">
                    <a16:creationId xmlns:a16="http://schemas.microsoft.com/office/drawing/2014/main" id="{487A51D6-35EB-AB85-51DC-D165028608F6}"/>
                  </a:ext>
                </a:extLst>
              </p:cNvPr>
              <p:cNvSpPr/>
              <p:nvPr/>
            </p:nvSpPr>
            <p:spPr>
              <a:xfrm rot="21516842">
                <a:off x="3025444" y="3374455"/>
                <a:ext cx="840658" cy="471949"/>
              </a:xfrm>
              <a:prstGeom prst="triangle">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フリーフォーム: 図形 40">
                <a:extLst>
                  <a:ext uri="{FF2B5EF4-FFF2-40B4-BE49-F238E27FC236}">
                    <a16:creationId xmlns:a16="http://schemas.microsoft.com/office/drawing/2014/main" id="{6FF737AD-E6C5-09B0-D657-3884084F5473}"/>
                  </a:ext>
                </a:extLst>
              </p:cNvPr>
              <p:cNvSpPr/>
              <p:nvPr/>
            </p:nvSpPr>
            <p:spPr>
              <a:xfrm>
                <a:off x="2664127" y="3827205"/>
                <a:ext cx="956601" cy="1114899"/>
              </a:xfrm>
              <a:custGeom>
                <a:avLst/>
                <a:gdLst>
                  <a:gd name="connsiteX0" fmla="*/ 649311 w 956601"/>
                  <a:gd name="connsiteY0" fmla="*/ 0 h 1114899"/>
                  <a:gd name="connsiteX1" fmla="*/ 956601 w 956601"/>
                  <a:gd name="connsiteY1" fmla="*/ 0 h 1114899"/>
                  <a:gd name="connsiteX2" fmla="*/ 951973 w 956601"/>
                  <a:gd name="connsiteY2" fmla="*/ 97117 h 1114899"/>
                  <a:gd name="connsiteX3" fmla="*/ 5472 w 956601"/>
                  <a:gd name="connsiteY3" fmla="*/ 1113687 h 1114899"/>
                  <a:gd name="connsiteX4" fmla="*/ 0 w 956601"/>
                  <a:gd name="connsiteY4" fmla="*/ 1114899 h 1114899"/>
                  <a:gd name="connsiteX5" fmla="*/ 40056 w 956601"/>
                  <a:gd name="connsiteY5" fmla="*/ 1089636 h 1114899"/>
                  <a:gd name="connsiteX6" fmla="*/ 638394 w 956601"/>
                  <a:gd name="connsiteY6" fmla="*/ 162145 h 1114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56601" h="1114899">
                    <a:moveTo>
                      <a:pt x="649311" y="0"/>
                    </a:moveTo>
                    <a:lnTo>
                      <a:pt x="956601" y="0"/>
                    </a:lnTo>
                    <a:lnTo>
                      <a:pt x="951973" y="97117"/>
                    </a:lnTo>
                    <a:cubicBezTo>
                      <a:pt x="906000" y="577465"/>
                      <a:pt x="522068" y="975272"/>
                      <a:pt x="5472" y="1113687"/>
                    </a:cubicBezTo>
                    <a:lnTo>
                      <a:pt x="0" y="1114899"/>
                    </a:lnTo>
                    <a:lnTo>
                      <a:pt x="40056" y="1089636"/>
                    </a:lnTo>
                    <a:cubicBezTo>
                      <a:pt x="365632" y="863013"/>
                      <a:pt x="587911" y="534591"/>
                      <a:pt x="638394" y="162145"/>
                    </a:cubicBezTo>
                    <a:close/>
                  </a:path>
                </a:pathLst>
              </a:cu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F45FDD95-79DC-ADA9-3915-434CF7688F0A}"/>
                </a:ext>
              </a:extLst>
            </p:cNvPr>
            <p:cNvGrpSpPr/>
            <p:nvPr/>
          </p:nvGrpSpPr>
          <p:grpSpPr>
            <a:xfrm rot="14081671" flipV="1">
              <a:off x="1389673" y="2585074"/>
              <a:ext cx="800237" cy="959619"/>
              <a:chOff x="2664127" y="3374455"/>
              <a:chExt cx="1201975" cy="1567649"/>
            </a:xfrm>
          </p:grpSpPr>
          <p:sp>
            <p:nvSpPr>
              <p:cNvPr id="38" name="二等辺三角形 37">
                <a:extLst>
                  <a:ext uri="{FF2B5EF4-FFF2-40B4-BE49-F238E27FC236}">
                    <a16:creationId xmlns:a16="http://schemas.microsoft.com/office/drawing/2014/main" id="{F6F2E6E3-8349-F1BD-4411-6E3B6C029304}"/>
                  </a:ext>
                </a:extLst>
              </p:cNvPr>
              <p:cNvSpPr/>
              <p:nvPr/>
            </p:nvSpPr>
            <p:spPr>
              <a:xfrm rot="21516842">
                <a:off x="3025444" y="3374455"/>
                <a:ext cx="840658" cy="471949"/>
              </a:xfrm>
              <a:prstGeom prst="triangle">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フリーフォーム: 図形 38">
                <a:extLst>
                  <a:ext uri="{FF2B5EF4-FFF2-40B4-BE49-F238E27FC236}">
                    <a16:creationId xmlns:a16="http://schemas.microsoft.com/office/drawing/2014/main" id="{9D03327C-F0E8-AC17-FD92-0B6F95945D47}"/>
                  </a:ext>
                </a:extLst>
              </p:cNvPr>
              <p:cNvSpPr/>
              <p:nvPr/>
            </p:nvSpPr>
            <p:spPr>
              <a:xfrm>
                <a:off x="2664127" y="3827205"/>
                <a:ext cx="956601" cy="1114899"/>
              </a:xfrm>
              <a:custGeom>
                <a:avLst/>
                <a:gdLst>
                  <a:gd name="connsiteX0" fmla="*/ 649311 w 956601"/>
                  <a:gd name="connsiteY0" fmla="*/ 0 h 1114899"/>
                  <a:gd name="connsiteX1" fmla="*/ 956601 w 956601"/>
                  <a:gd name="connsiteY1" fmla="*/ 0 h 1114899"/>
                  <a:gd name="connsiteX2" fmla="*/ 951973 w 956601"/>
                  <a:gd name="connsiteY2" fmla="*/ 97117 h 1114899"/>
                  <a:gd name="connsiteX3" fmla="*/ 5472 w 956601"/>
                  <a:gd name="connsiteY3" fmla="*/ 1113687 h 1114899"/>
                  <a:gd name="connsiteX4" fmla="*/ 0 w 956601"/>
                  <a:gd name="connsiteY4" fmla="*/ 1114899 h 1114899"/>
                  <a:gd name="connsiteX5" fmla="*/ 40056 w 956601"/>
                  <a:gd name="connsiteY5" fmla="*/ 1089636 h 1114899"/>
                  <a:gd name="connsiteX6" fmla="*/ 638394 w 956601"/>
                  <a:gd name="connsiteY6" fmla="*/ 162145 h 1114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56601" h="1114899">
                    <a:moveTo>
                      <a:pt x="649311" y="0"/>
                    </a:moveTo>
                    <a:lnTo>
                      <a:pt x="956601" y="0"/>
                    </a:lnTo>
                    <a:lnTo>
                      <a:pt x="951973" y="97117"/>
                    </a:lnTo>
                    <a:cubicBezTo>
                      <a:pt x="906000" y="577465"/>
                      <a:pt x="522068" y="975272"/>
                      <a:pt x="5472" y="1113687"/>
                    </a:cubicBezTo>
                    <a:lnTo>
                      <a:pt x="0" y="1114899"/>
                    </a:lnTo>
                    <a:lnTo>
                      <a:pt x="40056" y="1089636"/>
                    </a:lnTo>
                    <a:cubicBezTo>
                      <a:pt x="365632" y="863013"/>
                      <a:pt x="587911" y="534591"/>
                      <a:pt x="638394" y="162145"/>
                    </a:cubicBezTo>
                    <a:close/>
                  </a:path>
                </a:pathLst>
              </a:cu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5" name="テキスト ボックス 34">
              <a:extLst>
                <a:ext uri="{FF2B5EF4-FFF2-40B4-BE49-F238E27FC236}">
                  <a16:creationId xmlns:a16="http://schemas.microsoft.com/office/drawing/2014/main" id="{647DCFC0-4CDB-F491-59F5-9B9843370982}"/>
                </a:ext>
              </a:extLst>
            </p:cNvPr>
            <p:cNvSpPr txBox="1"/>
            <p:nvPr/>
          </p:nvSpPr>
          <p:spPr>
            <a:xfrm>
              <a:off x="4832338" y="2938238"/>
              <a:ext cx="1700782" cy="400110"/>
            </a:xfrm>
            <a:prstGeom prst="rect">
              <a:avLst/>
            </a:prstGeom>
            <a:noFill/>
          </p:spPr>
          <p:txBody>
            <a:bodyPr wrap="square" rtlCol="0">
              <a:spAutoFit/>
            </a:bodyPr>
            <a:lstStyle/>
            <a:p>
              <a:pPr algn="ctr"/>
              <a:r>
                <a:rPr lang="ja-JP" altLang="en-US" sz="2000" b="1">
                  <a:solidFill>
                    <a:schemeClr val="accent4"/>
                  </a:solidFill>
                  <a:latin typeface="游ゴシック" panose="020B0400000000000000" pitchFamily="50" charset="-128"/>
                  <a:ea typeface="游ゴシック" panose="020B0400000000000000" pitchFamily="50" charset="-128"/>
                </a:rPr>
                <a:t>変化</a:t>
              </a:r>
              <a:endParaRPr lang="en-US" altLang="ja-JP" sz="2000" b="1">
                <a:solidFill>
                  <a:schemeClr val="accent4"/>
                </a:solidFill>
                <a:latin typeface="游ゴシック" panose="020B0400000000000000" pitchFamily="50" charset="-128"/>
                <a:ea typeface="游ゴシック" panose="020B0400000000000000" pitchFamily="50" charset="-128"/>
              </a:endParaRPr>
            </a:p>
          </p:txBody>
        </p:sp>
        <p:sp>
          <p:nvSpPr>
            <p:cNvPr id="36" name="テキスト ボックス 35">
              <a:extLst>
                <a:ext uri="{FF2B5EF4-FFF2-40B4-BE49-F238E27FC236}">
                  <a16:creationId xmlns:a16="http://schemas.microsoft.com/office/drawing/2014/main" id="{2832B974-8812-43C2-59F0-92C1490CE50F}"/>
                </a:ext>
              </a:extLst>
            </p:cNvPr>
            <p:cNvSpPr txBox="1"/>
            <p:nvPr/>
          </p:nvSpPr>
          <p:spPr>
            <a:xfrm>
              <a:off x="2550709" y="5935209"/>
              <a:ext cx="1700782" cy="400110"/>
            </a:xfrm>
            <a:prstGeom prst="rect">
              <a:avLst/>
            </a:prstGeom>
            <a:noFill/>
          </p:spPr>
          <p:txBody>
            <a:bodyPr wrap="square" rtlCol="0">
              <a:spAutoFit/>
            </a:bodyPr>
            <a:lstStyle/>
            <a:p>
              <a:pPr algn="ctr"/>
              <a:r>
                <a:rPr lang="ja-JP" altLang="en-US" sz="2000" b="1">
                  <a:solidFill>
                    <a:schemeClr val="accent4"/>
                  </a:solidFill>
                  <a:latin typeface="游ゴシック" panose="020B0400000000000000" pitchFamily="50" charset="-128"/>
                  <a:ea typeface="游ゴシック" panose="020B0400000000000000" pitchFamily="50" charset="-128"/>
                </a:rPr>
                <a:t>変化</a:t>
              </a:r>
              <a:endParaRPr lang="en-US" altLang="ja-JP" sz="2000" b="1">
                <a:solidFill>
                  <a:schemeClr val="accent4"/>
                </a:solidFill>
                <a:latin typeface="游ゴシック" panose="020B0400000000000000" pitchFamily="50" charset="-128"/>
                <a:ea typeface="游ゴシック" panose="020B0400000000000000" pitchFamily="50" charset="-128"/>
              </a:endParaRPr>
            </a:p>
          </p:txBody>
        </p:sp>
        <p:sp>
          <p:nvSpPr>
            <p:cNvPr id="37" name="テキスト ボックス 36">
              <a:extLst>
                <a:ext uri="{FF2B5EF4-FFF2-40B4-BE49-F238E27FC236}">
                  <a16:creationId xmlns:a16="http://schemas.microsoft.com/office/drawing/2014/main" id="{01D1CA61-D3FD-E879-DD8D-393FE694B62A}"/>
                </a:ext>
              </a:extLst>
            </p:cNvPr>
            <p:cNvSpPr txBox="1"/>
            <p:nvPr/>
          </p:nvSpPr>
          <p:spPr>
            <a:xfrm>
              <a:off x="0" y="2983833"/>
              <a:ext cx="1700782" cy="400110"/>
            </a:xfrm>
            <a:prstGeom prst="rect">
              <a:avLst/>
            </a:prstGeom>
            <a:noFill/>
          </p:spPr>
          <p:txBody>
            <a:bodyPr wrap="square" rtlCol="0">
              <a:spAutoFit/>
            </a:bodyPr>
            <a:lstStyle/>
            <a:p>
              <a:pPr algn="ctr"/>
              <a:r>
                <a:rPr lang="ja-JP" altLang="en-US" sz="2000" b="1">
                  <a:solidFill>
                    <a:schemeClr val="accent4"/>
                  </a:solidFill>
                  <a:latin typeface="游ゴシック" panose="020B0400000000000000" pitchFamily="50" charset="-128"/>
                  <a:ea typeface="游ゴシック" panose="020B0400000000000000" pitchFamily="50" charset="-128"/>
                </a:rPr>
                <a:t>変化</a:t>
              </a:r>
              <a:endParaRPr lang="en-US" altLang="ja-JP" sz="2000" b="1">
                <a:solidFill>
                  <a:schemeClr val="accent4"/>
                </a:solidFill>
                <a:latin typeface="游ゴシック" panose="020B0400000000000000" pitchFamily="50" charset="-128"/>
                <a:ea typeface="游ゴシック" panose="020B0400000000000000" pitchFamily="50" charset="-128"/>
              </a:endParaRPr>
            </a:p>
          </p:txBody>
        </p:sp>
      </p:grpSp>
      <p:sp>
        <p:nvSpPr>
          <p:cNvPr id="44" name="楕円 43">
            <a:extLst>
              <a:ext uri="{FF2B5EF4-FFF2-40B4-BE49-F238E27FC236}">
                <a16:creationId xmlns:a16="http://schemas.microsoft.com/office/drawing/2014/main" id="{2C0C6389-FF14-5D60-C930-9FD4BB37E633}"/>
              </a:ext>
            </a:extLst>
          </p:cNvPr>
          <p:cNvSpPr/>
          <p:nvPr userDrawn="1"/>
        </p:nvSpPr>
        <p:spPr>
          <a:xfrm>
            <a:off x="7462655" y="1651262"/>
            <a:ext cx="323850" cy="323850"/>
          </a:xfrm>
          <a:prstGeom prst="ellipse">
            <a:avLst/>
          </a:prstGeom>
          <a:solidFill>
            <a:schemeClr val="accent2"/>
          </a:solidFill>
          <a:ln>
            <a:solidFill>
              <a:schemeClr val="accent2"/>
            </a:solidFill>
          </a:ln>
          <a:effectLst>
            <a:glow rad="101600">
              <a:schemeClr val="accent2">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楕円 44">
            <a:extLst>
              <a:ext uri="{FF2B5EF4-FFF2-40B4-BE49-F238E27FC236}">
                <a16:creationId xmlns:a16="http://schemas.microsoft.com/office/drawing/2014/main" id="{CCD5A499-DA80-4959-FD3A-EFDCB51A5887}"/>
              </a:ext>
            </a:extLst>
          </p:cNvPr>
          <p:cNvSpPr/>
          <p:nvPr userDrawn="1"/>
        </p:nvSpPr>
        <p:spPr>
          <a:xfrm>
            <a:off x="8108150" y="1651112"/>
            <a:ext cx="324000" cy="324000"/>
          </a:xfrm>
          <a:prstGeom prst="ellipse">
            <a:avLst/>
          </a:prstGeom>
          <a:solidFill>
            <a:srgbClr val="46877B"/>
          </a:solidFill>
          <a:ln>
            <a:solidFill>
              <a:srgbClr val="46877B"/>
            </a:solidFill>
          </a:ln>
          <a:effectLst>
            <a:glow rad="101600">
              <a:srgbClr val="46877B">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楕円 45">
            <a:extLst>
              <a:ext uri="{FF2B5EF4-FFF2-40B4-BE49-F238E27FC236}">
                <a16:creationId xmlns:a16="http://schemas.microsoft.com/office/drawing/2014/main" id="{D2D85714-56FD-135D-4317-6D3C5582D6F9}"/>
              </a:ext>
            </a:extLst>
          </p:cNvPr>
          <p:cNvSpPr/>
          <p:nvPr userDrawn="1"/>
        </p:nvSpPr>
        <p:spPr>
          <a:xfrm>
            <a:off x="7730366" y="2165069"/>
            <a:ext cx="342900" cy="333267"/>
          </a:xfrm>
          <a:prstGeom prst="ellipse">
            <a:avLst/>
          </a:prstGeom>
          <a:solidFill>
            <a:schemeClr val="accent2"/>
          </a:solidFill>
          <a:ln>
            <a:solidFill>
              <a:schemeClr val="accent2"/>
            </a:solidFill>
          </a:ln>
          <a:effectLst>
            <a:softEdge rad="635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楕円 46">
            <a:extLst>
              <a:ext uri="{FF2B5EF4-FFF2-40B4-BE49-F238E27FC236}">
                <a16:creationId xmlns:a16="http://schemas.microsoft.com/office/drawing/2014/main" id="{47FFE66D-3B81-A181-53D3-E8D4F60D2D9F}"/>
              </a:ext>
            </a:extLst>
          </p:cNvPr>
          <p:cNvSpPr/>
          <p:nvPr userDrawn="1"/>
        </p:nvSpPr>
        <p:spPr>
          <a:xfrm>
            <a:off x="8528263" y="3060360"/>
            <a:ext cx="2901487" cy="1236539"/>
          </a:xfrm>
          <a:custGeom>
            <a:avLst/>
            <a:gdLst>
              <a:gd name="csX0" fmla="*/ 0 w 2901487"/>
              <a:gd name="csY0" fmla="*/ 618270 h 1236539"/>
              <a:gd name="csX1" fmla="*/ 1450744 w 2901487"/>
              <a:gd name="csY1" fmla="*/ 0 h 1236539"/>
              <a:gd name="csX2" fmla="*/ 2901488 w 2901487"/>
              <a:gd name="csY2" fmla="*/ 618270 h 1236539"/>
              <a:gd name="csX3" fmla="*/ 1450744 w 2901487"/>
              <a:gd name="csY3" fmla="*/ 1236540 h 1236539"/>
              <a:gd name="csX4" fmla="*/ 0 w 2901487"/>
              <a:gd name="csY4" fmla="*/ 618270 h 1236539"/>
            </a:gdLst>
            <a:ahLst/>
            <a:cxnLst>
              <a:cxn ang="0">
                <a:pos x="csX0" y="csY0"/>
              </a:cxn>
              <a:cxn ang="0">
                <a:pos x="csX1" y="csY1"/>
              </a:cxn>
              <a:cxn ang="0">
                <a:pos x="csX2" y="csY2"/>
              </a:cxn>
              <a:cxn ang="0">
                <a:pos x="csX3" y="csY3"/>
              </a:cxn>
              <a:cxn ang="0">
                <a:pos x="csX4" y="csY4"/>
              </a:cxn>
            </a:cxnLst>
            <a:rect l="l" t="t" r="r" b="b"/>
            <a:pathLst>
              <a:path w="2901487" h="1236539" fill="none" extrusionOk="0">
                <a:moveTo>
                  <a:pt x="0" y="618270"/>
                </a:moveTo>
                <a:cubicBezTo>
                  <a:pt x="84712" y="196294"/>
                  <a:pt x="764269" y="7572"/>
                  <a:pt x="1450744" y="0"/>
                </a:cubicBezTo>
                <a:cubicBezTo>
                  <a:pt x="2280633" y="48997"/>
                  <a:pt x="2861081" y="275941"/>
                  <a:pt x="2901488" y="618270"/>
                </a:cubicBezTo>
                <a:cubicBezTo>
                  <a:pt x="3011552" y="975692"/>
                  <a:pt x="2166690" y="1197621"/>
                  <a:pt x="1450744" y="1236540"/>
                </a:cubicBezTo>
                <a:cubicBezTo>
                  <a:pt x="618922" y="1245671"/>
                  <a:pt x="36345" y="910461"/>
                  <a:pt x="0" y="618270"/>
                </a:cubicBezTo>
                <a:close/>
              </a:path>
              <a:path w="2901487" h="1236539" stroke="0" extrusionOk="0">
                <a:moveTo>
                  <a:pt x="0" y="618270"/>
                </a:moveTo>
                <a:cubicBezTo>
                  <a:pt x="-7565" y="290082"/>
                  <a:pt x="641644" y="-3252"/>
                  <a:pt x="1450744" y="0"/>
                </a:cubicBezTo>
                <a:cubicBezTo>
                  <a:pt x="2306126" y="-7995"/>
                  <a:pt x="2871529" y="331374"/>
                  <a:pt x="2901488" y="618270"/>
                </a:cubicBezTo>
                <a:cubicBezTo>
                  <a:pt x="2849516" y="977102"/>
                  <a:pt x="2227727" y="1265205"/>
                  <a:pt x="1450744" y="1236540"/>
                </a:cubicBezTo>
                <a:cubicBezTo>
                  <a:pt x="683291" y="1214685"/>
                  <a:pt x="-15441" y="963273"/>
                  <a:pt x="0" y="618270"/>
                </a:cubicBezTo>
                <a:close/>
              </a:path>
            </a:pathLst>
          </a:custGeom>
          <a:solidFill>
            <a:srgbClr val="D3E9E5"/>
          </a:solidFill>
          <a:ln>
            <a:solidFill>
              <a:srgbClr val="D3E9E5"/>
            </a:solidFill>
            <a:extLst>
              <a:ext uri="{C807C97D-BFC1-408E-A445-0C87EB9F89A2}">
                <ask:lineSketchStyleProps xmlns:ask="http://schemas.microsoft.com/office/drawing/2018/sketchyshapes" sd="981765707">
                  <a:prstGeom prst="ellipse">
                    <a:avLst/>
                  </a:prstGeom>
                  <ask:type>
                    <ask:lineSketchCurve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楕円 47">
            <a:extLst>
              <a:ext uri="{FF2B5EF4-FFF2-40B4-BE49-F238E27FC236}">
                <a16:creationId xmlns:a16="http://schemas.microsoft.com/office/drawing/2014/main" id="{6A6E1136-F272-4681-519A-C15D625A2FA7}"/>
              </a:ext>
            </a:extLst>
          </p:cNvPr>
          <p:cNvSpPr/>
          <p:nvPr userDrawn="1"/>
        </p:nvSpPr>
        <p:spPr>
          <a:xfrm>
            <a:off x="9518584" y="1567812"/>
            <a:ext cx="2235127" cy="2177274"/>
          </a:xfrm>
          <a:custGeom>
            <a:avLst/>
            <a:gdLst>
              <a:gd name="csX0" fmla="*/ 0 w 2235127"/>
              <a:gd name="csY0" fmla="*/ 1088637 h 2177274"/>
              <a:gd name="csX1" fmla="*/ 1117564 w 2235127"/>
              <a:gd name="csY1" fmla="*/ 0 h 2177274"/>
              <a:gd name="csX2" fmla="*/ 2235128 w 2235127"/>
              <a:gd name="csY2" fmla="*/ 1088637 h 2177274"/>
              <a:gd name="csX3" fmla="*/ 1117564 w 2235127"/>
              <a:gd name="csY3" fmla="*/ 2177274 h 2177274"/>
              <a:gd name="csX4" fmla="*/ 0 w 2235127"/>
              <a:gd name="csY4" fmla="*/ 1088637 h 2177274"/>
            </a:gdLst>
            <a:ahLst/>
            <a:cxnLst>
              <a:cxn ang="0">
                <a:pos x="csX0" y="csY0"/>
              </a:cxn>
              <a:cxn ang="0">
                <a:pos x="csX1" y="csY1"/>
              </a:cxn>
              <a:cxn ang="0">
                <a:pos x="csX2" y="csY2"/>
              </a:cxn>
              <a:cxn ang="0">
                <a:pos x="csX3" y="csY3"/>
              </a:cxn>
              <a:cxn ang="0">
                <a:pos x="csX4" y="csY4"/>
              </a:cxn>
            </a:cxnLst>
            <a:rect l="l" t="t" r="r" b="b"/>
            <a:pathLst>
              <a:path w="2235127" h="2177274" fill="none" extrusionOk="0">
                <a:moveTo>
                  <a:pt x="0" y="1088637"/>
                </a:moveTo>
                <a:cubicBezTo>
                  <a:pt x="-78231" y="501361"/>
                  <a:pt x="470933" y="81460"/>
                  <a:pt x="1117564" y="0"/>
                </a:cubicBezTo>
                <a:cubicBezTo>
                  <a:pt x="1655506" y="-29676"/>
                  <a:pt x="2249283" y="494351"/>
                  <a:pt x="2235128" y="1088637"/>
                </a:cubicBezTo>
                <a:cubicBezTo>
                  <a:pt x="2256564" y="1635402"/>
                  <a:pt x="1745396" y="2193472"/>
                  <a:pt x="1117564" y="2177274"/>
                </a:cubicBezTo>
                <a:cubicBezTo>
                  <a:pt x="511602" y="2187319"/>
                  <a:pt x="85868" y="1650356"/>
                  <a:pt x="0" y="1088637"/>
                </a:cubicBezTo>
                <a:close/>
              </a:path>
              <a:path w="2235127" h="2177274" stroke="0" extrusionOk="0">
                <a:moveTo>
                  <a:pt x="0" y="1088637"/>
                </a:moveTo>
                <a:cubicBezTo>
                  <a:pt x="44180" y="558178"/>
                  <a:pt x="501211" y="-92223"/>
                  <a:pt x="1117564" y="0"/>
                </a:cubicBezTo>
                <a:cubicBezTo>
                  <a:pt x="1755182" y="98031"/>
                  <a:pt x="2176597" y="447074"/>
                  <a:pt x="2235128" y="1088637"/>
                </a:cubicBezTo>
                <a:cubicBezTo>
                  <a:pt x="2248407" y="1590409"/>
                  <a:pt x="1732930" y="2112771"/>
                  <a:pt x="1117564" y="2177274"/>
                </a:cubicBezTo>
                <a:cubicBezTo>
                  <a:pt x="512908" y="2113663"/>
                  <a:pt x="14757" y="1627634"/>
                  <a:pt x="0" y="1088637"/>
                </a:cubicBezTo>
                <a:close/>
              </a:path>
            </a:pathLst>
          </a:custGeom>
          <a:solidFill>
            <a:schemeClr val="accent2"/>
          </a:solidFill>
          <a:ln>
            <a:solidFill>
              <a:schemeClr val="accent2"/>
            </a:solidFill>
            <a:extLst>
              <a:ext uri="{C807C97D-BFC1-408E-A445-0C87EB9F89A2}">
                <ask:lineSketchStyleProps xmlns:ask="http://schemas.microsoft.com/office/drawing/2018/sketchyshapes" sd="3669468432">
                  <a:prstGeom prst="ellipse">
                    <a:avLst/>
                  </a:prstGeom>
                  <ask:type>
                    <ask:lineSketchCurve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b="1">
                <a:solidFill>
                  <a:schemeClr val="bg1"/>
                </a:solidFill>
                <a:latin typeface="游ゴシック" panose="020B0400000000000000" pitchFamily="50" charset="-128"/>
                <a:ea typeface="游ゴシック" panose="020B0400000000000000" pitchFamily="50" charset="-128"/>
              </a:rPr>
              <a:t> </a:t>
            </a:r>
            <a:r>
              <a:rPr lang="ja-JP" altLang="en-US" sz="2800" b="1">
                <a:solidFill>
                  <a:schemeClr val="bg1"/>
                </a:solidFill>
                <a:latin typeface="游ゴシック" panose="020B0400000000000000" pitchFamily="50" charset="-128"/>
                <a:ea typeface="游ゴシック" panose="020B0400000000000000" pitchFamily="50" charset="-128"/>
              </a:rPr>
              <a:t>何か</a:t>
            </a:r>
            <a:endParaRPr lang="en-US" altLang="ja-JP" sz="2800" b="1">
              <a:solidFill>
                <a:schemeClr val="bg1"/>
              </a:solidFill>
              <a:latin typeface="游ゴシック" panose="020B0400000000000000" pitchFamily="50" charset="-128"/>
              <a:ea typeface="游ゴシック" panose="020B0400000000000000" pitchFamily="50" charset="-128"/>
            </a:endParaRPr>
          </a:p>
          <a:p>
            <a:pPr algn="ctr"/>
            <a:r>
              <a:rPr lang="ja-JP" altLang="en-US">
                <a:solidFill>
                  <a:schemeClr val="bg1"/>
                </a:solidFill>
                <a:latin typeface="+mn-ea"/>
              </a:rPr>
              <a:t>メッセージ</a:t>
            </a:r>
            <a:endParaRPr lang="ja-JP" altLang="en-US" sz="1200">
              <a:solidFill>
                <a:schemeClr val="bg1"/>
              </a:solidFill>
              <a:latin typeface="+mn-ea"/>
            </a:endParaRPr>
          </a:p>
        </p:txBody>
      </p:sp>
      <p:sp>
        <p:nvSpPr>
          <p:cNvPr id="49" name="正方形/長方形 48">
            <a:extLst>
              <a:ext uri="{FF2B5EF4-FFF2-40B4-BE49-F238E27FC236}">
                <a16:creationId xmlns:a16="http://schemas.microsoft.com/office/drawing/2014/main" id="{B2DD3AF4-68C5-FAE7-0A1D-8170E5D92D37}"/>
              </a:ext>
            </a:extLst>
          </p:cNvPr>
          <p:cNvSpPr/>
          <p:nvPr userDrawn="1"/>
        </p:nvSpPr>
        <p:spPr>
          <a:xfrm rot="20169432">
            <a:off x="8795580" y="3503340"/>
            <a:ext cx="3160032" cy="167421"/>
          </a:xfrm>
          <a:custGeom>
            <a:avLst/>
            <a:gdLst>
              <a:gd name="csX0" fmla="*/ 0 w 3160032"/>
              <a:gd name="csY0" fmla="*/ 0 h 167421"/>
              <a:gd name="csX1" fmla="*/ 3160032 w 3160032"/>
              <a:gd name="csY1" fmla="*/ 0 h 167421"/>
              <a:gd name="csX2" fmla="*/ 3160032 w 3160032"/>
              <a:gd name="csY2" fmla="*/ 167421 h 167421"/>
              <a:gd name="csX3" fmla="*/ 0 w 3160032"/>
              <a:gd name="csY3" fmla="*/ 167421 h 167421"/>
              <a:gd name="csX4" fmla="*/ 0 w 3160032"/>
              <a:gd name="csY4" fmla="*/ 0 h 167421"/>
            </a:gdLst>
            <a:ahLst/>
            <a:cxnLst>
              <a:cxn ang="0">
                <a:pos x="csX0" y="csY0"/>
              </a:cxn>
              <a:cxn ang="0">
                <a:pos x="csX1" y="csY1"/>
              </a:cxn>
              <a:cxn ang="0">
                <a:pos x="csX2" y="csY2"/>
              </a:cxn>
              <a:cxn ang="0">
                <a:pos x="csX3" y="csY3"/>
              </a:cxn>
              <a:cxn ang="0">
                <a:pos x="csX4" y="csY4"/>
              </a:cxn>
            </a:cxnLst>
            <a:rect l="l" t="t" r="r" b="b"/>
            <a:pathLst>
              <a:path w="3160032" h="167421" fill="none" extrusionOk="0">
                <a:moveTo>
                  <a:pt x="0" y="0"/>
                </a:moveTo>
                <a:cubicBezTo>
                  <a:pt x="1576265" y="-130857"/>
                  <a:pt x="1695485" y="63250"/>
                  <a:pt x="3160032" y="0"/>
                </a:cubicBezTo>
                <a:cubicBezTo>
                  <a:pt x="3149888" y="54417"/>
                  <a:pt x="3161660" y="117978"/>
                  <a:pt x="3160032" y="167421"/>
                </a:cubicBezTo>
                <a:cubicBezTo>
                  <a:pt x="2559770" y="222085"/>
                  <a:pt x="1098592" y="215523"/>
                  <a:pt x="0" y="167421"/>
                </a:cubicBezTo>
                <a:cubicBezTo>
                  <a:pt x="-5" y="147243"/>
                  <a:pt x="-2866" y="55723"/>
                  <a:pt x="0" y="0"/>
                </a:cubicBezTo>
                <a:close/>
              </a:path>
              <a:path w="3160032" h="167421" stroke="0" extrusionOk="0">
                <a:moveTo>
                  <a:pt x="0" y="0"/>
                </a:moveTo>
                <a:cubicBezTo>
                  <a:pt x="1189394" y="93023"/>
                  <a:pt x="2837410" y="111448"/>
                  <a:pt x="3160032" y="0"/>
                </a:cubicBezTo>
                <a:cubicBezTo>
                  <a:pt x="3145341" y="75065"/>
                  <a:pt x="3161279" y="142728"/>
                  <a:pt x="3160032" y="167421"/>
                </a:cubicBezTo>
                <a:cubicBezTo>
                  <a:pt x="2786659" y="165537"/>
                  <a:pt x="902558" y="243552"/>
                  <a:pt x="0" y="167421"/>
                </a:cubicBezTo>
                <a:cubicBezTo>
                  <a:pt x="-7129" y="150251"/>
                  <a:pt x="4229" y="45135"/>
                  <a:pt x="0" y="0"/>
                </a:cubicBezTo>
                <a:close/>
              </a:path>
            </a:pathLst>
          </a:custGeom>
          <a:solidFill>
            <a:schemeClr val="bg1"/>
          </a:solidFill>
          <a:ln>
            <a:solidFill>
              <a:schemeClr val="bg1"/>
            </a:solidFill>
            <a:extLst>
              <a:ext uri="{C807C97D-BFC1-408E-A445-0C87EB9F89A2}">
                <ask:lineSketchStyleProps xmlns:ask="http://schemas.microsoft.com/office/drawing/2018/sketchyshapes" sd="1001808606">
                  <a:prstGeom prst="rect">
                    <a:avLst/>
                  </a:prstGeom>
                  <ask:type>
                    <ask:lineSketchCurve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十字形 49">
            <a:extLst>
              <a:ext uri="{FF2B5EF4-FFF2-40B4-BE49-F238E27FC236}">
                <a16:creationId xmlns:a16="http://schemas.microsoft.com/office/drawing/2014/main" id="{FC1263B9-86AE-7C13-849E-FAC9076446F5}"/>
              </a:ext>
            </a:extLst>
          </p:cNvPr>
          <p:cNvSpPr/>
          <p:nvPr userDrawn="1"/>
        </p:nvSpPr>
        <p:spPr>
          <a:xfrm rot="2590055">
            <a:off x="8265921" y="4413059"/>
            <a:ext cx="1869719" cy="1886551"/>
          </a:xfrm>
          <a:custGeom>
            <a:avLst/>
            <a:gdLst>
              <a:gd name="csX0" fmla="*/ 0 w 1869719"/>
              <a:gd name="csY0" fmla="*/ 871682 h 1886551"/>
              <a:gd name="csX1" fmla="*/ 871682 w 1869719"/>
              <a:gd name="csY1" fmla="*/ 871682 h 1886551"/>
              <a:gd name="csX2" fmla="*/ 871682 w 1869719"/>
              <a:gd name="csY2" fmla="*/ 0 h 1886551"/>
              <a:gd name="csX3" fmla="*/ 998037 w 1869719"/>
              <a:gd name="csY3" fmla="*/ 0 h 1886551"/>
              <a:gd name="csX4" fmla="*/ 998037 w 1869719"/>
              <a:gd name="csY4" fmla="*/ 871682 h 1886551"/>
              <a:gd name="csX5" fmla="*/ 1869719 w 1869719"/>
              <a:gd name="csY5" fmla="*/ 871682 h 1886551"/>
              <a:gd name="csX6" fmla="*/ 1869719 w 1869719"/>
              <a:gd name="csY6" fmla="*/ 1014869 h 1886551"/>
              <a:gd name="csX7" fmla="*/ 998037 w 1869719"/>
              <a:gd name="csY7" fmla="*/ 1014869 h 1886551"/>
              <a:gd name="csX8" fmla="*/ 998037 w 1869719"/>
              <a:gd name="csY8" fmla="*/ 1886551 h 1886551"/>
              <a:gd name="csX9" fmla="*/ 871682 w 1869719"/>
              <a:gd name="csY9" fmla="*/ 1886551 h 1886551"/>
              <a:gd name="csX10" fmla="*/ 871682 w 1869719"/>
              <a:gd name="csY10" fmla="*/ 1014869 h 1886551"/>
              <a:gd name="csX11" fmla="*/ 0 w 1869719"/>
              <a:gd name="csY11" fmla="*/ 1014869 h 1886551"/>
              <a:gd name="csX12" fmla="*/ 0 w 1869719"/>
              <a:gd name="csY12" fmla="*/ 871682 h 18865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869719" h="1886551" fill="none" extrusionOk="0">
                <a:moveTo>
                  <a:pt x="0" y="871682"/>
                </a:moveTo>
                <a:cubicBezTo>
                  <a:pt x="150577" y="878137"/>
                  <a:pt x="691672" y="826285"/>
                  <a:pt x="871682" y="871682"/>
                </a:cubicBezTo>
                <a:cubicBezTo>
                  <a:pt x="944600" y="699805"/>
                  <a:pt x="866968" y="165485"/>
                  <a:pt x="871682" y="0"/>
                </a:cubicBezTo>
                <a:cubicBezTo>
                  <a:pt x="917842" y="-3582"/>
                  <a:pt x="948566" y="-7301"/>
                  <a:pt x="998037" y="0"/>
                </a:cubicBezTo>
                <a:cubicBezTo>
                  <a:pt x="1034408" y="206213"/>
                  <a:pt x="958303" y="545702"/>
                  <a:pt x="998037" y="871682"/>
                </a:cubicBezTo>
                <a:cubicBezTo>
                  <a:pt x="1403914" y="918941"/>
                  <a:pt x="1768096" y="817161"/>
                  <a:pt x="1869719" y="871682"/>
                </a:cubicBezTo>
                <a:cubicBezTo>
                  <a:pt x="1862247" y="898346"/>
                  <a:pt x="1867979" y="944707"/>
                  <a:pt x="1869719" y="1014869"/>
                </a:cubicBezTo>
                <a:cubicBezTo>
                  <a:pt x="1548144" y="940983"/>
                  <a:pt x="1153210" y="1019821"/>
                  <a:pt x="998037" y="1014869"/>
                </a:cubicBezTo>
                <a:cubicBezTo>
                  <a:pt x="1038278" y="1306496"/>
                  <a:pt x="926672" y="1453007"/>
                  <a:pt x="998037" y="1886551"/>
                </a:cubicBezTo>
                <a:cubicBezTo>
                  <a:pt x="957192" y="1890993"/>
                  <a:pt x="910226" y="1892254"/>
                  <a:pt x="871682" y="1886551"/>
                </a:cubicBezTo>
                <a:cubicBezTo>
                  <a:pt x="900212" y="1470477"/>
                  <a:pt x="885227" y="1205920"/>
                  <a:pt x="871682" y="1014869"/>
                </a:cubicBezTo>
                <a:cubicBezTo>
                  <a:pt x="678222" y="1052749"/>
                  <a:pt x="371283" y="1038878"/>
                  <a:pt x="0" y="1014869"/>
                </a:cubicBezTo>
                <a:cubicBezTo>
                  <a:pt x="7573" y="960095"/>
                  <a:pt x="-108" y="893456"/>
                  <a:pt x="0" y="871682"/>
                </a:cubicBezTo>
                <a:close/>
              </a:path>
              <a:path w="1869719" h="1886551" stroke="0" extrusionOk="0">
                <a:moveTo>
                  <a:pt x="0" y="871682"/>
                </a:moveTo>
                <a:cubicBezTo>
                  <a:pt x="344289" y="885060"/>
                  <a:pt x="600800" y="905684"/>
                  <a:pt x="871682" y="871682"/>
                </a:cubicBezTo>
                <a:cubicBezTo>
                  <a:pt x="931893" y="628664"/>
                  <a:pt x="943650" y="370527"/>
                  <a:pt x="871682" y="0"/>
                </a:cubicBezTo>
                <a:cubicBezTo>
                  <a:pt x="893890" y="9838"/>
                  <a:pt x="946111" y="7517"/>
                  <a:pt x="998037" y="0"/>
                </a:cubicBezTo>
                <a:cubicBezTo>
                  <a:pt x="992055" y="159455"/>
                  <a:pt x="932820" y="532460"/>
                  <a:pt x="998037" y="871682"/>
                </a:cubicBezTo>
                <a:cubicBezTo>
                  <a:pt x="1357843" y="820993"/>
                  <a:pt x="1686362" y="905907"/>
                  <a:pt x="1869719" y="871682"/>
                </a:cubicBezTo>
                <a:cubicBezTo>
                  <a:pt x="1875174" y="925174"/>
                  <a:pt x="1873986" y="947346"/>
                  <a:pt x="1869719" y="1014869"/>
                </a:cubicBezTo>
                <a:cubicBezTo>
                  <a:pt x="1764808" y="1082825"/>
                  <a:pt x="1290886" y="1035898"/>
                  <a:pt x="998037" y="1014869"/>
                </a:cubicBezTo>
                <a:cubicBezTo>
                  <a:pt x="975473" y="1296156"/>
                  <a:pt x="935667" y="1781961"/>
                  <a:pt x="998037" y="1886551"/>
                </a:cubicBezTo>
                <a:cubicBezTo>
                  <a:pt x="962951" y="1880256"/>
                  <a:pt x="921537" y="1889798"/>
                  <a:pt x="871682" y="1886551"/>
                </a:cubicBezTo>
                <a:cubicBezTo>
                  <a:pt x="818077" y="1555126"/>
                  <a:pt x="859397" y="1130088"/>
                  <a:pt x="871682" y="1014869"/>
                </a:cubicBezTo>
                <a:cubicBezTo>
                  <a:pt x="608586" y="952921"/>
                  <a:pt x="306780" y="1005001"/>
                  <a:pt x="0" y="1014869"/>
                </a:cubicBezTo>
                <a:cubicBezTo>
                  <a:pt x="-3635" y="972697"/>
                  <a:pt x="-10926" y="894203"/>
                  <a:pt x="0" y="871682"/>
                </a:cubicBezTo>
                <a:close/>
              </a:path>
            </a:pathLst>
          </a:custGeom>
          <a:solidFill>
            <a:schemeClr val="accent2"/>
          </a:solidFill>
          <a:ln>
            <a:solidFill>
              <a:schemeClr val="accent2"/>
            </a:solidFill>
            <a:extLst>
              <a:ext uri="{C807C97D-BFC1-408E-A445-0C87EB9F89A2}">
                <ask:lineSketchStyleProps xmlns:ask="http://schemas.microsoft.com/office/drawing/2018/sketchyshapes" sd="3129110413">
                  <a:prstGeom prst="plus">
                    <a:avLst>
                      <a:gd name="adj" fmla="val 46621"/>
                    </a:avLst>
                  </a:prstGeom>
                  <ask:type>
                    <ask:lineSketchCurve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楕円 50">
            <a:extLst>
              <a:ext uri="{FF2B5EF4-FFF2-40B4-BE49-F238E27FC236}">
                <a16:creationId xmlns:a16="http://schemas.microsoft.com/office/drawing/2014/main" id="{445914FA-79B4-45B7-AD62-654903C3C42B}"/>
              </a:ext>
            </a:extLst>
          </p:cNvPr>
          <p:cNvSpPr/>
          <p:nvPr userDrawn="1"/>
        </p:nvSpPr>
        <p:spPr>
          <a:xfrm>
            <a:off x="7090921" y="4792728"/>
            <a:ext cx="1253486" cy="1236539"/>
          </a:xfrm>
          <a:custGeom>
            <a:avLst/>
            <a:gdLst>
              <a:gd name="csX0" fmla="*/ 0 w 1253486"/>
              <a:gd name="csY0" fmla="*/ 618270 h 1236539"/>
              <a:gd name="csX1" fmla="*/ 626743 w 1253486"/>
              <a:gd name="csY1" fmla="*/ 0 h 1236539"/>
              <a:gd name="csX2" fmla="*/ 1253486 w 1253486"/>
              <a:gd name="csY2" fmla="*/ 618270 h 1236539"/>
              <a:gd name="csX3" fmla="*/ 626743 w 1253486"/>
              <a:gd name="csY3" fmla="*/ 1236540 h 1236539"/>
              <a:gd name="csX4" fmla="*/ 0 w 1253486"/>
              <a:gd name="csY4" fmla="*/ 618270 h 1236539"/>
            </a:gdLst>
            <a:ahLst/>
            <a:cxnLst>
              <a:cxn ang="0">
                <a:pos x="csX0" y="csY0"/>
              </a:cxn>
              <a:cxn ang="0">
                <a:pos x="csX1" y="csY1"/>
              </a:cxn>
              <a:cxn ang="0">
                <a:pos x="csX2" y="csY2"/>
              </a:cxn>
              <a:cxn ang="0">
                <a:pos x="csX3" y="csY3"/>
              </a:cxn>
              <a:cxn ang="0">
                <a:pos x="csX4" y="csY4"/>
              </a:cxn>
            </a:cxnLst>
            <a:rect l="l" t="t" r="r" b="b"/>
            <a:pathLst>
              <a:path w="1253486" h="1236539" extrusionOk="0">
                <a:moveTo>
                  <a:pt x="0" y="618270"/>
                </a:moveTo>
                <a:cubicBezTo>
                  <a:pt x="11333" y="288976"/>
                  <a:pt x="265442" y="19656"/>
                  <a:pt x="626743" y="0"/>
                </a:cubicBezTo>
                <a:cubicBezTo>
                  <a:pt x="963521" y="-49908"/>
                  <a:pt x="1223269" y="275473"/>
                  <a:pt x="1253486" y="618270"/>
                </a:cubicBezTo>
                <a:cubicBezTo>
                  <a:pt x="1256702" y="984230"/>
                  <a:pt x="1029945" y="1242942"/>
                  <a:pt x="626743" y="1236540"/>
                </a:cubicBezTo>
                <a:cubicBezTo>
                  <a:pt x="282897" y="1246744"/>
                  <a:pt x="5423" y="961932"/>
                  <a:pt x="0" y="618270"/>
                </a:cubicBezTo>
                <a:close/>
              </a:path>
            </a:pathLst>
          </a:custGeom>
          <a:noFill/>
          <a:ln w="76200">
            <a:solidFill>
              <a:srgbClr val="C00000"/>
            </a:solidFill>
            <a:extLst>
              <a:ext uri="{C807C97D-BFC1-408E-A445-0C87EB9F89A2}">
                <ask:lineSketchStyleProps xmlns:ask="http://schemas.microsoft.com/office/drawing/2018/sketchyshapes" sd="1678478707">
                  <a:prstGeom prst="ellipse">
                    <a:avLst/>
                  </a:prstGeom>
                  <ask:type>
                    <ask:lineSketchCurve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1681652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図形レイアウト_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CE4981D-F3E1-A957-C0E7-47018581307B}"/>
              </a:ext>
            </a:extLst>
          </p:cNvPr>
          <p:cNvSpPr>
            <a:spLocks noGrp="1"/>
          </p:cNvSpPr>
          <p:nvPr>
            <p:ph type="title"/>
          </p:nvPr>
        </p:nvSpPr>
        <p:spPr>
          <a:xfrm>
            <a:off x="838200" y="231697"/>
            <a:ext cx="8268093" cy="457044"/>
          </a:xfrm>
        </p:spPr>
        <p:txBody>
          <a:bodyPr>
            <a:noAutofit/>
          </a:bodyPr>
          <a:lstStyle>
            <a:lvl1pPr>
              <a:defRPr sz="2800">
                <a:solidFill>
                  <a:schemeClr val="bg1"/>
                </a:solidFill>
              </a:defRPr>
            </a:lvl1pPr>
          </a:lstStyle>
          <a:p>
            <a:r>
              <a:rPr kumimoji="1" lang="ja-JP" altLang="en-US"/>
              <a:t>マスター タイトルの書式設定</a:t>
            </a:r>
          </a:p>
        </p:txBody>
      </p:sp>
      <p:sp>
        <p:nvSpPr>
          <p:cNvPr id="6" name="スライド番号プレースホルダー 5">
            <a:extLst>
              <a:ext uri="{FF2B5EF4-FFF2-40B4-BE49-F238E27FC236}">
                <a16:creationId xmlns:a16="http://schemas.microsoft.com/office/drawing/2014/main" id="{1978F53E-4C54-5978-324C-CDA5322A0EDC}"/>
              </a:ext>
            </a:extLst>
          </p:cNvPr>
          <p:cNvSpPr>
            <a:spLocks noGrp="1"/>
          </p:cNvSpPr>
          <p:nvPr>
            <p:ph type="sldNum" sz="quarter" idx="12"/>
          </p:nvPr>
        </p:nvSpPr>
        <p:spPr>
          <a:xfrm>
            <a:off x="11160803" y="277657"/>
            <a:ext cx="838200" cy="365125"/>
          </a:xfrm>
        </p:spPr>
        <p:txBody>
          <a:bodyPr/>
          <a:lstStyle>
            <a:lvl1pPr algn="ctr">
              <a:defRPr sz="1800">
                <a:solidFill>
                  <a:schemeClr val="bg1"/>
                </a:solidFill>
              </a:defRPr>
            </a:lvl1pPr>
          </a:lstStyle>
          <a:p>
            <a:fld id="{8D1BC46D-89B1-41A3-BBA1-F56BEABD0A90}" type="slidenum">
              <a:rPr lang="ja-JP" altLang="en-US" smtClean="0"/>
              <a:pPr/>
              <a:t>‹#›</a:t>
            </a:fld>
            <a:endParaRPr lang="ja-JP" altLang="en-US"/>
          </a:p>
        </p:txBody>
      </p:sp>
      <p:sp>
        <p:nvSpPr>
          <p:cNvPr id="3" name="タイトル 1">
            <a:extLst>
              <a:ext uri="{FF2B5EF4-FFF2-40B4-BE49-F238E27FC236}">
                <a16:creationId xmlns:a16="http://schemas.microsoft.com/office/drawing/2014/main" id="{EA1512E1-AAA0-AB04-C190-127E06041E34}"/>
              </a:ext>
            </a:extLst>
          </p:cNvPr>
          <p:cNvSpPr txBox="1">
            <a:spLocks/>
          </p:cNvSpPr>
          <p:nvPr userDrawn="1"/>
        </p:nvSpPr>
        <p:spPr>
          <a:xfrm>
            <a:off x="558800" y="1015999"/>
            <a:ext cx="11099800" cy="93815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sz="3600"/>
              <a:t>寸法や色は場合に応じて調整しましょう</a:t>
            </a:r>
          </a:p>
        </p:txBody>
      </p:sp>
      <p:grpSp>
        <p:nvGrpSpPr>
          <p:cNvPr id="24" name="グループ化 23">
            <a:extLst>
              <a:ext uri="{FF2B5EF4-FFF2-40B4-BE49-F238E27FC236}">
                <a16:creationId xmlns:a16="http://schemas.microsoft.com/office/drawing/2014/main" id="{4918279A-9D5F-83FE-1814-3178B5023072}"/>
              </a:ext>
            </a:extLst>
          </p:cNvPr>
          <p:cNvGrpSpPr/>
          <p:nvPr userDrawn="1"/>
        </p:nvGrpSpPr>
        <p:grpSpPr>
          <a:xfrm rot="3516666">
            <a:off x="1083666" y="2853387"/>
            <a:ext cx="1201975" cy="1567649"/>
            <a:chOff x="2664127" y="3374455"/>
            <a:chExt cx="1201975" cy="1567649"/>
          </a:xfrm>
        </p:grpSpPr>
        <p:sp>
          <p:nvSpPr>
            <p:cNvPr id="25" name="二等辺三角形 24">
              <a:extLst>
                <a:ext uri="{FF2B5EF4-FFF2-40B4-BE49-F238E27FC236}">
                  <a16:creationId xmlns:a16="http://schemas.microsoft.com/office/drawing/2014/main" id="{18040CFA-D83A-6E36-349E-8029AD4E1E72}"/>
                </a:ext>
              </a:extLst>
            </p:cNvPr>
            <p:cNvSpPr/>
            <p:nvPr/>
          </p:nvSpPr>
          <p:spPr>
            <a:xfrm rot="21516842">
              <a:off x="3025444" y="3374455"/>
              <a:ext cx="840658" cy="471949"/>
            </a:xfrm>
            <a:prstGeom prst="triangle">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フリーフォーム: 図形 25">
              <a:extLst>
                <a:ext uri="{FF2B5EF4-FFF2-40B4-BE49-F238E27FC236}">
                  <a16:creationId xmlns:a16="http://schemas.microsoft.com/office/drawing/2014/main" id="{3687799F-5AF2-5645-A10F-4C5CDA1D9A63}"/>
                </a:ext>
              </a:extLst>
            </p:cNvPr>
            <p:cNvSpPr/>
            <p:nvPr/>
          </p:nvSpPr>
          <p:spPr>
            <a:xfrm>
              <a:off x="2664127" y="3827205"/>
              <a:ext cx="956601" cy="1114899"/>
            </a:xfrm>
            <a:custGeom>
              <a:avLst/>
              <a:gdLst>
                <a:gd name="connsiteX0" fmla="*/ 649311 w 956601"/>
                <a:gd name="connsiteY0" fmla="*/ 0 h 1114899"/>
                <a:gd name="connsiteX1" fmla="*/ 956601 w 956601"/>
                <a:gd name="connsiteY1" fmla="*/ 0 h 1114899"/>
                <a:gd name="connsiteX2" fmla="*/ 951973 w 956601"/>
                <a:gd name="connsiteY2" fmla="*/ 97117 h 1114899"/>
                <a:gd name="connsiteX3" fmla="*/ 5472 w 956601"/>
                <a:gd name="connsiteY3" fmla="*/ 1113687 h 1114899"/>
                <a:gd name="connsiteX4" fmla="*/ 0 w 956601"/>
                <a:gd name="connsiteY4" fmla="*/ 1114899 h 1114899"/>
                <a:gd name="connsiteX5" fmla="*/ 40056 w 956601"/>
                <a:gd name="connsiteY5" fmla="*/ 1089636 h 1114899"/>
                <a:gd name="connsiteX6" fmla="*/ 638394 w 956601"/>
                <a:gd name="connsiteY6" fmla="*/ 162145 h 1114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56601" h="1114899">
                  <a:moveTo>
                    <a:pt x="649311" y="0"/>
                  </a:moveTo>
                  <a:lnTo>
                    <a:pt x="956601" y="0"/>
                  </a:lnTo>
                  <a:lnTo>
                    <a:pt x="951973" y="97117"/>
                  </a:lnTo>
                  <a:cubicBezTo>
                    <a:pt x="906000" y="577465"/>
                    <a:pt x="522068" y="975272"/>
                    <a:pt x="5472" y="1113687"/>
                  </a:cubicBezTo>
                  <a:lnTo>
                    <a:pt x="0" y="1114899"/>
                  </a:lnTo>
                  <a:lnTo>
                    <a:pt x="40056" y="1089636"/>
                  </a:lnTo>
                  <a:cubicBezTo>
                    <a:pt x="365632" y="863013"/>
                    <a:pt x="587911" y="534591"/>
                    <a:pt x="638394" y="162145"/>
                  </a:cubicBezTo>
                  <a:close/>
                </a:path>
              </a:pathLst>
            </a:cu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7" name="グループ化 26">
            <a:extLst>
              <a:ext uri="{FF2B5EF4-FFF2-40B4-BE49-F238E27FC236}">
                <a16:creationId xmlns:a16="http://schemas.microsoft.com/office/drawing/2014/main" id="{F5AD321D-70F5-E363-267F-4BBAB259B4A9}"/>
              </a:ext>
            </a:extLst>
          </p:cNvPr>
          <p:cNvGrpSpPr/>
          <p:nvPr userDrawn="1"/>
        </p:nvGrpSpPr>
        <p:grpSpPr>
          <a:xfrm>
            <a:off x="3762700" y="2453659"/>
            <a:ext cx="851900" cy="2201196"/>
            <a:chOff x="4004187" y="2684206"/>
            <a:chExt cx="851900" cy="2201196"/>
          </a:xfrm>
        </p:grpSpPr>
        <p:sp>
          <p:nvSpPr>
            <p:cNvPr id="28" name="二等辺三角形 27">
              <a:extLst>
                <a:ext uri="{FF2B5EF4-FFF2-40B4-BE49-F238E27FC236}">
                  <a16:creationId xmlns:a16="http://schemas.microsoft.com/office/drawing/2014/main" id="{3504BEE9-9870-07CE-A77A-85412E49817D}"/>
                </a:ext>
              </a:extLst>
            </p:cNvPr>
            <p:cNvSpPr/>
            <p:nvPr/>
          </p:nvSpPr>
          <p:spPr>
            <a:xfrm>
              <a:off x="4004187" y="2684206"/>
              <a:ext cx="851900" cy="405581"/>
            </a:xfrm>
            <a:prstGeom prst="triangle">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二等辺三角形 28">
              <a:extLst>
                <a:ext uri="{FF2B5EF4-FFF2-40B4-BE49-F238E27FC236}">
                  <a16:creationId xmlns:a16="http://schemas.microsoft.com/office/drawing/2014/main" id="{A554CA98-8948-1722-CD68-C4A9D570C584}"/>
                </a:ext>
              </a:extLst>
            </p:cNvPr>
            <p:cNvSpPr/>
            <p:nvPr/>
          </p:nvSpPr>
          <p:spPr>
            <a:xfrm rot="10800000">
              <a:off x="4172039" y="4653111"/>
              <a:ext cx="516194" cy="232291"/>
            </a:xfrm>
            <a:prstGeom prst="triangle">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台形 29">
              <a:extLst>
                <a:ext uri="{FF2B5EF4-FFF2-40B4-BE49-F238E27FC236}">
                  <a16:creationId xmlns:a16="http://schemas.microsoft.com/office/drawing/2014/main" id="{B55A3034-20E4-4ADF-56C0-2C631235A2B9}"/>
                </a:ext>
              </a:extLst>
            </p:cNvPr>
            <p:cNvSpPr/>
            <p:nvPr/>
          </p:nvSpPr>
          <p:spPr>
            <a:xfrm rot="10800000">
              <a:off x="4274402" y="3082408"/>
              <a:ext cx="311469" cy="1570703"/>
            </a:xfrm>
            <a:prstGeom prst="trapezoid">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1" name="グループ化 30">
            <a:extLst>
              <a:ext uri="{FF2B5EF4-FFF2-40B4-BE49-F238E27FC236}">
                <a16:creationId xmlns:a16="http://schemas.microsoft.com/office/drawing/2014/main" id="{C7512737-BE58-C547-5118-A42DD86BD822}"/>
              </a:ext>
            </a:extLst>
          </p:cNvPr>
          <p:cNvGrpSpPr/>
          <p:nvPr userDrawn="1"/>
        </p:nvGrpSpPr>
        <p:grpSpPr>
          <a:xfrm>
            <a:off x="5262743" y="3209365"/>
            <a:ext cx="2359742" cy="1445491"/>
            <a:chOff x="4837472" y="2490841"/>
            <a:chExt cx="2359742" cy="1445491"/>
          </a:xfrm>
        </p:grpSpPr>
        <p:sp>
          <p:nvSpPr>
            <p:cNvPr id="32" name="四角形: 角を丸くする 31">
              <a:extLst>
                <a:ext uri="{FF2B5EF4-FFF2-40B4-BE49-F238E27FC236}">
                  <a16:creationId xmlns:a16="http://schemas.microsoft.com/office/drawing/2014/main" id="{233F5D7F-64E3-9407-78B4-FAE25F6CDACB}"/>
                </a:ext>
              </a:extLst>
            </p:cNvPr>
            <p:cNvSpPr/>
            <p:nvPr/>
          </p:nvSpPr>
          <p:spPr>
            <a:xfrm>
              <a:off x="4837472" y="2490841"/>
              <a:ext cx="2359742" cy="938159"/>
            </a:xfrm>
            <a:prstGeom prst="roundRect">
              <a:avLst>
                <a:gd name="adj" fmla="val 10379"/>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二等辺三角形 32">
              <a:extLst>
                <a:ext uri="{FF2B5EF4-FFF2-40B4-BE49-F238E27FC236}">
                  <a16:creationId xmlns:a16="http://schemas.microsoft.com/office/drawing/2014/main" id="{AE5B25B4-830C-F565-701E-7B3D8EF0A3D5}"/>
                </a:ext>
              </a:extLst>
            </p:cNvPr>
            <p:cNvSpPr/>
            <p:nvPr/>
          </p:nvSpPr>
          <p:spPr>
            <a:xfrm rot="11901755">
              <a:off x="4948538" y="3335420"/>
              <a:ext cx="213186" cy="600912"/>
            </a:xfrm>
            <a:prstGeom prst="triangle">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ABC99292-5B3A-39EC-B0CA-F64C7E3424EF}"/>
              </a:ext>
            </a:extLst>
          </p:cNvPr>
          <p:cNvGrpSpPr/>
          <p:nvPr userDrawn="1"/>
        </p:nvGrpSpPr>
        <p:grpSpPr>
          <a:xfrm>
            <a:off x="2672807" y="2453659"/>
            <a:ext cx="840658" cy="2492477"/>
            <a:chOff x="7800489" y="2818451"/>
            <a:chExt cx="840658" cy="2492477"/>
          </a:xfrm>
        </p:grpSpPr>
        <p:sp>
          <p:nvSpPr>
            <p:cNvPr id="35" name="二等辺三角形 34">
              <a:extLst>
                <a:ext uri="{FF2B5EF4-FFF2-40B4-BE49-F238E27FC236}">
                  <a16:creationId xmlns:a16="http://schemas.microsoft.com/office/drawing/2014/main" id="{77F7F590-718D-D8F1-5230-5A3DAD37ED7B}"/>
                </a:ext>
              </a:extLst>
            </p:cNvPr>
            <p:cNvSpPr/>
            <p:nvPr/>
          </p:nvSpPr>
          <p:spPr>
            <a:xfrm>
              <a:off x="7800489" y="2818451"/>
              <a:ext cx="840658" cy="412955"/>
            </a:xfrm>
            <a:prstGeom prst="triangle">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二等辺三角形 35">
              <a:extLst>
                <a:ext uri="{FF2B5EF4-FFF2-40B4-BE49-F238E27FC236}">
                  <a16:creationId xmlns:a16="http://schemas.microsoft.com/office/drawing/2014/main" id="{4882E2DA-4C8E-08D3-32F4-26F06FF74CF7}"/>
                </a:ext>
              </a:extLst>
            </p:cNvPr>
            <p:cNvSpPr/>
            <p:nvPr/>
          </p:nvSpPr>
          <p:spPr>
            <a:xfrm rot="10800000">
              <a:off x="8070268" y="3224031"/>
              <a:ext cx="274331" cy="2086897"/>
            </a:xfrm>
            <a:prstGeom prst="triangle">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37" name="直線コネクタ 36">
            <a:extLst>
              <a:ext uri="{FF2B5EF4-FFF2-40B4-BE49-F238E27FC236}">
                <a16:creationId xmlns:a16="http://schemas.microsoft.com/office/drawing/2014/main" id="{A2C7AC8F-F791-7B05-2E9C-0DD57300600C}"/>
              </a:ext>
            </a:extLst>
          </p:cNvPr>
          <p:cNvCxnSpPr>
            <a:cxnSpLocks/>
          </p:cNvCxnSpPr>
          <p:nvPr userDrawn="1"/>
        </p:nvCxnSpPr>
        <p:spPr>
          <a:xfrm flipV="1">
            <a:off x="7466643" y="2683751"/>
            <a:ext cx="525780" cy="791898"/>
          </a:xfrm>
          <a:prstGeom prst="line">
            <a:avLst/>
          </a:prstGeom>
          <a:ln>
            <a:headEnd type="oval" w="lg" len="lg"/>
          </a:ln>
          <a:effectLst>
            <a:glow rad="88900">
              <a:srgbClr val="FFFFFF">
                <a:alpha val="87000"/>
              </a:srgbClr>
            </a:glow>
          </a:effectLst>
        </p:spPr>
        <p:style>
          <a:lnRef idx="3">
            <a:schemeClr val="accent4"/>
          </a:lnRef>
          <a:fillRef idx="0">
            <a:schemeClr val="accent4"/>
          </a:fillRef>
          <a:effectRef idx="2">
            <a:schemeClr val="accent4"/>
          </a:effectRef>
          <a:fontRef idx="minor">
            <a:schemeClr val="tx1"/>
          </a:fontRef>
        </p:style>
      </p:cxnSp>
      <p:sp>
        <p:nvSpPr>
          <p:cNvPr id="38" name="楕円 37">
            <a:extLst>
              <a:ext uri="{FF2B5EF4-FFF2-40B4-BE49-F238E27FC236}">
                <a16:creationId xmlns:a16="http://schemas.microsoft.com/office/drawing/2014/main" id="{94A0D457-D1B5-AC80-EF68-979CF97AC4FB}"/>
              </a:ext>
            </a:extLst>
          </p:cNvPr>
          <p:cNvSpPr/>
          <p:nvPr userDrawn="1"/>
        </p:nvSpPr>
        <p:spPr>
          <a:xfrm>
            <a:off x="7831288" y="2120241"/>
            <a:ext cx="648000" cy="648000"/>
          </a:xfrm>
          <a:prstGeom prst="ellipse">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2800" b="1">
                <a:latin typeface="游ゴシック" panose="020B0400000000000000" pitchFamily="50" charset="-128"/>
                <a:ea typeface="游ゴシック" panose="020B0400000000000000" pitchFamily="50" charset="-128"/>
              </a:rPr>
              <a:t>1</a:t>
            </a:r>
            <a:endParaRPr kumimoji="1" lang="ja-JP" altLang="en-US" sz="2800" b="1">
              <a:latin typeface="游ゴシック" panose="020B0400000000000000" pitchFamily="50" charset="-128"/>
              <a:ea typeface="游ゴシック" panose="020B0400000000000000" pitchFamily="50" charset="-128"/>
            </a:endParaRPr>
          </a:p>
        </p:txBody>
      </p:sp>
      <p:grpSp>
        <p:nvGrpSpPr>
          <p:cNvPr id="39" name="グループ化 38">
            <a:extLst>
              <a:ext uri="{FF2B5EF4-FFF2-40B4-BE49-F238E27FC236}">
                <a16:creationId xmlns:a16="http://schemas.microsoft.com/office/drawing/2014/main" id="{2CE1F30D-67D3-C19A-2EA8-2F95FADA6D9C}"/>
              </a:ext>
            </a:extLst>
          </p:cNvPr>
          <p:cNvGrpSpPr/>
          <p:nvPr userDrawn="1"/>
        </p:nvGrpSpPr>
        <p:grpSpPr>
          <a:xfrm>
            <a:off x="1308118" y="4654856"/>
            <a:ext cx="938304" cy="840658"/>
            <a:chOff x="1572269" y="4816089"/>
            <a:chExt cx="938304" cy="840658"/>
          </a:xfrm>
        </p:grpSpPr>
        <p:sp>
          <p:nvSpPr>
            <p:cNvPr id="40" name="二等辺三角形 39">
              <a:extLst>
                <a:ext uri="{FF2B5EF4-FFF2-40B4-BE49-F238E27FC236}">
                  <a16:creationId xmlns:a16="http://schemas.microsoft.com/office/drawing/2014/main" id="{E9780E46-C155-1EC1-3DEF-E0C579376EAA}"/>
                </a:ext>
              </a:extLst>
            </p:cNvPr>
            <p:cNvSpPr/>
            <p:nvPr/>
          </p:nvSpPr>
          <p:spPr>
            <a:xfrm rot="4051206">
              <a:off x="1854270" y="5000443"/>
              <a:ext cx="840658" cy="471949"/>
            </a:xfrm>
            <a:prstGeom prst="triangle">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フリーフォーム: 図形 40">
              <a:extLst>
                <a:ext uri="{FF2B5EF4-FFF2-40B4-BE49-F238E27FC236}">
                  <a16:creationId xmlns:a16="http://schemas.microsoft.com/office/drawing/2014/main" id="{4A4675F7-CCB9-B468-0A09-2934FCB49E7E}"/>
                </a:ext>
              </a:extLst>
            </p:cNvPr>
            <p:cNvSpPr/>
            <p:nvPr/>
          </p:nvSpPr>
          <p:spPr>
            <a:xfrm rot="4134364">
              <a:off x="1636592" y="5135506"/>
              <a:ext cx="382670" cy="511315"/>
            </a:xfrm>
            <a:custGeom>
              <a:avLst/>
              <a:gdLst>
                <a:gd name="connsiteX0" fmla="*/ 75380 w 382670"/>
                <a:gd name="connsiteY0" fmla="*/ 0 h 511315"/>
                <a:gd name="connsiteX1" fmla="*/ 382670 w 382670"/>
                <a:gd name="connsiteY1" fmla="*/ 0 h 511315"/>
                <a:gd name="connsiteX2" fmla="*/ 378042 w 382670"/>
                <a:gd name="connsiteY2" fmla="*/ 97117 h 511315"/>
                <a:gd name="connsiteX3" fmla="*/ 283402 w 382670"/>
                <a:gd name="connsiteY3" fmla="*/ 439138 h 511315"/>
                <a:gd name="connsiteX4" fmla="*/ 241829 w 382670"/>
                <a:gd name="connsiteY4" fmla="*/ 511315 h 511315"/>
                <a:gd name="connsiteX5" fmla="*/ 0 w 382670"/>
                <a:gd name="connsiteY5" fmla="*/ 418030 h 511315"/>
                <a:gd name="connsiteX6" fmla="*/ 37613 w 382670"/>
                <a:gd name="connsiteY6" fmla="*/ 299636 h 511315"/>
                <a:gd name="connsiteX7" fmla="*/ 64463 w 382670"/>
                <a:gd name="connsiteY7" fmla="*/ 162145 h 511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2670" h="511315">
                  <a:moveTo>
                    <a:pt x="75380" y="0"/>
                  </a:moveTo>
                  <a:lnTo>
                    <a:pt x="382670" y="0"/>
                  </a:lnTo>
                  <a:lnTo>
                    <a:pt x="378042" y="97117"/>
                  </a:lnTo>
                  <a:cubicBezTo>
                    <a:pt x="366549" y="217204"/>
                    <a:pt x="333933" y="332132"/>
                    <a:pt x="283402" y="439138"/>
                  </a:cubicBezTo>
                  <a:lnTo>
                    <a:pt x="241829" y="511315"/>
                  </a:lnTo>
                  <a:lnTo>
                    <a:pt x="0" y="418030"/>
                  </a:lnTo>
                  <a:lnTo>
                    <a:pt x="37613" y="299636"/>
                  </a:lnTo>
                  <a:cubicBezTo>
                    <a:pt x="49158" y="254569"/>
                    <a:pt x="58153" y="208701"/>
                    <a:pt x="64463" y="162145"/>
                  </a:cubicBezTo>
                  <a:close/>
                </a:path>
              </a:pathLst>
            </a:cu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p>
          </p:txBody>
        </p:sp>
      </p:grpSp>
      <p:sp>
        <p:nvSpPr>
          <p:cNvPr id="42" name="フリーフォーム: 図形 41">
            <a:extLst>
              <a:ext uri="{FF2B5EF4-FFF2-40B4-BE49-F238E27FC236}">
                <a16:creationId xmlns:a16="http://schemas.microsoft.com/office/drawing/2014/main" id="{9247C8B2-182C-C265-D9DF-AFFCDEB3F30C}"/>
              </a:ext>
            </a:extLst>
          </p:cNvPr>
          <p:cNvSpPr/>
          <p:nvPr userDrawn="1"/>
        </p:nvSpPr>
        <p:spPr>
          <a:xfrm>
            <a:off x="1256388" y="6352685"/>
            <a:ext cx="1380066" cy="202200"/>
          </a:xfrm>
          <a:custGeom>
            <a:avLst/>
            <a:gdLst>
              <a:gd name="csX0" fmla="*/ 0 w 1380066"/>
              <a:gd name="csY0" fmla="*/ 202199 h 202200"/>
              <a:gd name="csX1" fmla="*/ 1380066 w 1380066"/>
              <a:gd name="csY1" fmla="*/ 0 h 202200"/>
            </a:gdLst>
            <a:ahLst/>
            <a:cxnLst>
              <a:cxn ang="0">
                <a:pos x="csX0" y="csY0"/>
              </a:cxn>
              <a:cxn ang="0">
                <a:pos x="csX1" y="csY1"/>
              </a:cxn>
            </a:cxnLst>
            <a:rect l="l" t="t" r="r" b="b"/>
            <a:pathLst>
              <a:path w="1380066" h="202200" extrusionOk="0">
                <a:moveTo>
                  <a:pt x="0" y="202199"/>
                </a:moveTo>
                <a:cubicBezTo>
                  <a:pt x="579868" y="55242"/>
                  <a:pt x="825186" y="128242"/>
                  <a:pt x="1380066" y="0"/>
                </a:cubicBezTo>
              </a:path>
            </a:pathLst>
          </a:custGeom>
          <a:noFill/>
          <a:ln cap="rnd">
            <a:solidFill>
              <a:schemeClr val="accent4"/>
            </a:solidFill>
            <a:round/>
            <a:headEnd type="none" w="med" len="med"/>
            <a:tailEnd type="arrow" w="lg" len="lg"/>
            <a:extLst>
              <a:ext uri="{C807C97D-BFC1-408E-A445-0C87EB9F89A2}">
                <ask:lineSketchStyleProps xmlns:ask="http://schemas.microsoft.com/office/drawing/2018/sketchyshapes" sd="697022472">
                  <a:custGeom>
                    <a:avLst/>
                    <a:gdLst>
                      <a:gd name="connsiteX0" fmla="*/ 0 w 2709333"/>
                      <a:gd name="connsiteY0" fmla="*/ 321732 h 321733"/>
                      <a:gd name="connsiteX1" fmla="*/ 1245419 w 2709333"/>
                      <a:gd name="connsiteY1" fmla="*/ 105712 h 321733"/>
                      <a:gd name="connsiteX2" fmla="*/ 2709333 w 2709333"/>
                      <a:gd name="connsiteY2" fmla="*/ 0 h 321733"/>
                      <a:gd name="connsiteX0" fmla="*/ 0 w 2709333"/>
                      <a:gd name="connsiteY0" fmla="*/ 321732 h 321732"/>
                      <a:gd name="connsiteX1" fmla="*/ 2709333 w 2709333"/>
                      <a:gd name="connsiteY1" fmla="*/ 0 h 321732"/>
                    </a:gdLst>
                    <a:ahLst/>
                    <a:cxnLst>
                      <a:cxn ang="0">
                        <a:pos x="connsiteX0" y="connsiteY0"/>
                      </a:cxn>
                      <a:cxn ang="0">
                        <a:pos x="connsiteX1" y="connsiteY1"/>
                      </a:cxn>
                    </a:cxnLst>
                    <a:rect l="l" t="t" r="r" b="b"/>
                    <a:pathLst>
                      <a:path w="2709333" h="321732" extrusionOk="0">
                        <a:moveTo>
                          <a:pt x="0" y="321732"/>
                        </a:moveTo>
                        <a:lnTo>
                          <a:pt x="2709333" y="0"/>
                        </a:lnTo>
                      </a:path>
                    </a:pathLst>
                  </a:custGeom>
                  <ask:type>
                    <ask:lineSketchCurve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右大かっこ 42">
            <a:extLst>
              <a:ext uri="{FF2B5EF4-FFF2-40B4-BE49-F238E27FC236}">
                <a16:creationId xmlns:a16="http://schemas.microsoft.com/office/drawing/2014/main" id="{71025FB8-A1A7-CE8E-2E34-590F6B4B549B}"/>
              </a:ext>
            </a:extLst>
          </p:cNvPr>
          <p:cNvSpPr/>
          <p:nvPr userDrawn="1"/>
        </p:nvSpPr>
        <p:spPr>
          <a:xfrm>
            <a:off x="10875218" y="3429000"/>
            <a:ext cx="75875" cy="2144636"/>
          </a:xfrm>
          <a:custGeom>
            <a:avLst/>
            <a:gdLst>
              <a:gd name="csX0" fmla="*/ 0 w 75875"/>
              <a:gd name="csY0" fmla="*/ 0 h 2144636"/>
              <a:gd name="csX1" fmla="*/ 75875 w 75875"/>
              <a:gd name="csY1" fmla="*/ 6323 h 2144636"/>
              <a:gd name="csX2" fmla="*/ 75875 w 75875"/>
              <a:gd name="csY2" fmla="*/ 2138313 h 2144636"/>
              <a:gd name="csX3" fmla="*/ 0 w 75875"/>
              <a:gd name="csY3" fmla="*/ 2144636 h 2144636"/>
              <a:gd name="csX4" fmla="*/ 0 w 75875"/>
              <a:gd name="csY4" fmla="*/ 0 h 2144636"/>
              <a:gd name="csX0" fmla="*/ 0 w 75875"/>
              <a:gd name="csY0" fmla="*/ 0 h 2144636"/>
              <a:gd name="csX1" fmla="*/ 75875 w 75875"/>
              <a:gd name="csY1" fmla="*/ 6323 h 2144636"/>
              <a:gd name="csX2" fmla="*/ 75875 w 75875"/>
              <a:gd name="csY2" fmla="*/ 2138313 h 2144636"/>
              <a:gd name="csX3" fmla="*/ 0 w 75875"/>
              <a:gd name="csY3" fmla="*/ 2144636 h 2144636"/>
            </a:gdLst>
            <a:ahLst/>
            <a:cxnLst>
              <a:cxn ang="0">
                <a:pos x="csX0" y="csY0"/>
              </a:cxn>
              <a:cxn ang="0">
                <a:pos x="csX1" y="csY1"/>
              </a:cxn>
              <a:cxn ang="0">
                <a:pos x="csX2" y="csY2"/>
              </a:cxn>
              <a:cxn ang="0">
                <a:pos x="csX3" y="csY3"/>
              </a:cxn>
            </a:cxnLst>
            <a:rect l="l" t="t" r="r" b="b"/>
            <a:pathLst>
              <a:path w="75875" h="2144636" stroke="0" extrusionOk="0">
                <a:moveTo>
                  <a:pt x="0" y="0"/>
                </a:moveTo>
                <a:cubicBezTo>
                  <a:pt x="42231" y="260"/>
                  <a:pt x="75694" y="3473"/>
                  <a:pt x="75875" y="6323"/>
                </a:cubicBezTo>
                <a:cubicBezTo>
                  <a:pt x="36033" y="809005"/>
                  <a:pt x="117564" y="1463863"/>
                  <a:pt x="75875" y="2138313"/>
                </a:cubicBezTo>
                <a:cubicBezTo>
                  <a:pt x="75472" y="2141552"/>
                  <a:pt x="38285" y="2141821"/>
                  <a:pt x="0" y="2144636"/>
                </a:cubicBezTo>
                <a:cubicBezTo>
                  <a:pt x="132240" y="1282501"/>
                  <a:pt x="-92512" y="751834"/>
                  <a:pt x="0" y="0"/>
                </a:cubicBezTo>
                <a:close/>
              </a:path>
              <a:path w="75875" h="2144636" fill="none" extrusionOk="0">
                <a:moveTo>
                  <a:pt x="0" y="0"/>
                </a:moveTo>
                <a:cubicBezTo>
                  <a:pt x="42382" y="80"/>
                  <a:pt x="76249" y="3222"/>
                  <a:pt x="75875" y="6323"/>
                </a:cubicBezTo>
                <a:cubicBezTo>
                  <a:pt x="-24092" y="939947"/>
                  <a:pt x="-16176" y="1075997"/>
                  <a:pt x="75875" y="2138313"/>
                </a:cubicBezTo>
                <a:cubicBezTo>
                  <a:pt x="70834" y="2143479"/>
                  <a:pt x="44604" y="2144902"/>
                  <a:pt x="0" y="2144636"/>
                </a:cubicBezTo>
              </a:path>
              <a:path w="75875" h="2144636" fill="none" stroke="0" extrusionOk="0">
                <a:moveTo>
                  <a:pt x="0" y="0"/>
                </a:moveTo>
                <a:cubicBezTo>
                  <a:pt x="42098" y="-180"/>
                  <a:pt x="76088" y="3017"/>
                  <a:pt x="75875" y="6323"/>
                </a:cubicBezTo>
                <a:cubicBezTo>
                  <a:pt x="233756" y="726300"/>
                  <a:pt x="144075" y="1627586"/>
                  <a:pt x="75875" y="2138313"/>
                </a:cubicBezTo>
                <a:cubicBezTo>
                  <a:pt x="81323" y="2141035"/>
                  <a:pt x="43270" y="2142597"/>
                  <a:pt x="0" y="2144636"/>
                </a:cubicBezTo>
              </a:path>
            </a:pathLst>
          </a:custGeom>
          <a:ln w="19050">
            <a:solidFill>
              <a:schemeClr val="accent4"/>
            </a:solidFill>
            <a:extLst>
              <a:ext uri="{C807C97D-BFC1-408E-A445-0C87EB9F89A2}">
                <ask:lineSketchStyleProps xmlns:ask="http://schemas.microsoft.com/office/drawing/2018/sketchyshapes" sd="43512134">
                  <a:prstGeom prst="rightBracket">
                    <a:avLst/>
                  </a:prstGeom>
                  <ask:type>
                    <ask:lineSketchCurved/>
                  </ask:type>
                </ask:lineSketchStyleProps>
              </a:ext>
            </a:extLst>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44" name="テキスト ボックス 43">
            <a:extLst>
              <a:ext uri="{FF2B5EF4-FFF2-40B4-BE49-F238E27FC236}">
                <a16:creationId xmlns:a16="http://schemas.microsoft.com/office/drawing/2014/main" id="{BEC562EF-C993-6BA6-27AB-5AA25964F385}"/>
              </a:ext>
            </a:extLst>
          </p:cNvPr>
          <p:cNvSpPr txBox="1"/>
          <p:nvPr userDrawn="1"/>
        </p:nvSpPr>
        <p:spPr>
          <a:xfrm>
            <a:off x="8613397" y="3987244"/>
            <a:ext cx="1716014" cy="369332"/>
          </a:xfrm>
          <a:prstGeom prst="rect">
            <a:avLst/>
          </a:prstGeom>
          <a:solidFill>
            <a:srgbClr val="46877B"/>
          </a:solidFill>
        </p:spPr>
        <p:txBody>
          <a:bodyPr wrap="square">
            <a:spAutoFit/>
          </a:bodyPr>
          <a:lstStyle/>
          <a:p>
            <a:r>
              <a:rPr lang="en-US" altLang="ja-JP" b="1">
                <a:solidFill>
                  <a:schemeClr val="bg1"/>
                </a:solidFill>
                <a:latin typeface="游ゴシック" panose="020B0400000000000000" pitchFamily="50" charset="-128"/>
                <a:ea typeface="游ゴシック" panose="020B0400000000000000" pitchFamily="50" charset="-128"/>
              </a:rPr>
              <a:t> </a:t>
            </a:r>
            <a:r>
              <a:rPr lang="ja-JP" altLang="en-US" b="1">
                <a:solidFill>
                  <a:schemeClr val="bg1"/>
                </a:solidFill>
                <a:latin typeface="游ゴシック" panose="020B0400000000000000" pitchFamily="50" charset="-128"/>
                <a:ea typeface="游ゴシック" panose="020B0400000000000000" pitchFamily="50" charset="-128"/>
              </a:rPr>
              <a:t>何かの見出し</a:t>
            </a:r>
          </a:p>
        </p:txBody>
      </p:sp>
      <p:sp>
        <p:nvSpPr>
          <p:cNvPr id="45" name="フリーフォーム: 図形 44">
            <a:extLst>
              <a:ext uri="{FF2B5EF4-FFF2-40B4-BE49-F238E27FC236}">
                <a16:creationId xmlns:a16="http://schemas.microsoft.com/office/drawing/2014/main" id="{AE5FE25F-0D28-6F9E-AD72-3FC5C6312CD5}"/>
              </a:ext>
            </a:extLst>
          </p:cNvPr>
          <p:cNvSpPr/>
          <p:nvPr userDrawn="1"/>
        </p:nvSpPr>
        <p:spPr>
          <a:xfrm rot="2149832">
            <a:off x="1232946" y="5356494"/>
            <a:ext cx="1116215" cy="1248435"/>
          </a:xfrm>
          <a:custGeom>
            <a:avLst/>
            <a:gdLst>
              <a:gd name="connsiteX0" fmla="*/ 0 w 6381750"/>
              <a:gd name="connsiteY0" fmla="*/ 87460 h 350919"/>
              <a:gd name="connsiteX1" fmla="*/ 508000 w 6381750"/>
              <a:gd name="connsiteY1" fmla="*/ 258910 h 350919"/>
              <a:gd name="connsiteX2" fmla="*/ 908050 w 6381750"/>
              <a:gd name="connsiteY2" fmla="*/ 125560 h 350919"/>
              <a:gd name="connsiteX3" fmla="*/ 1314450 w 6381750"/>
              <a:gd name="connsiteY3" fmla="*/ 252560 h 350919"/>
              <a:gd name="connsiteX4" fmla="*/ 2032000 w 6381750"/>
              <a:gd name="connsiteY4" fmla="*/ 4910 h 350919"/>
              <a:gd name="connsiteX5" fmla="*/ 2635250 w 6381750"/>
              <a:gd name="connsiteY5" fmla="*/ 100160 h 350919"/>
              <a:gd name="connsiteX6" fmla="*/ 3943350 w 6381750"/>
              <a:gd name="connsiteY6" fmla="*/ 252560 h 350919"/>
              <a:gd name="connsiteX7" fmla="*/ 4648200 w 6381750"/>
              <a:gd name="connsiteY7" fmla="*/ 347810 h 350919"/>
              <a:gd name="connsiteX8" fmla="*/ 5308600 w 6381750"/>
              <a:gd name="connsiteY8" fmla="*/ 138260 h 350919"/>
              <a:gd name="connsiteX9" fmla="*/ 6381750 w 6381750"/>
              <a:gd name="connsiteY9" fmla="*/ 87460 h 350919"/>
              <a:gd name="connsiteX0" fmla="*/ 0 w 6381750"/>
              <a:gd name="connsiteY0" fmla="*/ 84727 h 347987"/>
              <a:gd name="connsiteX1" fmla="*/ 508000 w 6381750"/>
              <a:gd name="connsiteY1" fmla="*/ 256177 h 347987"/>
              <a:gd name="connsiteX2" fmla="*/ 908050 w 6381750"/>
              <a:gd name="connsiteY2" fmla="*/ 122827 h 347987"/>
              <a:gd name="connsiteX3" fmla="*/ 1314450 w 6381750"/>
              <a:gd name="connsiteY3" fmla="*/ 249827 h 347987"/>
              <a:gd name="connsiteX4" fmla="*/ 2032000 w 6381750"/>
              <a:gd name="connsiteY4" fmla="*/ 2177 h 347987"/>
              <a:gd name="connsiteX5" fmla="*/ 2876550 w 6381750"/>
              <a:gd name="connsiteY5" fmla="*/ 135527 h 347987"/>
              <a:gd name="connsiteX6" fmla="*/ 3943350 w 6381750"/>
              <a:gd name="connsiteY6" fmla="*/ 249827 h 347987"/>
              <a:gd name="connsiteX7" fmla="*/ 4648200 w 6381750"/>
              <a:gd name="connsiteY7" fmla="*/ 345077 h 347987"/>
              <a:gd name="connsiteX8" fmla="*/ 5308600 w 6381750"/>
              <a:gd name="connsiteY8" fmla="*/ 135527 h 347987"/>
              <a:gd name="connsiteX9" fmla="*/ 6381750 w 6381750"/>
              <a:gd name="connsiteY9" fmla="*/ 84727 h 347987"/>
              <a:gd name="connsiteX0" fmla="*/ 0 w 6381750"/>
              <a:gd name="connsiteY0" fmla="*/ 84727 h 347987"/>
              <a:gd name="connsiteX1" fmla="*/ 508000 w 6381750"/>
              <a:gd name="connsiteY1" fmla="*/ 256177 h 347987"/>
              <a:gd name="connsiteX2" fmla="*/ 908050 w 6381750"/>
              <a:gd name="connsiteY2" fmla="*/ 122827 h 347987"/>
              <a:gd name="connsiteX3" fmla="*/ 1314450 w 6381750"/>
              <a:gd name="connsiteY3" fmla="*/ 249827 h 347987"/>
              <a:gd name="connsiteX4" fmla="*/ 2032000 w 6381750"/>
              <a:gd name="connsiteY4" fmla="*/ 2177 h 347987"/>
              <a:gd name="connsiteX5" fmla="*/ 2876550 w 6381750"/>
              <a:gd name="connsiteY5" fmla="*/ 135527 h 347987"/>
              <a:gd name="connsiteX6" fmla="*/ 3943350 w 6381750"/>
              <a:gd name="connsiteY6" fmla="*/ 249827 h 347987"/>
              <a:gd name="connsiteX7" fmla="*/ 4648200 w 6381750"/>
              <a:gd name="connsiteY7" fmla="*/ 345077 h 347987"/>
              <a:gd name="connsiteX8" fmla="*/ 5308600 w 6381750"/>
              <a:gd name="connsiteY8" fmla="*/ 135527 h 347987"/>
              <a:gd name="connsiteX9" fmla="*/ 6381750 w 6381750"/>
              <a:gd name="connsiteY9" fmla="*/ 143994 h 347987"/>
              <a:gd name="connsiteX0" fmla="*/ 0 w 6381750"/>
              <a:gd name="connsiteY0" fmla="*/ 84727 h 347987"/>
              <a:gd name="connsiteX1" fmla="*/ 508000 w 6381750"/>
              <a:gd name="connsiteY1" fmla="*/ 256177 h 347987"/>
              <a:gd name="connsiteX2" fmla="*/ 908050 w 6381750"/>
              <a:gd name="connsiteY2" fmla="*/ 122827 h 347987"/>
              <a:gd name="connsiteX3" fmla="*/ 1314450 w 6381750"/>
              <a:gd name="connsiteY3" fmla="*/ 249827 h 347987"/>
              <a:gd name="connsiteX4" fmla="*/ 2032000 w 6381750"/>
              <a:gd name="connsiteY4" fmla="*/ 2177 h 347987"/>
              <a:gd name="connsiteX5" fmla="*/ 2876550 w 6381750"/>
              <a:gd name="connsiteY5" fmla="*/ 135527 h 347987"/>
              <a:gd name="connsiteX6" fmla="*/ 3943350 w 6381750"/>
              <a:gd name="connsiteY6" fmla="*/ 249827 h 347987"/>
              <a:gd name="connsiteX7" fmla="*/ 4648200 w 6381750"/>
              <a:gd name="connsiteY7" fmla="*/ 345077 h 347987"/>
              <a:gd name="connsiteX8" fmla="*/ 5308600 w 6381750"/>
              <a:gd name="connsiteY8" fmla="*/ 135527 h 347987"/>
              <a:gd name="connsiteX9" fmla="*/ 6381750 w 6381750"/>
              <a:gd name="connsiteY9" fmla="*/ 143994 h 347987"/>
              <a:gd name="connsiteX0" fmla="*/ 0 w 6381750"/>
              <a:gd name="connsiteY0" fmla="*/ 84727 h 347987"/>
              <a:gd name="connsiteX1" fmla="*/ 908050 w 6381750"/>
              <a:gd name="connsiteY1" fmla="*/ 122827 h 347987"/>
              <a:gd name="connsiteX2" fmla="*/ 1314450 w 6381750"/>
              <a:gd name="connsiteY2" fmla="*/ 249827 h 347987"/>
              <a:gd name="connsiteX3" fmla="*/ 2032000 w 6381750"/>
              <a:gd name="connsiteY3" fmla="*/ 2177 h 347987"/>
              <a:gd name="connsiteX4" fmla="*/ 2876550 w 6381750"/>
              <a:gd name="connsiteY4" fmla="*/ 135527 h 347987"/>
              <a:gd name="connsiteX5" fmla="*/ 3943350 w 6381750"/>
              <a:gd name="connsiteY5" fmla="*/ 249827 h 347987"/>
              <a:gd name="connsiteX6" fmla="*/ 4648200 w 6381750"/>
              <a:gd name="connsiteY6" fmla="*/ 345077 h 347987"/>
              <a:gd name="connsiteX7" fmla="*/ 5308600 w 6381750"/>
              <a:gd name="connsiteY7" fmla="*/ 135527 h 347987"/>
              <a:gd name="connsiteX8" fmla="*/ 6381750 w 6381750"/>
              <a:gd name="connsiteY8" fmla="*/ 143994 h 347987"/>
              <a:gd name="connsiteX0" fmla="*/ 0 w 6381750"/>
              <a:gd name="connsiteY0" fmla="*/ 84727 h 347987"/>
              <a:gd name="connsiteX1" fmla="*/ 1314450 w 6381750"/>
              <a:gd name="connsiteY1" fmla="*/ 249827 h 347987"/>
              <a:gd name="connsiteX2" fmla="*/ 2032000 w 6381750"/>
              <a:gd name="connsiteY2" fmla="*/ 2177 h 347987"/>
              <a:gd name="connsiteX3" fmla="*/ 2876550 w 6381750"/>
              <a:gd name="connsiteY3" fmla="*/ 135527 h 347987"/>
              <a:gd name="connsiteX4" fmla="*/ 3943350 w 6381750"/>
              <a:gd name="connsiteY4" fmla="*/ 249827 h 347987"/>
              <a:gd name="connsiteX5" fmla="*/ 4648200 w 6381750"/>
              <a:gd name="connsiteY5" fmla="*/ 345077 h 347987"/>
              <a:gd name="connsiteX6" fmla="*/ 5308600 w 6381750"/>
              <a:gd name="connsiteY6" fmla="*/ 135527 h 347987"/>
              <a:gd name="connsiteX7" fmla="*/ 6381750 w 6381750"/>
              <a:gd name="connsiteY7" fmla="*/ 143994 h 347987"/>
              <a:gd name="connsiteX0" fmla="*/ 0 w 6381750"/>
              <a:gd name="connsiteY0" fmla="*/ 83224 h 346484"/>
              <a:gd name="connsiteX1" fmla="*/ 2032000 w 6381750"/>
              <a:gd name="connsiteY1" fmla="*/ 674 h 346484"/>
              <a:gd name="connsiteX2" fmla="*/ 2876550 w 6381750"/>
              <a:gd name="connsiteY2" fmla="*/ 134024 h 346484"/>
              <a:gd name="connsiteX3" fmla="*/ 3943350 w 6381750"/>
              <a:gd name="connsiteY3" fmla="*/ 248324 h 346484"/>
              <a:gd name="connsiteX4" fmla="*/ 4648200 w 6381750"/>
              <a:gd name="connsiteY4" fmla="*/ 343574 h 346484"/>
              <a:gd name="connsiteX5" fmla="*/ 5308600 w 6381750"/>
              <a:gd name="connsiteY5" fmla="*/ 134024 h 346484"/>
              <a:gd name="connsiteX6" fmla="*/ 6381750 w 6381750"/>
              <a:gd name="connsiteY6" fmla="*/ 142491 h 346484"/>
              <a:gd name="connsiteX0" fmla="*/ 0 w 6381750"/>
              <a:gd name="connsiteY0" fmla="*/ 0 h 263260"/>
              <a:gd name="connsiteX1" fmla="*/ 2876550 w 6381750"/>
              <a:gd name="connsiteY1" fmla="*/ 50800 h 263260"/>
              <a:gd name="connsiteX2" fmla="*/ 3943350 w 6381750"/>
              <a:gd name="connsiteY2" fmla="*/ 165100 h 263260"/>
              <a:gd name="connsiteX3" fmla="*/ 4648200 w 6381750"/>
              <a:gd name="connsiteY3" fmla="*/ 260350 h 263260"/>
              <a:gd name="connsiteX4" fmla="*/ 5308600 w 6381750"/>
              <a:gd name="connsiteY4" fmla="*/ 50800 h 263260"/>
              <a:gd name="connsiteX5" fmla="*/ 6381750 w 6381750"/>
              <a:gd name="connsiteY5" fmla="*/ 59267 h 263260"/>
              <a:gd name="connsiteX0" fmla="*/ 0 w 6381750"/>
              <a:gd name="connsiteY0" fmla="*/ 0 h 263260"/>
              <a:gd name="connsiteX1" fmla="*/ 3943350 w 6381750"/>
              <a:gd name="connsiteY1" fmla="*/ 165100 h 263260"/>
              <a:gd name="connsiteX2" fmla="*/ 4648200 w 6381750"/>
              <a:gd name="connsiteY2" fmla="*/ 260350 h 263260"/>
              <a:gd name="connsiteX3" fmla="*/ 5308600 w 6381750"/>
              <a:gd name="connsiteY3" fmla="*/ 50800 h 263260"/>
              <a:gd name="connsiteX4" fmla="*/ 6381750 w 6381750"/>
              <a:gd name="connsiteY4" fmla="*/ 59267 h 263260"/>
              <a:gd name="connsiteX0" fmla="*/ 0 w 6381750"/>
              <a:gd name="connsiteY0" fmla="*/ 0 h 260350"/>
              <a:gd name="connsiteX1" fmla="*/ 4648200 w 6381750"/>
              <a:gd name="connsiteY1" fmla="*/ 260350 h 260350"/>
              <a:gd name="connsiteX2" fmla="*/ 5308600 w 6381750"/>
              <a:gd name="connsiteY2" fmla="*/ 50800 h 260350"/>
              <a:gd name="connsiteX3" fmla="*/ 6381750 w 6381750"/>
              <a:gd name="connsiteY3" fmla="*/ 59267 h 260350"/>
              <a:gd name="connsiteX0" fmla="*/ 0 w 6381750"/>
              <a:gd name="connsiteY0" fmla="*/ 0 h 59267"/>
              <a:gd name="connsiteX1" fmla="*/ 5308600 w 6381750"/>
              <a:gd name="connsiteY1" fmla="*/ 50800 h 59267"/>
              <a:gd name="connsiteX2" fmla="*/ 6381750 w 6381750"/>
              <a:gd name="connsiteY2" fmla="*/ 59267 h 59267"/>
              <a:gd name="connsiteX0" fmla="*/ 0 w 6381750"/>
              <a:gd name="connsiteY0" fmla="*/ 0 h 1124584"/>
              <a:gd name="connsiteX1" fmla="*/ 4528057 w 6381750"/>
              <a:gd name="connsiteY1" fmla="*/ 1124584 h 1124584"/>
              <a:gd name="connsiteX2" fmla="*/ 6381750 w 6381750"/>
              <a:gd name="connsiteY2" fmla="*/ 59267 h 1124584"/>
              <a:gd name="connsiteX0" fmla="*/ 0 w 3161177"/>
              <a:gd name="connsiteY0" fmla="*/ 2112889 h 2112889"/>
              <a:gd name="connsiteX1" fmla="*/ 1307484 w 3161177"/>
              <a:gd name="connsiteY1" fmla="*/ 1067394 h 2112889"/>
              <a:gd name="connsiteX2" fmla="*/ 3161177 w 3161177"/>
              <a:gd name="connsiteY2" fmla="*/ 2077 h 2112889"/>
              <a:gd name="connsiteX0" fmla="*/ 0 w 3161177"/>
              <a:gd name="connsiteY0" fmla="*/ 2110812 h 2110812"/>
              <a:gd name="connsiteX1" fmla="*/ 3161177 w 3161177"/>
              <a:gd name="connsiteY1" fmla="*/ 0 h 2110812"/>
              <a:gd name="connsiteX0" fmla="*/ 0 w 1482258"/>
              <a:gd name="connsiteY0" fmla="*/ 903680 h 903680"/>
              <a:gd name="connsiteX1" fmla="*/ 1482258 w 1482258"/>
              <a:gd name="connsiteY1" fmla="*/ 0 h 903680"/>
            </a:gdLst>
            <a:ahLst/>
            <a:cxnLst>
              <a:cxn ang="0">
                <a:pos x="connsiteX0" y="connsiteY0"/>
              </a:cxn>
              <a:cxn ang="0">
                <a:pos x="connsiteX1" y="connsiteY1"/>
              </a:cxn>
            </a:cxnLst>
            <a:rect l="l" t="t" r="r" b="b"/>
            <a:pathLst>
              <a:path w="1482258" h="903680">
                <a:moveTo>
                  <a:pt x="0" y="903680"/>
                </a:moveTo>
                <a:lnTo>
                  <a:pt x="1482258" y="0"/>
                </a:lnTo>
              </a:path>
            </a:pathLst>
          </a:custGeom>
          <a:noFill/>
          <a:ln w="57150">
            <a:solidFill>
              <a:schemeClr val="accent2"/>
            </a:solidFill>
            <a:tailEnd type="triangle"/>
          </a:ln>
          <a:effectLst>
            <a:glow rad="63500">
              <a:schemeClr val="accent2">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矢印: 右 45">
            <a:extLst>
              <a:ext uri="{FF2B5EF4-FFF2-40B4-BE49-F238E27FC236}">
                <a16:creationId xmlns:a16="http://schemas.microsoft.com/office/drawing/2014/main" id="{466FF7BF-8733-71B2-6B3E-B2EE9F48E24F}"/>
              </a:ext>
            </a:extLst>
          </p:cNvPr>
          <p:cNvSpPr/>
          <p:nvPr userDrawn="1"/>
        </p:nvSpPr>
        <p:spPr>
          <a:xfrm>
            <a:off x="3724405" y="5310395"/>
            <a:ext cx="1797864" cy="1126627"/>
          </a:xfrm>
          <a:custGeom>
            <a:avLst/>
            <a:gdLst>
              <a:gd name="csX0" fmla="*/ 0 w 1797864"/>
              <a:gd name="csY0" fmla="*/ 281657 h 1126627"/>
              <a:gd name="csX1" fmla="*/ 1234551 w 1797864"/>
              <a:gd name="csY1" fmla="*/ 281657 h 1126627"/>
              <a:gd name="csX2" fmla="*/ 1234551 w 1797864"/>
              <a:gd name="csY2" fmla="*/ 0 h 1126627"/>
              <a:gd name="csX3" fmla="*/ 1797864 w 1797864"/>
              <a:gd name="csY3" fmla="*/ 563314 h 1126627"/>
              <a:gd name="csX4" fmla="*/ 1234551 w 1797864"/>
              <a:gd name="csY4" fmla="*/ 1126627 h 1126627"/>
              <a:gd name="csX5" fmla="*/ 1234551 w 1797864"/>
              <a:gd name="csY5" fmla="*/ 844970 h 1126627"/>
              <a:gd name="csX6" fmla="*/ 0 w 1797864"/>
              <a:gd name="csY6" fmla="*/ 844970 h 1126627"/>
              <a:gd name="csX7" fmla="*/ 0 w 1797864"/>
              <a:gd name="csY7" fmla="*/ 281657 h 11266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797864" h="1126627" fill="none" extrusionOk="0">
                <a:moveTo>
                  <a:pt x="0" y="281657"/>
                </a:moveTo>
                <a:cubicBezTo>
                  <a:pt x="441140" y="341876"/>
                  <a:pt x="815292" y="313239"/>
                  <a:pt x="1234551" y="281657"/>
                </a:cubicBezTo>
                <a:cubicBezTo>
                  <a:pt x="1258466" y="194755"/>
                  <a:pt x="1214082" y="130057"/>
                  <a:pt x="1234551" y="0"/>
                </a:cubicBezTo>
                <a:cubicBezTo>
                  <a:pt x="1321461" y="170749"/>
                  <a:pt x="1683272" y="515097"/>
                  <a:pt x="1797864" y="563314"/>
                </a:cubicBezTo>
                <a:cubicBezTo>
                  <a:pt x="1683170" y="648249"/>
                  <a:pt x="1372263" y="1063564"/>
                  <a:pt x="1234551" y="1126627"/>
                </a:cubicBezTo>
                <a:cubicBezTo>
                  <a:pt x="1228919" y="1080683"/>
                  <a:pt x="1223293" y="925170"/>
                  <a:pt x="1234551" y="844970"/>
                </a:cubicBezTo>
                <a:cubicBezTo>
                  <a:pt x="625859" y="796345"/>
                  <a:pt x="503036" y="798970"/>
                  <a:pt x="0" y="844970"/>
                </a:cubicBezTo>
                <a:cubicBezTo>
                  <a:pt x="12149" y="711576"/>
                  <a:pt x="-34350" y="429484"/>
                  <a:pt x="0" y="281657"/>
                </a:cubicBezTo>
                <a:close/>
              </a:path>
              <a:path w="1797864" h="1126627" stroke="0" extrusionOk="0">
                <a:moveTo>
                  <a:pt x="0" y="281657"/>
                </a:moveTo>
                <a:cubicBezTo>
                  <a:pt x="501690" y="291445"/>
                  <a:pt x="664348" y="302673"/>
                  <a:pt x="1234551" y="281657"/>
                </a:cubicBezTo>
                <a:cubicBezTo>
                  <a:pt x="1244995" y="149561"/>
                  <a:pt x="1246456" y="46048"/>
                  <a:pt x="1234551" y="0"/>
                </a:cubicBezTo>
                <a:cubicBezTo>
                  <a:pt x="1416517" y="201720"/>
                  <a:pt x="1516224" y="323140"/>
                  <a:pt x="1797864" y="563314"/>
                </a:cubicBezTo>
                <a:cubicBezTo>
                  <a:pt x="1604474" y="781173"/>
                  <a:pt x="1263864" y="996785"/>
                  <a:pt x="1234551" y="1126627"/>
                </a:cubicBezTo>
                <a:cubicBezTo>
                  <a:pt x="1244859" y="1090226"/>
                  <a:pt x="1246547" y="961132"/>
                  <a:pt x="1234551" y="844970"/>
                </a:cubicBezTo>
                <a:cubicBezTo>
                  <a:pt x="826782" y="735023"/>
                  <a:pt x="170652" y="758181"/>
                  <a:pt x="0" y="844970"/>
                </a:cubicBezTo>
                <a:cubicBezTo>
                  <a:pt x="-923" y="604596"/>
                  <a:pt x="-16096" y="399535"/>
                  <a:pt x="0" y="281657"/>
                </a:cubicBezTo>
                <a:close/>
              </a:path>
            </a:pathLst>
          </a:custGeom>
          <a:solidFill>
            <a:schemeClr val="accent4"/>
          </a:solidFill>
          <a:ln>
            <a:solidFill>
              <a:schemeClr val="accent4"/>
            </a:solidFill>
            <a:extLst>
              <a:ext uri="{C807C97D-BFC1-408E-A445-0C87EB9F89A2}">
                <ask:lineSketchStyleProps xmlns:ask="http://schemas.microsoft.com/office/drawing/2018/sketchyshapes" sd="3864781296">
                  <a:prstGeom prst="rightArrow">
                    <a:avLst/>
                  </a:prstGeom>
                  <ask:type>
                    <ask:lineSketchCurve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フリーフォーム: 図形 46">
            <a:extLst>
              <a:ext uri="{FF2B5EF4-FFF2-40B4-BE49-F238E27FC236}">
                <a16:creationId xmlns:a16="http://schemas.microsoft.com/office/drawing/2014/main" id="{ACD936A2-EC75-0B60-5056-1BE76B11D5CC}"/>
              </a:ext>
            </a:extLst>
          </p:cNvPr>
          <p:cNvSpPr/>
          <p:nvPr userDrawn="1"/>
        </p:nvSpPr>
        <p:spPr>
          <a:xfrm>
            <a:off x="529301" y="2977937"/>
            <a:ext cx="2457450" cy="553401"/>
          </a:xfrm>
          <a:custGeom>
            <a:avLst/>
            <a:gdLst>
              <a:gd name="connsiteX0" fmla="*/ 0 w 2457450"/>
              <a:gd name="connsiteY0" fmla="*/ 553401 h 553401"/>
              <a:gd name="connsiteX1" fmla="*/ 1066800 w 2457450"/>
              <a:gd name="connsiteY1" fmla="*/ 48576 h 553401"/>
              <a:gd name="connsiteX2" fmla="*/ 2457450 w 2457450"/>
              <a:gd name="connsiteY2" fmla="*/ 48576 h 553401"/>
            </a:gdLst>
            <a:ahLst/>
            <a:cxnLst>
              <a:cxn ang="0">
                <a:pos x="connsiteX0" y="connsiteY0"/>
              </a:cxn>
              <a:cxn ang="0">
                <a:pos x="connsiteX1" y="connsiteY1"/>
              </a:cxn>
              <a:cxn ang="0">
                <a:pos x="connsiteX2" y="connsiteY2"/>
              </a:cxn>
            </a:cxnLst>
            <a:rect l="l" t="t" r="r" b="b"/>
            <a:pathLst>
              <a:path w="2457450" h="553401">
                <a:moveTo>
                  <a:pt x="0" y="553401"/>
                </a:moveTo>
                <a:cubicBezTo>
                  <a:pt x="328612" y="343057"/>
                  <a:pt x="657225" y="132713"/>
                  <a:pt x="1066800" y="48576"/>
                </a:cubicBezTo>
                <a:cubicBezTo>
                  <a:pt x="1476375" y="-35561"/>
                  <a:pt x="1966912" y="6507"/>
                  <a:pt x="2457450" y="48576"/>
                </a:cubicBezTo>
              </a:path>
            </a:pathLst>
          </a:custGeom>
          <a:noFill/>
          <a:ln w="38100">
            <a:solidFill>
              <a:schemeClr val="accent4"/>
            </a:solidFill>
            <a:headEnd type="none" w="med" len="med"/>
            <a:tailEnd type="triangle" w="med" len="med"/>
          </a:ln>
          <a:effectLst>
            <a:glow rad="152400">
              <a:schemeClr val="bg1"/>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9989E7F2-8281-2C60-5704-0FE6C9FCB1ED}"/>
              </a:ext>
            </a:extLst>
          </p:cNvPr>
          <p:cNvGrpSpPr/>
          <p:nvPr userDrawn="1"/>
        </p:nvGrpSpPr>
        <p:grpSpPr>
          <a:xfrm>
            <a:off x="7701975" y="5031844"/>
            <a:ext cx="866523" cy="923145"/>
            <a:chOff x="5897144" y="3284788"/>
            <a:chExt cx="866523" cy="923145"/>
          </a:xfrm>
        </p:grpSpPr>
        <p:sp>
          <p:nvSpPr>
            <p:cNvPr id="49" name="フリーフォーム: 図形 48">
              <a:extLst>
                <a:ext uri="{FF2B5EF4-FFF2-40B4-BE49-F238E27FC236}">
                  <a16:creationId xmlns:a16="http://schemas.microsoft.com/office/drawing/2014/main" id="{546566B1-B6E5-D124-1949-E69F0C70C37B}"/>
                </a:ext>
              </a:extLst>
            </p:cNvPr>
            <p:cNvSpPr/>
            <p:nvPr/>
          </p:nvSpPr>
          <p:spPr>
            <a:xfrm>
              <a:off x="5897698" y="3332166"/>
              <a:ext cx="842754" cy="500765"/>
            </a:xfrm>
            <a:custGeom>
              <a:avLst/>
              <a:gdLst>
                <a:gd name="connsiteX0" fmla="*/ 562582 w 768994"/>
                <a:gd name="connsiteY0" fmla="*/ 446438 h 495392"/>
                <a:gd name="connsiteX1" fmla="*/ 62068 w 768994"/>
                <a:gd name="connsiteY1" fmla="*/ 119179 h 495392"/>
                <a:gd name="connsiteX2" fmla="*/ 23567 w 768994"/>
                <a:gd name="connsiteY2" fmla="*/ 311684 h 495392"/>
                <a:gd name="connsiteX3" fmla="*/ 206447 w 768994"/>
                <a:gd name="connsiteY3" fmla="*/ 99928 h 495392"/>
                <a:gd name="connsiteX4" fmla="*/ 312325 w 768994"/>
                <a:gd name="connsiteY4" fmla="*/ 176930 h 495392"/>
                <a:gd name="connsiteX5" fmla="*/ 100569 w 768994"/>
                <a:gd name="connsiteY5" fmla="*/ 494564 h 495392"/>
                <a:gd name="connsiteX6" fmla="*/ 764712 w 768994"/>
                <a:gd name="connsiteY6" fmla="*/ 71052 h 495392"/>
                <a:gd name="connsiteX7" fmla="*/ 398952 w 768994"/>
                <a:gd name="connsiteY7" fmla="*/ 176930 h 495392"/>
                <a:gd name="connsiteX8" fmla="*/ 668459 w 768994"/>
                <a:gd name="connsiteY8" fmla="*/ 388686 h 495392"/>
                <a:gd name="connsiteX9" fmla="*/ 312325 w 768994"/>
                <a:gd name="connsiteY9" fmla="*/ 427187 h 495392"/>
                <a:gd name="connsiteX10" fmla="*/ 360451 w 768994"/>
                <a:gd name="connsiteY10" fmla="*/ 71052 h 495392"/>
                <a:gd name="connsiteX11" fmla="*/ 283449 w 768994"/>
                <a:gd name="connsiteY11" fmla="*/ 13301 h 495392"/>
                <a:gd name="connsiteX12" fmla="*/ 302699 w 768994"/>
                <a:gd name="connsiteY12" fmla="*/ 244307 h 495392"/>
                <a:gd name="connsiteX13" fmla="*/ 639584 w 768994"/>
                <a:gd name="connsiteY13" fmla="*/ 196181 h 495392"/>
                <a:gd name="connsiteX14" fmla="*/ 418203 w 768994"/>
                <a:gd name="connsiteY14" fmla="*/ 80678 h 495392"/>
                <a:gd name="connsiteX15" fmla="*/ 206447 w 768994"/>
                <a:gd name="connsiteY15" fmla="*/ 330935 h 495392"/>
                <a:gd name="connsiteX16" fmla="*/ 235323 w 768994"/>
                <a:gd name="connsiteY16" fmla="*/ 475314 h 495392"/>
                <a:gd name="connsiteX17" fmla="*/ 562582 w 768994"/>
                <a:gd name="connsiteY17" fmla="*/ 446438 h 4953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68994" h="495392">
                  <a:moveTo>
                    <a:pt x="562582" y="446438"/>
                  </a:moveTo>
                  <a:cubicBezTo>
                    <a:pt x="533706" y="387082"/>
                    <a:pt x="151904" y="141638"/>
                    <a:pt x="62068" y="119179"/>
                  </a:cubicBezTo>
                  <a:cubicBezTo>
                    <a:pt x="-27768" y="96720"/>
                    <a:pt x="-496" y="314892"/>
                    <a:pt x="23567" y="311684"/>
                  </a:cubicBezTo>
                  <a:cubicBezTo>
                    <a:pt x="47630" y="308476"/>
                    <a:pt x="158321" y="122387"/>
                    <a:pt x="206447" y="99928"/>
                  </a:cubicBezTo>
                  <a:cubicBezTo>
                    <a:pt x="254573" y="77469"/>
                    <a:pt x="329971" y="111157"/>
                    <a:pt x="312325" y="176930"/>
                  </a:cubicBezTo>
                  <a:cubicBezTo>
                    <a:pt x="294679" y="242703"/>
                    <a:pt x="25171" y="512210"/>
                    <a:pt x="100569" y="494564"/>
                  </a:cubicBezTo>
                  <a:cubicBezTo>
                    <a:pt x="175967" y="476918"/>
                    <a:pt x="714982" y="123991"/>
                    <a:pt x="764712" y="71052"/>
                  </a:cubicBezTo>
                  <a:cubicBezTo>
                    <a:pt x="814442" y="18113"/>
                    <a:pt x="414994" y="123991"/>
                    <a:pt x="398952" y="176930"/>
                  </a:cubicBezTo>
                  <a:cubicBezTo>
                    <a:pt x="382910" y="229869"/>
                    <a:pt x="682897" y="346977"/>
                    <a:pt x="668459" y="388686"/>
                  </a:cubicBezTo>
                  <a:cubicBezTo>
                    <a:pt x="654021" y="430395"/>
                    <a:pt x="363660" y="480126"/>
                    <a:pt x="312325" y="427187"/>
                  </a:cubicBezTo>
                  <a:cubicBezTo>
                    <a:pt x="260990" y="374248"/>
                    <a:pt x="365264" y="140033"/>
                    <a:pt x="360451" y="71052"/>
                  </a:cubicBezTo>
                  <a:cubicBezTo>
                    <a:pt x="355638" y="2071"/>
                    <a:pt x="293074" y="-15575"/>
                    <a:pt x="283449" y="13301"/>
                  </a:cubicBezTo>
                  <a:cubicBezTo>
                    <a:pt x="273824" y="42177"/>
                    <a:pt x="243343" y="213827"/>
                    <a:pt x="302699" y="244307"/>
                  </a:cubicBezTo>
                  <a:cubicBezTo>
                    <a:pt x="362055" y="274787"/>
                    <a:pt x="620333" y="223453"/>
                    <a:pt x="639584" y="196181"/>
                  </a:cubicBezTo>
                  <a:cubicBezTo>
                    <a:pt x="658835" y="168909"/>
                    <a:pt x="490393" y="58219"/>
                    <a:pt x="418203" y="80678"/>
                  </a:cubicBezTo>
                  <a:cubicBezTo>
                    <a:pt x="346013" y="103137"/>
                    <a:pt x="236927" y="265162"/>
                    <a:pt x="206447" y="330935"/>
                  </a:cubicBezTo>
                  <a:cubicBezTo>
                    <a:pt x="175967" y="396708"/>
                    <a:pt x="172759" y="462480"/>
                    <a:pt x="235323" y="475314"/>
                  </a:cubicBezTo>
                  <a:cubicBezTo>
                    <a:pt x="297887" y="488148"/>
                    <a:pt x="591458" y="505794"/>
                    <a:pt x="562582" y="446438"/>
                  </a:cubicBezTo>
                  <a:close/>
                </a:path>
              </a:pathLst>
            </a:cu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フリーフォーム: 図形 49">
              <a:extLst>
                <a:ext uri="{FF2B5EF4-FFF2-40B4-BE49-F238E27FC236}">
                  <a16:creationId xmlns:a16="http://schemas.microsoft.com/office/drawing/2014/main" id="{A1AC64BB-628E-5FB9-8AE5-9E24F61AD860}"/>
                </a:ext>
              </a:extLst>
            </p:cNvPr>
            <p:cNvSpPr/>
            <p:nvPr/>
          </p:nvSpPr>
          <p:spPr>
            <a:xfrm rot="4964407">
              <a:off x="5961743" y="3402000"/>
              <a:ext cx="777334" cy="542909"/>
            </a:xfrm>
            <a:custGeom>
              <a:avLst/>
              <a:gdLst>
                <a:gd name="connsiteX0" fmla="*/ 562582 w 768994"/>
                <a:gd name="connsiteY0" fmla="*/ 446438 h 495392"/>
                <a:gd name="connsiteX1" fmla="*/ 62068 w 768994"/>
                <a:gd name="connsiteY1" fmla="*/ 119179 h 495392"/>
                <a:gd name="connsiteX2" fmla="*/ 23567 w 768994"/>
                <a:gd name="connsiteY2" fmla="*/ 311684 h 495392"/>
                <a:gd name="connsiteX3" fmla="*/ 206447 w 768994"/>
                <a:gd name="connsiteY3" fmla="*/ 99928 h 495392"/>
                <a:gd name="connsiteX4" fmla="*/ 312325 w 768994"/>
                <a:gd name="connsiteY4" fmla="*/ 176930 h 495392"/>
                <a:gd name="connsiteX5" fmla="*/ 100569 w 768994"/>
                <a:gd name="connsiteY5" fmla="*/ 494564 h 495392"/>
                <a:gd name="connsiteX6" fmla="*/ 764712 w 768994"/>
                <a:gd name="connsiteY6" fmla="*/ 71052 h 495392"/>
                <a:gd name="connsiteX7" fmla="*/ 398952 w 768994"/>
                <a:gd name="connsiteY7" fmla="*/ 176930 h 495392"/>
                <a:gd name="connsiteX8" fmla="*/ 668459 w 768994"/>
                <a:gd name="connsiteY8" fmla="*/ 388686 h 495392"/>
                <a:gd name="connsiteX9" fmla="*/ 312325 w 768994"/>
                <a:gd name="connsiteY9" fmla="*/ 427187 h 495392"/>
                <a:gd name="connsiteX10" fmla="*/ 360451 w 768994"/>
                <a:gd name="connsiteY10" fmla="*/ 71052 h 495392"/>
                <a:gd name="connsiteX11" fmla="*/ 283449 w 768994"/>
                <a:gd name="connsiteY11" fmla="*/ 13301 h 495392"/>
                <a:gd name="connsiteX12" fmla="*/ 302699 w 768994"/>
                <a:gd name="connsiteY12" fmla="*/ 244307 h 495392"/>
                <a:gd name="connsiteX13" fmla="*/ 639584 w 768994"/>
                <a:gd name="connsiteY13" fmla="*/ 196181 h 495392"/>
                <a:gd name="connsiteX14" fmla="*/ 418203 w 768994"/>
                <a:gd name="connsiteY14" fmla="*/ 80678 h 495392"/>
                <a:gd name="connsiteX15" fmla="*/ 206447 w 768994"/>
                <a:gd name="connsiteY15" fmla="*/ 330935 h 495392"/>
                <a:gd name="connsiteX16" fmla="*/ 235323 w 768994"/>
                <a:gd name="connsiteY16" fmla="*/ 475314 h 495392"/>
                <a:gd name="connsiteX17" fmla="*/ 562582 w 768994"/>
                <a:gd name="connsiteY17" fmla="*/ 446438 h 4953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68994" h="495392">
                  <a:moveTo>
                    <a:pt x="562582" y="446438"/>
                  </a:moveTo>
                  <a:cubicBezTo>
                    <a:pt x="533706" y="387082"/>
                    <a:pt x="151904" y="141638"/>
                    <a:pt x="62068" y="119179"/>
                  </a:cubicBezTo>
                  <a:cubicBezTo>
                    <a:pt x="-27768" y="96720"/>
                    <a:pt x="-496" y="314892"/>
                    <a:pt x="23567" y="311684"/>
                  </a:cubicBezTo>
                  <a:cubicBezTo>
                    <a:pt x="47630" y="308476"/>
                    <a:pt x="158321" y="122387"/>
                    <a:pt x="206447" y="99928"/>
                  </a:cubicBezTo>
                  <a:cubicBezTo>
                    <a:pt x="254573" y="77469"/>
                    <a:pt x="329971" y="111157"/>
                    <a:pt x="312325" y="176930"/>
                  </a:cubicBezTo>
                  <a:cubicBezTo>
                    <a:pt x="294679" y="242703"/>
                    <a:pt x="25171" y="512210"/>
                    <a:pt x="100569" y="494564"/>
                  </a:cubicBezTo>
                  <a:cubicBezTo>
                    <a:pt x="175967" y="476918"/>
                    <a:pt x="714982" y="123991"/>
                    <a:pt x="764712" y="71052"/>
                  </a:cubicBezTo>
                  <a:cubicBezTo>
                    <a:pt x="814442" y="18113"/>
                    <a:pt x="414994" y="123991"/>
                    <a:pt x="398952" y="176930"/>
                  </a:cubicBezTo>
                  <a:cubicBezTo>
                    <a:pt x="382910" y="229869"/>
                    <a:pt x="682897" y="346977"/>
                    <a:pt x="668459" y="388686"/>
                  </a:cubicBezTo>
                  <a:cubicBezTo>
                    <a:pt x="654021" y="430395"/>
                    <a:pt x="363660" y="480126"/>
                    <a:pt x="312325" y="427187"/>
                  </a:cubicBezTo>
                  <a:cubicBezTo>
                    <a:pt x="260990" y="374248"/>
                    <a:pt x="365264" y="140033"/>
                    <a:pt x="360451" y="71052"/>
                  </a:cubicBezTo>
                  <a:cubicBezTo>
                    <a:pt x="355638" y="2071"/>
                    <a:pt x="293074" y="-15575"/>
                    <a:pt x="283449" y="13301"/>
                  </a:cubicBezTo>
                  <a:cubicBezTo>
                    <a:pt x="273824" y="42177"/>
                    <a:pt x="243343" y="213827"/>
                    <a:pt x="302699" y="244307"/>
                  </a:cubicBezTo>
                  <a:cubicBezTo>
                    <a:pt x="362055" y="274787"/>
                    <a:pt x="620333" y="223453"/>
                    <a:pt x="639584" y="196181"/>
                  </a:cubicBezTo>
                  <a:cubicBezTo>
                    <a:pt x="658835" y="168909"/>
                    <a:pt x="490393" y="58219"/>
                    <a:pt x="418203" y="80678"/>
                  </a:cubicBezTo>
                  <a:cubicBezTo>
                    <a:pt x="346013" y="103137"/>
                    <a:pt x="236927" y="265162"/>
                    <a:pt x="206447" y="330935"/>
                  </a:cubicBezTo>
                  <a:cubicBezTo>
                    <a:pt x="175967" y="396708"/>
                    <a:pt x="172759" y="462480"/>
                    <a:pt x="235323" y="475314"/>
                  </a:cubicBezTo>
                  <a:cubicBezTo>
                    <a:pt x="297887" y="488148"/>
                    <a:pt x="591458" y="505794"/>
                    <a:pt x="562582" y="446438"/>
                  </a:cubicBezTo>
                  <a:close/>
                </a:path>
              </a:pathLst>
            </a:cu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フリーフォーム: 図形 50">
              <a:extLst>
                <a:ext uri="{FF2B5EF4-FFF2-40B4-BE49-F238E27FC236}">
                  <a16:creationId xmlns:a16="http://schemas.microsoft.com/office/drawing/2014/main" id="{B0E863FB-B607-37A6-7ED3-6495D7CF3831}"/>
                </a:ext>
              </a:extLst>
            </p:cNvPr>
            <p:cNvSpPr/>
            <p:nvPr/>
          </p:nvSpPr>
          <p:spPr>
            <a:xfrm rot="8884375">
              <a:off x="5897144" y="3395723"/>
              <a:ext cx="842754" cy="500765"/>
            </a:xfrm>
            <a:custGeom>
              <a:avLst/>
              <a:gdLst>
                <a:gd name="connsiteX0" fmla="*/ 562582 w 768994"/>
                <a:gd name="connsiteY0" fmla="*/ 446438 h 495392"/>
                <a:gd name="connsiteX1" fmla="*/ 62068 w 768994"/>
                <a:gd name="connsiteY1" fmla="*/ 119179 h 495392"/>
                <a:gd name="connsiteX2" fmla="*/ 23567 w 768994"/>
                <a:gd name="connsiteY2" fmla="*/ 311684 h 495392"/>
                <a:gd name="connsiteX3" fmla="*/ 206447 w 768994"/>
                <a:gd name="connsiteY3" fmla="*/ 99928 h 495392"/>
                <a:gd name="connsiteX4" fmla="*/ 312325 w 768994"/>
                <a:gd name="connsiteY4" fmla="*/ 176930 h 495392"/>
                <a:gd name="connsiteX5" fmla="*/ 100569 w 768994"/>
                <a:gd name="connsiteY5" fmla="*/ 494564 h 495392"/>
                <a:gd name="connsiteX6" fmla="*/ 764712 w 768994"/>
                <a:gd name="connsiteY6" fmla="*/ 71052 h 495392"/>
                <a:gd name="connsiteX7" fmla="*/ 398952 w 768994"/>
                <a:gd name="connsiteY7" fmla="*/ 176930 h 495392"/>
                <a:gd name="connsiteX8" fmla="*/ 668459 w 768994"/>
                <a:gd name="connsiteY8" fmla="*/ 388686 h 495392"/>
                <a:gd name="connsiteX9" fmla="*/ 312325 w 768994"/>
                <a:gd name="connsiteY9" fmla="*/ 427187 h 495392"/>
                <a:gd name="connsiteX10" fmla="*/ 360451 w 768994"/>
                <a:gd name="connsiteY10" fmla="*/ 71052 h 495392"/>
                <a:gd name="connsiteX11" fmla="*/ 283449 w 768994"/>
                <a:gd name="connsiteY11" fmla="*/ 13301 h 495392"/>
                <a:gd name="connsiteX12" fmla="*/ 302699 w 768994"/>
                <a:gd name="connsiteY12" fmla="*/ 244307 h 495392"/>
                <a:gd name="connsiteX13" fmla="*/ 639584 w 768994"/>
                <a:gd name="connsiteY13" fmla="*/ 196181 h 495392"/>
                <a:gd name="connsiteX14" fmla="*/ 418203 w 768994"/>
                <a:gd name="connsiteY14" fmla="*/ 80678 h 495392"/>
                <a:gd name="connsiteX15" fmla="*/ 206447 w 768994"/>
                <a:gd name="connsiteY15" fmla="*/ 330935 h 495392"/>
                <a:gd name="connsiteX16" fmla="*/ 235323 w 768994"/>
                <a:gd name="connsiteY16" fmla="*/ 475314 h 495392"/>
                <a:gd name="connsiteX17" fmla="*/ 562582 w 768994"/>
                <a:gd name="connsiteY17" fmla="*/ 446438 h 4953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68994" h="495392">
                  <a:moveTo>
                    <a:pt x="562582" y="446438"/>
                  </a:moveTo>
                  <a:cubicBezTo>
                    <a:pt x="533706" y="387082"/>
                    <a:pt x="151904" y="141638"/>
                    <a:pt x="62068" y="119179"/>
                  </a:cubicBezTo>
                  <a:cubicBezTo>
                    <a:pt x="-27768" y="96720"/>
                    <a:pt x="-496" y="314892"/>
                    <a:pt x="23567" y="311684"/>
                  </a:cubicBezTo>
                  <a:cubicBezTo>
                    <a:pt x="47630" y="308476"/>
                    <a:pt x="158321" y="122387"/>
                    <a:pt x="206447" y="99928"/>
                  </a:cubicBezTo>
                  <a:cubicBezTo>
                    <a:pt x="254573" y="77469"/>
                    <a:pt x="329971" y="111157"/>
                    <a:pt x="312325" y="176930"/>
                  </a:cubicBezTo>
                  <a:cubicBezTo>
                    <a:pt x="294679" y="242703"/>
                    <a:pt x="25171" y="512210"/>
                    <a:pt x="100569" y="494564"/>
                  </a:cubicBezTo>
                  <a:cubicBezTo>
                    <a:pt x="175967" y="476918"/>
                    <a:pt x="714982" y="123991"/>
                    <a:pt x="764712" y="71052"/>
                  </a:cubicBezTo>
                  <a:cubicBezTo>
                    <a:pt x="814442" y="18113"/>
                    <a:pt x="414994" y="123991"/>
                    <a:pt x="398952" y="176930"/>
                  </a:cubicBezTo>
                  <a:cubicBezTo>
                    <a:pt x="382910" y="229869"/>
                    <a:pt x="682897" y="346977"/>
                    <a:pt x="668459" y="388686"/>
                  </a:cubicBezTo>
                  <a:cubicBezTo>
                    <a:pt x="654021" y="430395"/>
                    <a:pt x="363660" y="480126"/>
                    <a:pt x="312325" y="427187"/>
                  </a:cubicBezTo>
                  <a:cubicBezTo>
                    <a:pt x="260990" y="374248"/>
                    <a:pt x="365264" y="140033"/>
                    <a:pt x="360451" y="71052"/>
                  </a:cubicBezTo>
                  <a:cubicBezTo>
                    <a:pt x="355638" y="2071"/>
                    <a:pt x="293074" y="-15575"/>
                    <a:pt x="283449" y="13301"/>
                  </a:cubicBezTo>
                  <a:cubicBezTo>
                    <a:pt x="273824" y="42177"/>
                    <a:pt x="243343" y="213827"/>
                    <a:pt x="302699" y="244307"/>
                  </a:cubicBezTo>
                  <a:cubicBezTo>
                    <a:pt x="362055" y="274787"/>
                    <a:pt x="620333" y="223453"/>
                    <a:pt x="639584" y="196181"/>
                  </a:cubicBezTo>
                  <a:cubicBezTo>
                    <a:pt x="658835" y="168909"/>
                    <a:pt x="490393" y="58219"/>
                    <a:pt x="418203" y="80678"/>
                  </a:cubicBezTo>
                  <a:cubicBezTo>
                    <a:pt x="346013" y="103137"/>
                    <a:pt x="236927" y="265162"/>
                    <a:pt x="206447" y="330935"/>
                  </a:cubicBezTo>
                  <a:cubicBezTo>
                    <a:pt x="175967" y="396708"/>
                    <a:pt x="172759" y="462480"/>
                    <a:pt x="235323" y="475314"/>
                  </a:cubicBezTo>
                  <a:cubicBezTo>
                    <a:pt x="297887" y="488148"/>
                    <a:pt x="591458" y="505794"/>
                    <a:pt x="562582" y="446438"/>
                  </a:cubicBezTo>
                  <a:close/>
                </a:path>
              </a:pathLst>
            </a:cu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フリーフォーム: 図形 51">
              <a:extLst>
                <a:ext uri="{FF2B5EF4-FFF2-40B4-BE49-F238E27FC236}">
                  <a16:creationId xmlns:a16="http://schemas.microsoft.com/office/drawing/2014/main" id="{466C67EA-2E0E-1C8E-B917-CC651E147C4F}"/>
                </a:ext>
              </a:extLst>
            </p:cNvPr>
            <p:cNvSpPr/>
            <p:nvPr/>
          </p:nvSpPr>
          <p:spPr>
            <a:xfrm rot="12451915">
              <a:off x="5920913" y="3415024"/>
              <a:ext cx="842754" cy="500765"/>
            </a:xfrm>
            <a:custGeom>
              <a:avLst/>
              <a:gdLst>
                <a:gd name="connsiteX0" fmla="*/ 562582 w 768994"/>
                <a:gd name="connsiteY0" fmla="*/ 446438 h 495392"/>
                <a:gd name="connsiteX1" fmla="*/ 62068 w 768994"/>
                <a:gd name="connsiteY1" fmla="*/ 119179 h 495392"/>
                <a:gd name="connsiteX2" fmla="*/ 23567 w 768994"/>
                <a:gd name="connsiteY2" fmla="*/ 311684 h 495392"/>
                <a:gd name="connsiteX3" fmla="*/ 206447 w 768994"/>
                <a:gd name="connsiteY3" fmla="*/ 99928 h 495392"/>
                <a:gd name="connsiteX4" fmla="*/ 312325 w 768994"/>
                <a:gd name="connsiteY4" fmla="*/ 176930 h 495392"/>
                <a:gd name="connsiteX5" fmla="*/ 100569 w 768994"/>
                <a:gd name="connsiteY5" fmla="*/ 494564 h 495392"/>
                <a:gd name="connsiteX6" fmla="*/ 764712 w 768994"/>
                <a:gd name="connsiteY6" fmla="*/ 71052 h 495392"/>
                <a:gd name="connsiteX7" fmla="*/ 398952 w 768994"/>
                <a:gd name="connsiteY7" fmla="*/ 176930 h 495392"/>
                <a:gd name="connsiteX8" fmla="*/ 668459 w 768994"/>
                <a:gd name="connsiteY8" fmla="*/ 388686 h 495392"/>
                <a:gd name="connsiteX9" fmla="*/ 312325 w 768994"/>
                <a:gd name="connsiteY9" fmla="*/ 427187 h 495392"/>
                <a:gd name="connsiteX10" fmla="*/ 360451 w 768994"/>
                <a:gd name="connsiteY10" fmla="*/ 71052 h 495392"/>
                <a:gd name="connsiteX11" fmla="*/ 283449 w 768994"/>
                <a:gd name="connsiteY11" fmla="*/ 13301 h 495392"/>
                <a:gd name="connsiteX12" fmla="*/ 302699 w 768994"/>
                <a:gd name="connsiteY12" fmla="*/ 244307 h 495392"/>
                <a:gd name="connsiteX13" fmla="*/ 639584 w 768994"/>
                <a:gd name="connsiteY13" fmla="*/ 196181 h 495392"/>
                <a:gd name="connsiteX14" fmla="*/ 418203 w 768994"/>
                <a:gd name="connsiteY14" fmla="*/ 80678 h 495392"/>
                <a:gd name="connsiteX15" fmla="*/ 206447 w 768994"/>
                <a:gd name="connsiteY15" fmla="*/ 330935 h 495392"/>
                <a:gd name="connsiteX16" fmla="*/ 235323 w 768994"/>
                <a:gd name="connsiteY16" fmla="*/ 475314 h 495392"/>
                <a:gd name="connsiteX17" fmla="*/ 562582 w 768994"/>
                <a:gd name="connsiteY17" fmla="*/ 446438 h 4953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68994" h="495392">
                  <a:moveTo>
                    <a:pt x="562582" y="446438"/>
                  </a:moveTo>
                  <a:cubicBezTo>
                    <a:pt x="533706" y="387082"/>
                    <a:pt x="151904" y="141638"/>
                    <a:pt x="62068" y="119179"/>
                  </a:cubicBezTo>
                  <a:cubicBezTo>
                    <a:pt x="-27768" y="96720"/>
                    <a:pt x="-496" y="314892"/>
                    <a:pt x="23567" y="311684"/>
                  </a:cubicBezTo>
                  <a:cubicBezTo>
                    <a:pt x="47630" y="308476"/>
                    <a:pt x="158321" y="122387"/>
                    <a:pt x="206447" y="99928"/>
                  </a:cubicBezTo>
                  <a:cubicBezTo>
                    <a:pt x="254573" y="77469"/>
                    <a:pt x="329971" y="111157"/>
                    <a:pt x="312325" y="176930"/>
                  </a:cubicBezTo>
                  <a:cubicBezTo>
                    <a:pt x="294679" y="242703"/>
                    <a:pt x="25171" y="512210"/>
                    <a:pt x="100569" y="494564"/>
                  </a:cubicBezTo>
                  <a:cubicBezTo>
                    <a:pt x="175967" y="476918"/>
                    <a:pt x="714982" y="123991"/>
                    <a:pt x="764712" y="71052"/>
                  </a:cubicBezTo>
                  <a:cubicBezTo>
                    <a:pt x="814442" y="18113"/>
                    <a:pt x="414994" y="123991"/>
                    <a:pt x="398952" y="176930"/>
                  </a:cubicBezTo>
                  <a:cubicBezTo>
                    <a:pt x="382910" y="229869"/>
                    <a:pt x="682897" y="346977"/>
                    <a:pt x="668459" y="388686"/>
                  </a:cubicBezTo>
                  <a:cubicBezTo>
                    <a:pt x="654021" y="430395"/>
                    <a:pt x="363660" y="480126"/>
                    <a:pt x="312325" y="427187"/>
                  </a:cubicBezTo>
                  <a:cubicBezTo>
                    <a:pt x="260990" y="374248"/>
                    <a:pt x="365264" y="140033"/>
                    <a:pt x="360451" y="71052"/>
                  </a:cubicBezTo>
                  <a:cubicBezTo>
                    <a:pt x="355638" y="2071"/>
                    <a:pt x="293074" y="-15575"/>
                    <a:pt x="283449" y="13301"/>
                  </a:cubicBezTo>
                  <a:cubicBezTo>
                    <a:pt x="273824" y="42177"/>
                    <a:pt x="243343" y="213827"/>
                    <a:pt x="302699" y="244307"/>
                  </a:cubicBezTo>
                  <a:cubicBezTo>
                    <a:pt x="362055" y="274787"/>
                    <a:pt x="620333" y="223453"/>
                    <a:pt x="639584" y="196181"/>
                  </a:cubicBezTo>
                  <a:cubicBezTo>
                    <a:pt x="658835" y="168909"/>
                    <a:pt x="490393" y="58219"/>
                    <a:pt x="418203" y="80678"/>
                  </a:cubicBezTo>
                  <a:cubicBezTo>
                    <a:pt x="346013" y="103137"/>
                    <a:pt x="236927" y="265162"/>
                    <a:pt x="206447" y="330935"/>
                  </a:cubicBezTo>
                  <a:cubicBezTo>
                    <a:pt x="175967" y="396708"/>
                    <a:pt x="172759" y="462480"/>
                    <a:pt x="235323" y="475314"/>
                  </a:cubicBezTo>
                  <a:cubicBezTo>
                    <a:pt x="297887" y="488148"/>
                    <a:pt x="591458" y="505794"/>
                    <a:pt x="562582" y="446438"/>
                  </a:cubicBezTo>
                  <a:close/>
                </a:path>
              </a:pathLst>
            </a:cu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3" name="フリーフォーム: 図形 52">
              <a:extLst>
                <a:ext uri="{FF2B5EF4-FFF2-40B4-BE49-F238E27FC236}">
                  <a16:creationId xmlns:a16="http://schemas.microsoft.com/office/drawing/2014/main" id="{164C2256-08F8-9E72-4A9D-E18B6BD10964}"/>
                </a:ext>
              </a:extLst>
            </p:cNvPr>
            <p:cNvSpPr/>
            <p:nvPr/>
          </p:nvSpPr>
          <p:spPr>
            <a:xfrm rot="15479593">
              <a:off x="5960037" y="3712865"/>
              <a:ext cx="777334" cy="212802"/>
            </a:xfrm>
            <a:custGeom>
              <a:avLst/>
              <a:gdLst>
                <a:gd name="connsiteX0" fmla="*/ 562582 w 768994"/>
                <a:gd name="connsiteY0" fmla="*/ 446438 h 495392"/>
                <a:gd name="connsiteX1" fmla="*/ 62068 w 768994"/>
                <a:gd name="connsiteY1" fmla="*/ 119179 h 495392"/>
                <a:gd name="connsiteX2" fmla="*/ 23567 w 768994"/>
                <a:gd name="connsiteY2" fmla="*/ 311684 h 495392"/>
                <a:gd name="connsiteX3" fmla="*/ 206447 w 768994"/>
                <a:gd name="connsiteY3" fmla="*/ 99928 h 495392"/>
                <a:gd name="connsiteX4" fmla="*/ 312325 w 768994"/>
                <a:gd name="connsiteY4" fmla="*/ 176930 h 495392"/>
                <a:gd name="connsiteX5" fmla="*/ 100569 w 768994"/>
                <a:gd name="connsiteY5" fmla="*/ 494564 h 495392"/>
                <a:gd name="connsiteX6" fmla="*/ 764712 w 768994"/>
                <a:gd name="connsiteY6" fmla="*/ 71052 h 495392"/>
                <a:gd name="connsiteX7" fmla="*/ 398952 w 768994"/>
                <a:gd name="connsiteY7" fmla="*/ 176930 h 495392"/>
                <a:gd name="connsiteX8" fmla="*/ 668459 w 768994"/>
                <a:gd name="connsiteY8" fmla="*/ 388686 h 495392"/>
                <a:gd name="connsiteX9" fmla="*/ 312325 w 768994"/>
                <a:gd name="connsiteY9" fmla="*/ 427187 h 495392"/>
                <a:gd name="connsiteX10" fmla="*/ 360451 w 768994"/>
                <a:gd name="connsiteY10" fmla="*/ 71052 h 495392"/>
                <a:gd name="connsiteX11" fmla="*/ 283449 w 768994"/>
                <a:gd name="connsiteY11" fmla="*/ 13301 h 495392"/>
                <a:gd name="connsiteX12" fmla="*/ 302699 w 768994"/>
                <a:gd name="connsiteY12" fmla="*/ 244307 h 495392"/>
                <a:gd name="connsiteX13" fmla="*/ 639584 w 768994"/>
                <a:gd name="connsiteY13" fmla="*/ 196181 h 495392"/>
                <a:gd name="connsiteX14" fmla="*/ 418203 w 768994"/>
                <a:gd name="connsiteY14" fmla="*/ 80678 h 495392"/>
                <a:gd name="connsiteX15" fmla="*/ 206447 w 768994"/>
                <a:gd name="connsiteY15" fmla="*/ 330935 h 495392"/>
                <a:gd name="connsiteX16" fmla="*/ 235323 w 768994"/>
                <a:gd name="connsiteY16" fmla="*/ 475314 h 495392"/>
                <a:gd name="connsiteX17" fmla="*/ 562582 w 768994"/>
                <a:gd name="connsiteY17" fmla="*/ 446438 h 4953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68994" h="495392">
                  <a:moveTo>
                    <a:pt x="562582" y="446438"/>
                  </a:moveTo>
                  <a:cubicBezTo>
                    <a:pt x="533706" y="387082"/>
                    <a:pt x="151904" y="141638"/>
                    <a:pt x="62068" y="119179"/>
                  </a:cubicBezTo>
                  <a:cubicBezTo>
                    <a:pt x="-27768" y="96720"/>
                    <a:pt x="-496" y="314892"/>
                    <a:pt x="23567" y="311684"/>
                  </a:cubicBezTo>
                  <a:cubicBezTo>
                    <a:pt x="47630" y="308476"/>
                    <a:pt x="158321" y="122387"/>
                    <a:pt x="206447" y="99928"/>
                  </a:cubicBezTo>
                  <a:cubicBezTo>
                    <a:pt x="254573" y="77469"/>
                    <a:pt x="329971" y="111157"/>
                    <a:pt x="312325" y="176930"/>
                  </a:cubicBezTo>
                  <a:cubicBezTo>
                    <a:pt x="294679" y="242703"/>
                    <a:pt x="25171" y="512210"/>
                    <a:pt x="100569" y="494564"/>
                  </a:cubicBezTo>
                  <a:cubicBezTo>
                    <a:pt x="175967" y="476918"/>
                    <a:pt x="714982" y="123991"/>
                    <a:pt x="764712" y="71052"/>
                  </a:cubicBezTo>
                  <a:cubicBezTo>
                    <a:pt x="814442" y="18113"/>
                    <a:pt x="414994" y="123991"/>
                    <a:pt x="398952" y="176930"/>
                  </a:cubicBezTo>
                  <a:cubicBezTo>
                    <a:pt x="382910" y="229869"/>
                    <a:pt x="682897" y="346977"/>
                    <a:pt x="668459" y="388686"/>
                  </a:cubicBezTo>
                  <a:cubicBezTo>
                    <a:pt x="654021" y="430395"/>
                    <a:pt x="363660" y="480126"/>
                    <a:pt x="312325" y="427187"/>
                  </a:cubicBezTo>
                  <a:cubicBezTo>
                    <a:pt x="260990" y="374248"/>
                    <a:pt x="365264" y="140033"/>
                    <a:pt x="360451" y="71052"/>
                  </a:cubicBezTo>
                  <a:cubicBezTo>
                    <a:pt x="355638" y="2071"/>
                    <a:pt x="293074" y="-15575"/>
                    <a:pt x="283449" y="13301"/>
                  </a:cubicBezTo>
                  <a:cubicBezTo>
                    <a:pt x="273824" y="42177"/>
                    <a:pt x="243343" y="213827"/>
                    <a:pt x="302699" y="244307"/>
                  </a:cubicBezTo>
                  <a:cubicBezTo>
                    <a:pt x="362055" y="274787"/>
                    <a:pt x="620333" y="223453"/>
                    <a:pt x="639584" y="196181"/>
                  </a:cubicBezTo>
                  <a:cubicBezTo>
                    <a:pt x="658835" y="168909"/>
                    <a:pt x="490393" y="58219"/>
                    <a:pt x="418203" y="80678"/>
                  </a:cubicBezTo>
                  <a:cubicBezTo>
                    <a:pt x="346013" y="103137"/>
                    <a:pt x="236927" y="265162"/>
                    <a:pt x="206447" y="330935"/>
                  </a:cubicBezTo>
                  <a:cubicBezTo>
                    <a:pt x="175967" y="396708"/>
                    <a:pt x="172759" y="462480"/>
                    <a:pt x="235323" y="475314"/>
                  </a:cubicBezTo>
                  <a:cubicBezTo>
                    <a:pt x="297887" y="488148"/>
                    <a:pt x="591458" y="505794"/>
                    <a:pt x="562582" y="446438"/>
                  </a:cubicBezTo>
                  <a:close/>
                </a:path>
              </a:pathLst>
            </a:cu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4199590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カードのレイアウト_1">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CE4981D-F3E1-A957-C0E7-47018581307B}"/>
              </a:ext>
            </a:extLst>
          </p:cNvPr>
          <p:cNvSpPr>
            <a:spLocks noGrp="1"/>
          </p:cNvSpPr>
          <p:nvPr>
            <p:ph type="title"/>
          </p:nvPr>
        </p:nvSpPr>
        <p:spPr>
          <a:xfrm>
            <a:off x="838200" y="231697"/>
            <a:ext cx="8268093" cy="457044"/>
          </a:xfrm>
        </p:spPr>
        <p:txBody>
          <a:bodyPr>
            <a:noAutofit/>
          </a:bodyPr>
          <a:lstStyle>
            <a:lvl1pPr>
              <a:defRPr sz="2800">
                <a:solidFill>
                  <a:schemeClr val="bg1"/>
                </a:solidFill>
              </a:defRPr>
            </a:lvl1pPr>
          </a:lstStyle>
          <a:p>
            <a:r>
              <a:rPr kumimoji="1" lang="ja-JP" altLang="en-US"/>
              <a:t>マスター タイトルの書式設定</a:t>
            </a:r>
          </a:p>
        </p:txBody>
      </p:sp>
      <p:sp>
        <p:nvSpPr>
          <p:cNvPr id="6" name="スライド番号プレースホルダー 5">
            <a:extLst>
              <a:ext uri="{FF2B5EF4-FFF2-40B4-BE49-F238E27FC236}">
                <a16:creationId xmlns:a16="http://schemas.microsoft.com/office/drawing/2014/main" id="{1978F53E-4C54-5978-324C-CDA5322A0EDC}"/>
              </a:ext>
            </a:extLst>
          </p:cNvPr>
          <p:cNvSpPr>
            <a:spLocks noGrp="1"/>
          </p:cNvSpPr>
          <p:nvPr>
            <p:ph type="sldNum" sz="quarter" idx="12"/>
          </p:nvPr>
        </p:nvSpPr>
        <p:spPr>
          <a:xfrm>
            <a:off x="11160803" y="277657"/>
            <a:ext cx="838200" cy="365125"/>
          </a:xfrm>
        </p:spPr>
        <p:txBody>
          <a:bodyPr/>
          <a:lstStyle>
            <a:lvl1pPr algn="ctr">
              <a:defRPr sz="1800">
                <a:solidFill>
                  <a:schemeClr val="bg1"/>
                </a:solidFill>
              </a:defRPr>
            </a:lvl1pPr>
          </a:lstStyle>
          <a:p>
            <a:fld id="{8D1BC46D-89B1-41A3-BBA1-F56BEABD0A90}" type="slidenum">
              <a:rPr lang="ja-JP" altLang="en-US" smtClean="0"/>
              <a:pPr/>
              <a:t>‹#›</a:t>
            </a:fld>
            <a:endParaRPr lang="ja-JP" altLang="en-US"/>
          </a:p>
        </p:txBody>
      </p:sp>
      <p:sp>
        <p:nvSpPr>
          <p:cNvPr id="37" name="タイトル 1">
            <a:extLst>
              <a:ext uri="{FF2B5EF4-FFF2-40B4-BE49-F238E27FC236}">
                <a16:creationId xmlns:a16="http://schemas.microsoft.com/office/drawing/2014/main" id="{78D1D0CB-61DB-45CF-BB98-F64E5CFFD78E}"/>
              </a:ext>
            </a:extLst>
          </p:cNvPr>
          <p:cNvSpPr txBox="1">
            <a:spLocks/>
          </p:cNvSpPr>
          <p:nvPr userDrawn="1"/>
        </p:nvSpPr>
        <p:spPr>
          <a:xfrm>
            <a:off x="558799" y="1015999"/>
            <a:ext cx="11357897" cy="93815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sz="3600"/>
              <a:t>３つあることが一目でわかる</a:t>
            </a:r>
          </a:p>
        </p:txBody>
      </p:sp>
      <p:sp>
        <p:nvSpPr>
          <p:cNvPr id="38" name="正方形/長方形 37">
            <a:extLst>
              <a:ext uri="{FF2B5EF4-FFF2-40B4-BE49-F238E27FC236}">
                <a16:creationId xmlns:a16="http://schemas.microsoft.com/office/drawing/2014/main" id="{AC27BEE4-F578-4B7C-3107-334C7F6DE565}"/>
              </a:ext>
            </a:extLst>
          </p:cNvPr>
          <p:cNvSpPr/>
          <p:nvPr userDrawn="1"/>
        </p:nvSpPr>
        <p:spPr>
          <a:xfrm>
            <a:off x="471271" y="1994510"/>
            <a:ext cx="3649340" cy="4622190"/>
          </a:xfrm>
          <a:prstGeom prst="rect">
            <a:avLst/>
          </a:prstGeom>
          <a:solidFill>
            <a:srgbClr val="FFFFFF"/>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正方形/長方形 38">
            <a:extLst>
              <a:ext uri="{FF2B5EF4-FFF2-40B4-BE49-F238E27FC236}">
                <a16:creationId xmlns:a16="http://schemas.microsoft.com/office/drawing/2014/main" id="{808B8C45-A79B-D0B5-1666-28B3A1E2AACE}"/>
              </a:ext>
            </a:extLst>
          </p:cNvPr>
          <p:cNvSpPr/>
          <p:nvPr userDrawn="1"/>
        </p:nvSpPr>
        <p:spPr>
          <a:xfrm>
            <a:off x="4314710" y="1987780"/>
            <a:ext cx="3649340" cy="4622190"/>
          </a:xfrm>
          <a:prstGeom prst="rect">
            <a:avLst/>
          </a:prstGeom>
          <a:solidFill>
            <a:srgbClr val="FFFFFF"/>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正方形/長方形 39">
            <a:extLst>
              <a:ext uri="{FF2B5EF4-FFF2-40B4-BE49-F238E27FC236}">
                <a16:creationId xmlns:a16="http://schemas.microsoft.com/office/drawing/2014/main" id="{FB43B874-BAC5-6431-CF18-9FD1255EF69C}"/>
              </a:ext>
            </a:extLst>
          </p:cNvPr>
          <p:cNvSpPr/>
          <p:nvPr userDrawn="1"/>
        </p:nvSpPr>
        <p:spPr>
          <a:xfrm>
            <a:off x="8131938" y="1994510"/>
            <a:ext cx="3649340" cy="4622190"/>
          </a:xfrm>
          <a:prstGeom prst="rect">
            <a:avLst/>
          </a:prstGeom>
          <a:solidFill>
            <a:srgbClr val="FFFFFF"/>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B1BED511-DC1C-FCFC-05B2-2705A5A5A674}"/>
              </a:ext>
            </a:extLst>
          </p:cNvPr>
          <p:cNvSpPr txBox="1"/>
          <p:nvPr userDrawn="1"/>
        </p:nvSpPr>
        <p:spPr>
          <a:xfrm>
            <a:off x="531259" y="2006597"/>
            <a:ext cx="954107" cy="369332"/>
          </a:xfrm>
          <a:prstGeom prst="rect">
            <a:avLst/>
          </a:prstGeom>
          <a:noFill/>
        </p:spPr>
        <p:txBody>
          <a:bodyPr wrap="none" rtlCol="0">
            <a:spAutoFit/>
          </a:bodyPr>
          <a:lstStyle/>
          <a:p>
            <a:r>
              <a:rPr lang="ja-JP" altLang="en-US" sz="1400" b="1">
                <a:solidFill>
                  <a:schemeClr val="tx2"/>
                </a:solidFill>
                <a:latin typeface="Noto Sans JP" panose="020B0200000000000000" pitchFamily="50" charset="-128"/>
                <a:ea typeface="Noto Sans JP" panose="020B0200000000000000" pitchFamily="50" charset="-128"/>
              </a:rPr>
              <a:t>カード</a:t>
            </a:r>
            <a:r>
              <a:rPr kumimoji="1" lang="ja-JP" altLang="en-US" b="1">
                <a:solidFill>
                  <a:schemeClr val="tx2"/>
                </a:solidFill>
                <a:latin typeface="Noto Sans JP" panose="020B0200000000000000" pitchFamily="50" charset="-128"/>
                <a:ea typeface="Noto Sans JP" panose="020B0200000000000000" pitchFamily="50" charset="-128"/>
              </a:rPr>
              <a:t>①</a:t>
            </a:r>
          </a:p>
        </p:txBody>
      </p:sp>
      <p:sp>
        <p:nvSpPr>
          <p:cNvPr id="42" name="テキスト ボックス 41">
            <a:extLst>
              <a:ext uri="{FF2B5EF4-FFF2-40B4-BE49-F238E27FC236}">
                <a16:creationId xmlns:a16="http://schemas.microsoft.com/office/drawing/2014/main" id="{4A118B43-1FF6-D4DB-0FA5-0D223AB8EB77}"/>
              </a:ext>
            </a:extLst>
          </p:cNvPr>
          <p:cNvSpPr txBox="1"/>
          <p:nvPr userDrawn="1"/>
        </p:nvSpPr>
        <p:spPr>
          <a:xfrm>
            <a:off x="4358102" y="2003704"/>
            <a:ext cx="954107" cy="369332"/>
          </a:xfrm>
          <a:prstGeom prst="rect">
            <a:avLst/>
          </a:prstGeom>
          <a:noFill/>
        </p:spPr>
        <p:txBody>
          <a:bodyPr wrap="none" rtlCol="0">
            <a:spAutoFit/>
          </a:bodyPr>
          <a:lstStyle/>
          <a:p>
            <a:r>
              <a:rPr kumimoji="1" lang="ja-JP" altLang="en-US" sz="1400" b="1">
                <a:solidFill>
                  <a:schemeClr val="tx2"/>
                </a:solidFill>
                <a:latin typeface="Noto Sans JP" panose="020B0200000000000000" pitchFamily="50" charset="-128"/>
                <a:ea typeface="Noto Sans JP" panose="020B0200000000000000" pitchFamily="50" charset="-128"/>
              </a:rPr>
              <a:t>カード</a:t>
            </a:r>
            <a:r>
              <a:rPr kumimoji="1" lang="ja-JP" altLang="en-US" b="1">
                <a:solidFill>
                  <a:schemeClr val="tx2"/>
                </a:solidFill>
                <a:latin typeface="Noto Sans JP" panose="020B0200000000000000" pitchFamily="50" charset="-128"/>
                <a:ea typeface="Noto Sans JP" panose="020B0200000000000000" pitchFamily="50" charset="-128"/>
              </a:rPr>
              <a:t>②</a:t>
            </a:r>
          </a:p>
        </p:txBody>
      </p:sp>
      <p:sp>
        <p:nvSpPr>
          <p:cNvPr id="43" name="テキスト ボックス 42">
            <a:extLst>
              <a:ext uri="{FF2B5EF4-FFF2-40B4-BE49-F238E27FC236}">
                <a16:creationId xmlns:a16="http://schemas.microsoft.com/office/drawing/2014/main" id="{80115C9B-AF94-3AA9-D4B1-273F756A8021}"/>
              </a:ext>
            </a:extLst>
          </p:cNvPr>
          <p:cNvSpPr txBox="1"/>
          <p:nvPr userDrawn="1"/>
        </p:nvSpPr>
        <p:spPr>
          <a:xfrm>
            <a:off x="479700" y="2280372"/>
            <a:ext cx="2698175" cy="523220"/>
          </a:xfrm>
          <a:prstGeom prst="rect">
            <a:avLst/>
          </a:prstGeom>
          <a:noFill/>
        </p:spPr>
        <p:txBody>
          <a:bodyPr wrap="none" rtlCol="0">
            <a:spAutoFit/>
          </a:bodyPr>
          <a:lstStyle/>
          <a:p>
            <a:r>
              <a:rPr kumimoji="1" lang="ja-JP" altLang="en-US" sz="2800" b="1">
                <a:solidFill>
                  <a:schemeClr val="accent4"/>
                </a:solidFill>
                <a:latin typeface="Noto Sans JP" panose="020B0200000000000000" pitchFamily="50" charset="-128"/>
                <a:ea typeface="Noto Sans JP" panose="020B0200000000000000" pitchFamily="50" charset="-128"/>
              </a:rPr>
              <a:t>カードの見出し</a:t>
            </a:r>
          </a:p>
        </p:txBody>
      </p:sp>
      <p:sp>
        <p:nvSpPr>
          <p:cNvPr id="44" name="テキスト ボックス 43">
            <a:extLst>
              <a:ext uri="{FF2B5EF4-FFF2-40B4-BE49-F238E27FC236}">
                <a16:creationId xmlns:a16="http://schemas.microsoft.com/office/drawing/2014/main" id="{7ABBAA0E-0A58-311E-1871-5F14AC74BC0E}"/>
              </a:ext>
            </a:extLst>
          </p:cNvPr>
          <p:cNvSpPr txBox="1"/>
          <p:nvPr userDrawn="1"/>
        </p:nvSpPr>
        <p:spPr>
          <a:xfrm>
            <a:off x="4333110" y="2280372"/>
            <a:ext cx="2698175" cy="523220"/>
          </a:xfrm>
          <a:prstGeom prst="rect">
            <a:avLst/>
          </a:prstGeom>
          <a:noFill/>
        </p:spPr>
        <p:txBody>
          <a:bodyPr wrap="none" rtlCol="0">
            <a:spAutoFit/>
          </a:bodyPr>
          <a:lstStyle/>
          <a:p>
            <a:r>
              <a:rPr lang="ja-JP" altLang="en-US" sz="2800" b="1">
                <a:solidFill>
                  <a:schemeClr val="accent4"/>
                </a:solidFill>
                <a:latin typeface="Noto Sans JP" panose="020B0200000000000000" pitchFamily="50" charset="-128"/>
                <a:ea typeface="Noto Sans JP" panose="020B0200000000000000" pitchFamily="50" charset="-128"/>
              </a:rPr>
              <a:t>カードの見出し</a:t>
            </a:r>
            <a:endParaRPr kumimoji="1" lang="ja-JP" altLang="en-US" sz="2800" b="1">
              <a:solidFill>
                <a:schemeClr val="accent4"/>
              </a:solidFill>
              <a:latin typeface="Noto Sans JP" panose="020B0200000000000000" pitchFamily="50" charset="-128"/>
              <a:ea typeface="Noto Sans JP" panose="020B0200000000000000" pitchFamily="50" charset="-128"/>
            </a:endParaRPr>
          </a:p>
        </p:txBody>
      </p:sp>
      <p:sp>
        <p:nvSpPr>
          <p:cNvPr id="45" name="テキスト ボックス 44">
            <a:extLst>
              <a:ext uri="{FF2B5EF4-FFF2-40B4-BE49-F238E27FC236}">
                <a16:creationId xmlns:a16="http://schemas.microsoft.com/office/drawing/2014/main" id="{B64BFFD4-2363-328C-748D-22810C993372}"/>
              </a:ext>
            </a:extLst>
          </p:cNvPr>
          <p:cNvSpPr txBox="1"/>
          <p:nvPr userDrawn="1"/>
        </p:nvSpPr>
        <p:spPr>
          <a:xfrm>
            <a:off x="8202685" y="2003704"/>
            <a:ext cx="954107" cy="369332"/>
          </a:xfrm>
          <a:prstGeom prst="rect">
            <a:avLst/>
          </a:prstGeom>
          <a:noFill/>
        </p:spPr>
        <p:txBody>
          <a:bodyPr wrap="none" rtlCol="0">
            <a:spAutoFit/>
          </a:bodyPr>
          <a:lstStyle/>
          <a:p>
            <a:r>
              <a:rPr lang="ja-JP" altLang="en-US" sz="1400" b="1">
                <a:solidFill>
                  <a:schemeClr val="tx2"/>
                </a:solidFill>
                <a:latin typeface="Noto Sans JP" panose="020B0200000000000000" pitchFamily="50" charset="-128"/>
                <a:ea typeface="Noto Sans JP" panose="020B0200000000000000" pitchFamily="50" charset="-128"/>
              </a:rPr>
              <a:t>カード</a:t>
            </a:r>
            <a:r>
              <a:rPr kumimoji="1" lang="ja-JP" altLang="en-US" b="1">
                <a:solidFill>
                  <a:schemeClr val="tx2"/>
                </a:solidFill>
                <a:latin typeface="Noto Sans JP" panose="020B0200000000000000" pitchFamily="50" charset="-128"/>
                <a:ea typeface="Noto Sans JP" panose="020B0200000000000000" pitchFamily="50" charset="-128"/>
              </a:rPr>
              <a:t>③</a:t>
            </a:r>
          </a:p>
        </p:txBody>
      </p:sp>
      <p:sp>
        <p:nvSpPr>
          <p:cNvPr id="46" name="テキスト ボックス 45">
            <a:extLst>
              <a:ext uri="{FF2B5EF4-FFF2-40B4-BE49-F238E27FC236}">
                <a16:creationId xmlns:a16="http://schemas.microsoft.com/office/drawing/2014/main" id="{129EFF9C-1D18-9203-835C-2566597BDF4A}"/>
              </a:ext>
            </a:extLst>
          </p:cNvPr>
          <p:cNvSpPr txBox="1"/>
          <p:nvPr userDrawn="1"/>
        </p:nvSpPr>
        <p:spPr>
          <a:xfrm>
            <a:off x="8148196" y="2280372"/>
            <a:ext cx="2698175" cy="523220"/>
          </a:xfrm>
          <a:prstGeom prst="rect">
            <a:avLst/>
          </a:prstGeom>
          <a:noFill/>
        </p:spPr>
        <p:txBody>
          <a:bodyPr wrap="none" rtlCol="0">
            <a:spAutoFit/>
          </a:bodyPr>
          <a:lstStyle/>
          <a:p>
            <a:r>
              <a:rPr kumimoji="1" lang="ja-JP" altLang="en-US" sz="2800" b="1">
                <a:solidFill>
                  <a:schemeClr val="accent4"/>
                </a:solidFill>
                <a:latin typeface="Noto Sans JP" panose="020B0200000000000000" pitchFamily="50" charset="-128"/>
                <a:ea typeface="Noto Sans JP" panose="020B0200000000000000" pitchFamily="50" charset="-128"/>
              </a:rPr>
              <a:t>カードの見出し</a:t>
            </a:r>
          </a:p>
        </p:txBody>
      </p:sp>
    </p:spTree>
    <p:extLst>
      <p:ext uri="{BB962C8B-B14F-4D97-AF65-F5344CB8AC3E}">
        <p14:creationId xmlns:p14="http://schemas.microsoft.com/office/powerpoint/2010/main" val="34560882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カードのレイアウト_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CE4981D-F3E1-A957-C0E7-47018581307B}"/>
              </a:ext>
            </a:extLst>
          </p:cNvPr>
          <p:cNvSpPr>
            <a:spLocks noGrp="1"/>
          </p:cNvSpPr>
          <p:nvPr>
            <p:ph type="title"/>
          </p:nvPr>
        </p:nvSpPr>
        <p:spPr>
          <a:xfrm>
            <a:off x="838200" y="231697"/>
            <a:ext cx="8268093" cy="457044"/>
          </a:xfrm>
        </p:spPr>
        <p:txBody>
          <a:bodyPr>
            <a:noAutofit/>
          </a:bodyPr>
          <a:lstStyle>
            <a:lvl1pPr>
              <a:defRPr sz="2800">
                <a:solidFill>
                  <a:schemeClr val="bg1"/>
                </a:solidFill>
              </a:defRPr>
            </a:lvl1pPr>
          </a:lstStyle>
          <a:p>
            <a:r>
              <a:rPr kumimoji="1" lang="ja-JP" altLang="en-US"/>
              <a:t>マスター タイトルの書式設定</a:t>
            </a:r>
          </a:p>
        </p:txBody>
      </p:sp>
      <p:sp>
        <p:nvSpPr>
          <p:cNvPr id="6" name="スライド番号プレースホルダー 5">
            <a:extLst>
              <a:ext uri="{FF2B5EF4-FFF2-40B4-BE49-F238E27FC236}">
                <a16:creationId xmlns:a16="http://schemas.microsoft.com/office/drawing/2014/main" id="{1978F53E-4C54-5978-324C-CDA5322A0EDC}"/>
              </a:ext>
            </a:extLst>
          </p:cNvPr>
          <p:cNvSpPr>
            <a:spLocks noGrp="1"/>
          </p:cNvSpPr>
          <p:nvPr>
            <p:ph type="sldNum" sz="quarter" idx="12"/>
          </p:nvPr>
        </p:nvSpPr>
        <p:spPr>
          <a:xfrm>
            <a:off x="11160803" y="277657"/>
            <a:ext cx="838200" cy="365125"/>
          </a:xfrm>
        </p:spPr>
        <p:txBody>
          <a:bodyPr/>
          <a:lstStyle>
            <a:lvl1pPr algn="ctr">
              <a:defRPr sz="1800">
                <a:solidFill>
                  <a:schemeClr val="bg1"/>
                </a:solidFill>
              </a:defRPr>
            </a:lvl1pPr>
          </a:lstStyle>
          <a:p>
            <a:fld id="{8D1BC46D-89B1-41A3-BBA1-F56BEABD0A90}" type="slidenum">
              <a:rPr lang="ja-JP" altLang="en-US" smtClean="0"/>
              <a:pPr/>
              <a:t>‹#›</a:t>
            </a:fld>
            <a:endParaRPr lang="ja-JP" altLang="en-US"/>
          </a:p>
        </p:txBody>
      </p:sp>
      <p:sp>
        <p:nvSpPr>
          <p:cNvPr id="3" name="タイトル 1">
            <a:extLst>
              <a:ext uri="{FF2B5EF4-FFF2-40B4-BE49-F238E27FC236}">
                <a16:creationId xmlns:a16="http://schemas.microsoft.com/office/drawing/2014/main" id="{C22FC225-899F-8655-F094-A5DA76C5F319}"/>
              </a:ext>
            </a:extLst>
          </p:cNvPr>
          <p:cNvSpPr txBox="1">
            <a:spLocks/>
          </p:cNvSpPr>
          <p:nvPr userDrawn="1"/>
        </p:nvSpPr>
        <p:spPr>
          <a:xfrm>
            <a:off x="558799" y="1015999"/>
            <a:ext cx="11357897" cy="93815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sz="3600"/>
              <a:t>順序関係がある場合は並列よりこちらが良い</a:t>
            </a:r>
          </a:p>
        </p:txBody>
      </p:sp>
      <p:sp>
        <p:nvSpPr>
          <p:cNvPr id="24" name="正方形/長方形 23">
            <a:extLst>
              <a:ext uri="{FF2B5EF4-FFF2-40B4-BE49-F238E27FC236}">
                <a16:creationId xmlns:a16="http://schemas.microsoft.com/office/drawing/2014/main" id="{07538261-C2D1-41CB-7CB2-9A50D54FF18B}"/>
              </a:ext>
            </a:extLst>
          </p:cNvPr>
          <p:cNvSpPr/>
          <p:nvPr userDrawn="1"/>
        </p:nvSpPr>
        <p:spPr>
          <a:xfrm>
            <a:off x="471270" y="1994510"/>
            <a:ext cx="4333735" cy="3452668"/>
          </a:xfrm>
          <a:prstGeom prst="rect">
            <a:avLst/>
          </a:prstGeom>
          <a:solidFill>
            <a:srgbClr val="FFFFFF"/>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正方形/長方形 24">
            <a:extLst>
              <a:ext uri="{FF2B5EF4-FFF2-40B4-BE49-F238E27FC236}">
                <a16:creationId xmlns:a16="http://schemas.microsoft.com/office/drawing/2014/main" id="{BA6D927B-2C58-B14D-DE82-20F5194DECDF}"/>
              </a:ext>
            </a:extLst>
          </p:cNvPr>
          <p:cNvSpPr/>
          <p:nvPr userDrawn="1"/>
        </p:nvSpPr>
        <p:spPr>
          <a:xfrm>
            <a:off x="3975496" y="2474477"/>
            <a:ext cx="4333735" cy="3461104"/>
          </a:xfrm>
          <a:prstGeom prst="rect">
            <a:avLst/>
          </a:prstGeom>
          <a:solidFill>
            <a:srgbClr val="FFFFFF"/>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正方形/長方形 25">
            <a:extLst>
              <a:ext uri="{FF2B5EF4-FFF2-40B4-BE49-F238E27FC236}">
                <a16:creationId xmlns:a16="http://schemas.microsoft.com/office/drawing/2014/main" id="{D381E739-ED67-A5CF-172A-CAFDCB26D371}"/>
              </a:ext>
            </a:extLst>
          </p:cNvPr>
          <p:cNvSpPr/>
          <p:nvPr userDrawn="1"/>
        </p:nvSpPr>
        <p:spPr>
          <a:xfrm>
            <a:off x="7479722" y="2962880"/>
            <a:ext cx="4333735" cy="3461104"/>
          </a:xfrm>
          <a:prstGeom prst="rect">
            <a:avLst/>
          </a:prstGeom>
          <a:solidFill>
            <a:srgbClr val="FFFFFF"/>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6051F105-CFB9-7D59-7C57-E5A120588A65}"/>
              </a:ext>
            </a:extLst>
          </p:cNvPr>
          <p:cNvSpPr txBox="1"/>
          <p:nvPr userDrawn="1"/>
        </p:nvSpPr>
        <p:spPr>
          <a:xfrm>
            <a:off x="531259" y="2006597"/>
            <a:ext cx="954107" cy="369332"/>
          </a:xfrm>
          <a:prstGeom prst="rect">
            <a:avLst/>
          </a:prstGeom>
          <a:noFill/>
        </p:spPr>
        <p:txBody>
          <a:bodyPr wrap="none" rtlCol="0">
            <a:spAutoFit/>
          </a:bodyPr>
          <a:lstStyle/>
          <a:p>
            <a:r>
              <a:rPr lang="ja-JP" altLang="en-US" sz="1400" b="1">
                <a:solidFill>
                  <a:schemeClr val="tx2"/>
                </a:solidFill>
                <a:latin typeface="Noto Sans JP" panose="020B0200000000000000" pitchFamily="50" charset="-128"/>
                <a:ea typeface="Noto Sans JP" panose="020B0200000000000000" pitchFamily="50" charset="-128"/>
              </a:rPr>
              <a:t>カード</a:t>
            </a:r>
            <a:r>
              <a:rPr kumimoji="1" lang="ja-JP" altLang="en-US" b="1">
                <a:solidFill>
                  <a:schemeClr val="tx2"/>
                </a:solidFill>
                <a:latin typeface="Noto Sans JP" panose="020B0200000000000000" pitchFamily="50" charset="-128"/>
                <a:ea typeface="Noto Sans JP" panose="020B0200000000000000" pitchFamily="50" charset="-128"/>
              </a:rPr>
              <a:t>①</a:t>
            </a:r>
          </a:p>
        </p:txBody>
      </p:sp>
      <p:sp>
        <p:nvSpPr>
          <p:cNvPr id="28" name="テキスト ボックス 27">
            <a:extLst>
              <a:ext uri="{FF2B5EF4-FFF2-40B4-BE49-F238E27FC236}">
                <a16:creationId xmlns:a16="http://schemas.microsoft.com/office/drawing/2014/main" id="{737E1505-E7CC-1E79-F363-428D88E12465}"/>
              </a:ext>
            </a:extLst>
          </p:cNvPr>
          <p:cNvSpPr txBox="1"/>
          <p:nvPr userDrawn="1"/>
        </p:nvSpPr>
        <p:spPr>
          <a:xfrm>
            <a:off x="4018889" y="2490401"/>
            <a:ext cx="954107" cy="369332"/>
          </a:xfrm>
          <a:prstGeom prst="rect">
            <a:avLst/>
          </a:prstGeom>
          <a:noFill/>
        </p:spPr>
        <p:txBody>
          <a:bodyPr wrap="none" rtlCol="0">
            <a:spAutoFit/>
          </a:bodyPr>
          <a:lstStyle/>
          <a:p>
            <a:r>
              <a:rPr kumimoji="1" lang="ja-JP" altLang="en-US" sz="1400" b="1">
                <a:solidFill>
                  <a:schemeClr val="tx2"/>
                </a:solidFill>
                <a:latin typeface="Noto Sans JP" panose="020B0200000000000000" pitchFamily="50" charset="-128"/>
                <a:ea typeface="Noto Sans JP" panose="020B0200000000000000" pitchFamily="50" charset="-128"/>
              </a:rPr>
              <a:t>カード</a:t>
            </a:r>
            <a:r>
              <a:rPr kumimoji="1" lang="ja-JP" altLang="en-US" b="1">
                <a:solidFill>
                  <a:schemeClr val="tx2"/>
                </a:solidFill>
                <a:latin typeface="Noto Sans JP" panose="020B0200000000000000" pitchFamily="50" charset="-128"/>
                <a:ea typeface="Noto Sans JP" panose="020B0200000000000000" pitchFamily="50" charset="-128"/>
              </a:rPr>
              <a:t>②</a:t>
            </a:r>
          </a:p>
        </p:txBody>
      </p:sp>
      <p:sp>
        <p:nvSpPr>
          <p:cNvPr id="29" name="テキスト ボックス 28">
            <a:extLst>
              <a:ext uri="{FF2B5EF4-FFF2-40B4-BE49-F238E27FC236}">
                <a16:creationId xmlns:a16="http://schemas.microsoft.com/office/drawing/2014/main" id="{A3A02162-4BC1-6C66-A647-B86BAEAAFB93}"/>
              </a:ext>
            </a:extLst>
          </p:cNvPr>
          <p:cNvSpPr txBox="1"/>
          <p:nvPr userDrawn="1"/>
        </p:nvSpPr>
        <p:spPr>
          <a:xfrm>
            <a:off x="479700" y="2280372"/>
            <a:ext cx="2698175" cy="523220"/>
          </a:xfrm>
          <a:prstGeom prst="rect">
            <a:avLst/>
          </a:prstGeom>
          <a:noFill/>
        </p:spPr>
        <p:txBody>
          <a:bodyPr wrap="none" rtlCol="0">
            <a:spAutoFit/>
          </a:bodyPr>
          <a:lstStyle/>
          <a:p>
            <a:r>
              <a:rPr kumimoji="1" lang="ja-JP" altLang="en-US" sz="2800" b="1">
                <a:solidFill>
                  <a:schemeClr val="accent4"/>
                </a:solidFill>
                <a:latin typeface="Noto Sans JP" panose="020B0200000000000000" pitchFamily="50" charset="-128"/>
                <a:ea typeface="Noto Sans JP" panose="020B0200000000000000" pitchFamily="50" charset="-128"/>
              </a:rPr>
              <a:t>カードの見出し</a:t>
            </a:r>
          </a:p>
        </p:txBody>
      </p:sp>
      <p:sp>
        <p:nvSpPr>
          <p:cNvPr id="30" name="テキスト ボックス 29">
            <a:extLst>
              <a:ext uri="{FF2B5EF4-FFF2-40B4-BE49-F238E27FC236}">
                <a16:creationId xmlns:a16="http://schemas.microsoft.com/office/drawing/2014/main" id="{0608C1CF-9A0F-C625-8488-F744B8270D3A}"/>
              </a:ext>
            </a:extLst>
          </p:cNvPr>
          <p:cNvSpPr txBox="1"/>
          <p:nvPr userDrawn="1"/>
        </p:nvSpPr>
        <p:spPr>
          <a:xfrm>
            <a:off x="3993897" y="2767069"/>
            <a:ext cx="2698175" cy="523220"/>
          </a:xfrm>
          <a:prstGeom prst="rect">
            <a:avLst/>
          </a:prstGeom>
          <a:noFill/>
        </p:spPr>
        <p:txBody>
          <a:bodyPr wrap="none" rtlCol="0">
            <a:spAutoFit/>
          </a:bodyPr>
          <a:lstStyle/>
          <a:p>
            <a:r>
              <a:rPr lang="ja-JP" altLang="en-US" sz="2800" b="1">
                <a:solidFill>
                  <a:schemeClr val="accent4"/>
                </a:solidFill>
                <a:latin typeface="Noto Sans JP" panose="020B0200000000000000" pitchFamily="50" charset="-128"/>
                <a:ea typeface="Noto Sans JP" panose="020B0200000000000000" pitchFamily="50" charset="-128"/>
              </a:rPr>
              <a:t>カードの見出し</a:t>
            </a:r>
            <a:endParaRPr kumimoji="1" lang="ja-JP" altLang="en-US" sz="2800" b="1">
              <a:solidFill>
                <a:schemeClr val="accent4"/>
              </a:solidFill>
              <a:latin typeface="Noto Sans JP" panose="020B0200000000000000" pitchFamily="50" charset="-128"/>
              <a:ea typeface="Noto Sans JP" panose="020B0200000000000000" pitchFamily="50" charset="-128"/>
            </a:endParaRPr>
          </a:p>
        </p:txBody>
      </p:sp>
      <p:sp>
        <p:nvSpPr>
          <p:cNvPr id="31" name="テキスト ボックス 30">
            <a:extLst>
              <a:ext uri="{FF2B5EF4-FFF2-40B4-BE49-F238E27FC236}">
                <a16:creationId xmlns:a16="http://schemas.microsoft.com/office/drawing/2014/main" id="{33188FAD-324B-429C-F93C-6CC1707BC00B}"/>
              </a:ext>
            </a:extLst>
          </p:cNvPr>
          <p:cNvSpPr txBox="1"/>
          <p:nvPr userDrawn="1"/>
        </p:nvSpPr>
        <p:spPr>
          <a:xfrm>
            <a:off x="7550470" y="2972074"/>
            <a:ext cx="954107" cy="369332"/>
          </a:xfrm>
          <a:prstGeom prst="rect">
            <a:avLst/>
          </a:prstGeom>
          <a:noFill/>
        </p:spPr>
        <p:txBody>
          <a:bodyPr wrap="none" rtlCol="0">
            <a:spAutoFit/>
          </a:bodyPr>
          <a:lstStyle/>
          <a:p>
            <a:r>
              <a:rPr lang="ja-JP" altLang="en-US" sz="1400" b="1">
                <a:solidFill>
                  <a:schemeClr val="tx2"/>
                </a:solidFill>
                <a:latin typeface="Noto Sans JP" panose="020B0200000000000000" pitchFamily="50" charset="-128"/>
                <a:ea typeface="Noto Sans JP" panose="020B0200000000000000" pitchFamily="50" charset="-128"/>
              </a:rPr>
              <a:t>カード</a:t>
            </a:r>
            <a:r>
              <a:rPr kumimoji="1" lang="ja-JP" altLang="en-US" b="1">
                <a:solidFill>
                  <a:schemeClr val="tx2"/>
                </a:solidFill>
                <a:latin typeface="Noto Sans JP" panose="020B0200000000000000" pitchFamily="50" charset="-128"/>
                <a:ea typeface="Noto Sans JP" panose="020B0200000000000000" pitchFamily="50" charset="-128"/>
              </a:rPr>
              <a:t>③</a:t>
            </a:r>
          </a:p>
        </p:txBody>
      </p:sp>
      <p:sp>
        <p:nvSpPr>
          <p:cNvPr id="32" name="テキスト ボックス 31">
            <a:extLst>
              <a:ext uri="{FF2B5EF4-FFF2-40B4-BE49-F238E27FC236}">
                <a16:creationId xmlns:a16="http://schemas.microsoft.com/office/drawing/2014/main" id="{CA857E29-7B48-8460-240E-D71974A4AE83}"/>
              </a:ext>
            </a:extLst>
          </p:cNvPr>
          <p:cNvSpPr txBox="1"/>
          <p:nvPr userDrawn="1"/>
        </p:nvSpPr>
        <p:spPr>
          <a:xfrm>
            <a:off x="7495981" y="3248742"/>
            <a:ext cx="2698175" cy="523220"/>
          </a:xfrm>
          <a:prstGeom prst="rect">
            <a:avLst/>
          </a:prstGeom>
          <a:noFill/>
        </p:spPr>
        <p:txBody>
          <a:bodyPr wrap="none" rtlCol="0">
            <a:spAutoFit/>
          </a:bodyPr>
          <a:lstStyle/>
          <a:p>
            <a:r>
              <a:rPr kumimoji="1" lang="ja-JP" altLang="en-US" sz="2800" b="1">
                <a:solidFill>
                  <a:schemeClr val="accent4"/>
                </a:solidFill>
                <a:latin typeface="Noto Sans JP" panose="020B0200000000000000" pitchFamily="50" charset="-128"/>
                <a:ea typeface="Noto Sans JP" panose="020B0200000000000000" pitchFamily="50" charset="-128"/>
              </a:rPr>
              <a:t>カードの見出し</a:t>
            </a:r>
          </a:p>
        </p:txBody>
      </p:sp>
      <p:grpSp>
        <p:nvGrpSpPr>
          <p:cNvPr id="33" name="グループ化 32">
            <a:extLst>
              <a:ext uri="{FF2B5EF4-FFF2-40B4-BE49-F238E27FC236}">
                <a16:creationId xmlns:a16="http://schemas.microsoft.com/office/drawing/2014/main" id="{2427427D-6735-FCE0-2D3E-02AA51E0A977}"/>
              </a:ext>
            </a:extLst>
          </p:cNvPr>
          <p:cNvGrpSpPr/>
          <p:nvPr userDrawn="1"/>
        </p:nvGrpSpPr>
        <p:grpSpPr>
          <a:xfrm rot="19356426" flipV="1">
            <a:off x="4678821" y="1901851"/>
            <a:ext cx="638334" cy="948153"/>
            <a:chOff x="2664127" y="3374455"/>
            <a:chExt cx="1201975" cy="1567649"/>
          </a:xfrm>
        </p:grpSpPr>
        <p:sp>
          <p:nvSpPr>
            <p:cNvPr id="34" name="二等辺三角形 33">
              <a:extLst>
                <a:ext uri="{FF2B5EF4-FFF2-40B4-BE49-F238E27FC236}">
                  <a16:creationId xmlns:a16="http://schemas.microsoft.com/office/drawing/2014/main" id="{57EAC28B-725F-4422-230A-22EFFCEC4DAB}"/>
                </a:ext>
              </a:extLst>
            </p:cNvPr>
            <p:cNvSpPr/>
            <p:nvPr/>
          </p:nvSpPr>
          <p:spPr>
            <a:xfrm rot="21516842">
              <a:off x="3025444" y="3374455"/>
              <a:ext cx="840658" cy="471949"/>
            </a:xfrm>
            <a:prstGeom prst="triangle">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フリーフォーム: 図形 34">
              <a:extLst>
                <a:ext uri="{FF2B5EF4-FFF2-40B4-BE49-F238E27FC236}">
                  <a16:creationId xmlns:a16="http://schemas.microsoft.com/office/drawing/2014/main" id="{7331F186-5625-89D0-93F2-A2EAFFA274F0}"/>
                </a:ext>
              </a:extLst>
            </p:cNvPr>
            <p:cNvSpPr/>
            <p:nvPr/>
          </p:nvSpPr>
          <p:spPr>
            <a:xfrm>
              <a:off x="2664127" y="3827205"/>
              <a:ext cx="956601" cy="1114899"/>
            </a:xfrm>
            <a:custGeom>
              <a:avLst/>
              <a:gdLst>
                <a:gd name="connsiteX0" fmla="*/ 649311 w 956601"/>
                <a:gd name="connsiteY0" fmla="*/ 0 h 1114899"/>
                <a:gd name="connsiteX1" fmla="*/ 956601 w 956601"/>
                <a:gd name="connsiteY1" fmla="*/ 0 h 1114899"/>
                <a:gd name="connsiteX2" fmla="*/ 951973 w 956601"/>
                <a:gd name="connsiteY2" fmla="*/ 97117 h 1114899"/>
                <a:gd name="connsiteX3" fmla="*/ 5472 w 956601"/>
                <a:gd name="connsiteY3" fmla="*/ 1113687 h 1114899"/>
                <a:gd name="connsiteX4" fmla="*/ 0 w 956601"/>
                <a:gd name="connsiteY4" fmla="*/ 1114899 h 1114899"/>
                <a:gd name="connsiteX5" fmla="*/ 40056 w 956601"/>
                <a:gd name="connsiteY5" fmla="*/ 1089636 h 1114899"/>
                <a:gd name="connsiteX6" fmla="*/ 638394 w 956601"/>
                <a:gd name="connsiteY6" fmla="*/ 162145 h 1114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56601" h="1114899">
                  <a:moveTo>
                    <a:pt x="649311" y="0"/>
                  </a:moveTo>
                  <a:lnTo>
                    <a:pt x="956601" y="0"/>
                  </a:lnTo>
                  <a:lnTo>
                    <a:pt x="951973" y="97117"/>
                  </a:lnTo>
                  <a:cubicBezTo>
                    <a:pt x="906000" y="577465"/>
                    <a:pt x="522068" y="975272"/>
                    <a:pt x="5472" y="1113687"/>
                  </a:cubicBezTo>
                  <a:lnTo>
                    <a:pt x="0" y="1114899"/>
                  </a:lnTo>
                  <a:lnTo>
                    <a:pt x="40056" y="1089636"/>
                  </a:lnTo>
                  <a:cubicBezTo>
                    <a:pt x="365632" y="863013"/>
                    <a:pt x="587911" y="534591"/>
                    <a:pt x="638394" y="162145"/>
                  </a:cubicBezTo>
                  <a:close/>
                </a:path>
              </a:pathLst>
            </a:cu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6" name="グループ化 35">
            <a:extLst>
              <a:ext uri="{FF2B5EF4-FFF2-40B4-BE49-F238E27FC236}">
                <a16:creationId xmlns:a16="http://schemas.microsoft.com/office/drawing/2014/main" id="{666428B1-0E40-4B84-C5D4-9BD652D21B99}"/>
              </a:ext>
            </a:extLst>
          </p:cNvPr>
          <p:cNvGrpSpPr/>
          <p:nvPr userDrawn="1"/>
        </p:nvGrpSpPr>
        <p:grpSpPr>
          <a:xfrm rot="19356426" flipV="1">
            <a:off x="8176087" y="2353531"/>
            <a:ext cx="638334" cy="948153"/>
            <a:chOff x="2664127" y="3374455"/>
            <a:chExt cx="1201975" cy="1567649"/>
          </a:xfrm>
        </p:grpSpPr>
        <p:sp>
          <p:nvSpPr>
            <p:cNvPr id="37" name="二等辺三角形 36">
              <a:extLst>
                <a:ext uri="{FF2B5EF4-FFF2-40B4-BE49-F238E27FC236}">
                  <a16:creationId xmlns:a16="http://schemas.microsoft.com/office/drawing/2014/main" id="{634E3423-964F-1F31-158A-0BA79770C690}"/>
                </a:ext>
              </a:extLst>
            </p:cNvPr>
            <p:cNvSpPr/>
            <p:nvPr/>
          </p:nvSpPr>
          <p:spPr>
            <a:xfrm rot="21516842">
              <a:off x="3025444" y="3374455"/>
              <a:ext cx="840658" cy="471949"/>
            </a:xfrm>
            <a:prstGeom prst="triangle">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フリーフォーム: 図形 37">
              <a:extLst>
                <a:ext uri="{FF2B5EF4-FFF2-40B4-BE49-F238E27FC236}">
                  <a16:creationId xmlns:a16="http://schemas.microsoft.com/office/drawing/2014/main" id="{8A8264AF-CFEB-8750-6969-C961E4B9F455}"/>
                </a:ext>
              </a:extLst>
            </p:cNvPr>
            <p:cNvSpPr/>
            <p:nvPr/>
          </p:nvSpPr>
          <p:spPr>
            <a:xfrm>
              <a:off x="2664127" y="3827205"/>
              <a:ext cx="956601" cy="1114899"/>
            </a:xfrm>
            <a:custGeom>
              <a:avLst/>
              <a:gdLst>
                <a:gd name="connsiteX0" fmla="*/ 649311 w 956601"/>
                <a:gd name="connsiteY0" fmla="*/ 0 h 1114899"/>
                <a:gd name="connsiteX1" fmla="*/ 956601 w 956601"/>
                <a:gd name="connsiteY1" fmla="*/ 0 h 1114899"/>
                <a:gd name="connsiteX2" fmla="*/ 951973 w 956601"/>
                <a:gd name="connsiteY2" fmla="*/ 97117 h 1114899"/>
                <a:gd name="connsiteX3" fmla="*/ 5472 w 956601"/>
                <a:gd name="connsiteY3" fmla="*/ 1113687 h 1114899"/>
                <a:gd name="connsiteX4" fmla="*/ 0 w 956601"/>
                <a:gd name="connsiteY4" fmla="*/ 1114899 h 1114899"/>
                <a:gd name="connsiteX5" fmla="*/ 40056 w 956601"/>
                <a:gd name="connsiteY5" fmla="*/ 1089636 h 1114899"/>
                <a:gd name="connsiteX6" fmla="*/ 638394 w 956601"/>
                <a:gd name="connsiteY6" fmla="*/ 162145 h 1114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56601" h="1114899">
                  <a:moveTo>
                    <a:pt x="649311" y="0"/>
                  </a:moveTo>
                  <a:lnTo>
                    <a:pt x="956601" y="0"/>
                  </a:lnTo>
                  <a:lnTo>
                    <a:pt x="951973" y="97117"/>
                  </a:lnTo>
                  <a:cubicBezTo>
                    <a:pt x="906000" y="577465"/>
                    <a:pt x="522068" y="975272"/>
                    <a:pt x="5472" y="1113687"/>
                  </a:cubicBezTo>
                  <a:lnTo>
                    <a:pt x="0" y="1114899"/>
                  </a:lnTo>
                  <a:lnTo>
                    <a:pt x="40056" y="1089636"/>
                  </a:lnTo>
                  <a:cubicBezTo>
                    <a:pt x="365632" y="863013"/>
                    <a:pt x="587911" y="534591"/>
                    <a:pt x="638394" y="162145"/>
                  </a:cubicBezTo>
                  <a:close/>
                </a:path>
              </a:pathLst>
            </a:cu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6523983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カードのレイアウト">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CE4981D-F3E1-A957-C0E7-47018581307B}"/>
              </a:ext>
            </a:extLst>
          </p:cNvPr>
          <p:cNvSpPr>
            <a:spLocks noGrp="1"/>
          </p:cNvSpPr>
          <p:nvPr>
            <p:ph type="title"/>
          </p:nvPr>
        </p:nvSpPr>
        <p:spPr>
          <a:xfrm>
            <a:off x="838200" y="231697"/>
            <a:ext cx="8268093" cy="457044"/>
          </a:xfrm>
        </p:spPr>
        <p:txBody>
          <a:bodyPr>
            <a:noAutofit/>
          </a:bodyPr>
          <a:lstStyle>
            <a:lvl1pPr>
              <a:defRPr sz="2800">
                <a:solidFill>
                  <a:schemeClr val="bg1"/>
                </a:solidFill>
              </a:defRPr>
            </a:lvl1pPr>
          </a:lstStyle>
          <a:p>
            <a:r>
              <a:rPr kumimoji="1" lang="ja-JP" altLang="en-US"/>
              <a:t>マスター タイトルの書式設定</a:t>
            </a:r>
          </a:p>
        </p:txBody>
      </p:sp>
      <p:sp>
        <p:nvSpPr>
          <p:cNvPr id="6" name="スライド番号プレースホルダー 5">
            <a:extLst>
              <a:ext uri="{FF2B5EF4-FFF2-40B4-BE49-F238E27FC236}">
                <a16:creationId xmlns:a16="http://schemas.microsoft.com/office/drawing/2014/main" id="{1978F53E-4C54-5978-324C-CDA5322A0EDC}"/>
              </a:ext>
            </a:extLst>
          </p:cNvPr>
          <p:cNvSpPr>
            <a:spLocks noGrp="1"/>
          </p:cNvSpPr>
          <p:nvPr>
            <p:ph type="sldNum" sz="quarter" idx="12"/>
          </p:nvPr>
        </p:nvSpPr>
        <p:spPr>
          <a:xfrm>
            <a:off x="11160803" y="277657"/>
            <a:ext cx="838200" cy="365125"/>
          </a:xfrm>
        </p:spPr>
        <p:txBody>
          <a:bodyPr/>
          <a:lstStyle>
            <a:lvl1pPr algn="ctr">
              <a:defRPr sz="1800">
                <a:solidFill>
                  <a:schemeClr val="bg1"/>
                </a:solidFill>
              </a:defRPr>
            </a:lvl1pPr>
          </a:lstStyle>
          <a:p>
            <a:fld id="{8D1BC46D-89B1-41A3-BBA1-F56BEABD0A90}" type="slidenum">
              <a:rPr lang="ja-JP" altLang="en-US" smtClean="0"/>
              <a:pPr/>
              <a:t>‹#›</a:t>
            </a:fld>
            <a:endParaRPr lang="ja-JP" altLang="en-US"/>
          </a:p>
        </p:txBody>
      </p:sp>
      <p:sp>
        <p:nvSpPr>
          <p:cNvPr id="3" name="タイトル 1">
            <a:extLst>
              <a:ext uri="{FF2B5EF4-FFF2-40B4-BE49-F238E27FC236}">
                <a16:creationId xmlns:a16="http://schemas.microsoft.com/office/drawing/2014/main" id="{39E28735-E38E-FA76-E836-AFAD95876608}"/>
              </a:ext>
            </a:extLst>
          </p:cNvPr>
          <p:cNvSpPr txBox="1">
            <a:spLocks/>
          </p:cNvSpPr>
          <p:nvPr userDrawn="1"/>
        </p:nvSpPr>
        <p:spPr>
          <a:xfrm>
            <a:off x="558799" y="1015999"/>
            <a:ext cx="11357897" cy="93815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sz="3600"/>
              <a:t>カードの間隔やアスペクト比は適宜調整</a:t>
            </a:r>
          </a:p>
        </p:txBody>
      </p:sp>
      <p:sp>
        <p:nvSpPr>
          <p:cNvPr id="24" name="正方形/長方形 23">
            <a:extLst>
              <a:ext uri="{FF2B5EF4-FFF2-40B4-BE49-F238E27FC236}">
                <a16:creationId xmlns:a16="http://schemas.microsoft.com/office/drawing/2014/main" id="{7BFE6030-7EF2-D499-592E-1D382FDD691D}"/>
              </a:ext>
            </a:extLst>
          </p:cNvPr>
          <p:cNvSpPr/>
          <p:nvPr userDrawn="1"/>
        </p:nvSpPr>
        <p:spPr>
          <a:xfrm>
            <a:off x="640876" y="1994510"/>
            <a:ext cx="5341676" cy="2194032"/>
          </a:xfrm>
          <a:prstGeom prst="rect">
            <a:avLst/>
          </a:prstGeom>
          <a:solidFill>
            <a:srgbClr val="FFFFFF"/>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70A8E374-8498-BBA7-13BD-C9875DF93B2F}"/>
              </a:ext>
            </a:extLst>
          </p:cNvPr>
          <p:cNvSpPr txBox="1"/>
          <p:nvPr userDrawn="1"/>
        </p:nvSpPr>
        <p:spPr>
          <a:xfrm>
            <a:off x="700865" y="2006597"/>
            <a:ext cx="954107" cy="369332"/>
          </a:xfrm>
          <a:prstGeom prst="rect">
            <a:avLst/>
          </a:prstGeom>
          <a:noFill/>
        </p:spPr>
        <p:txBody>
          <a:bodyPr wrap="none" rtlCol="0">
            <a:spAutoFit/>
          </a:bodyPr>
          <a:lstStyle/>
          <a:p>
            <a:r>
              <a:rPr lang="ja-JP" altLang="en-US" sz="1400" b="1">
                <a:solidFill>
                  <a:schemeClr val="tx2"/>
                </a:solidFill>
                <a:latin typeface="Noto Sans JP" panose="020B0200000000000000" pitchFamily="50" charset="-128"/>
                <a:ea typeface="Noto Sans JP" panose="020B0200000000000000" pitchFamily="50" charset="-128"/>
              </a:rPr>
              <a:t>カード</a:t>
            </a:r>
            <a:r>
              <a:rPr kumimoji="1" lang="ja-JP" altLang="en-US" b="1">
                <a:solidFill>
                  <a:schemeClr val="tx2"/>
                </a:solidFill>
                <a:latin typeface="Noto Sans JP" panose="020B0200000000000000" pitchFamily="50" charset="-128"/>
                <a:ea typeface="Noto Sans JP" panose="020B0200000000000000" pitchFamily="50" charset="-128"/>
              </a:rPr>
              <a:t>①</a:t>
            </a:r>
          </a:p>
        </p:txBody>
      </p:sp>
      <p:sp>
        <p:nvSpPr>
          <p:cNvPr id="26" name="テキスト ボックス 25">
            <a:extLst>
              <a:ext uri="{FF2B5EF4-FFF2-40B4-BE49-F238E27FC236}">
                <a16:creationId xmlns:a16="http://schemas.microsoft.com/office/drawing/2014/main" id="{8F563E06-2EF1-7D3C-6BBC-5190953ECB2C}"/>
              </a:ext>
            </a:extLst>
          </p:cNvPr>
          <p:cNvSpPr txBox="1"/>
          <p:nvPr userDrawn="1"/>
        </p:nvSpPr>
        <p:spPr>
          <a:xfrm>
            <a:off x="649306" y="2280372"/>
            <a:ext cx="2698175" cy="523220"/>
          </a:xfrm>
          <a:prstGeom prst="rect">
            <a:avLst/>
          </a:prstGeom>
          <a:noFill/>
        </p:spPr>
        <p:txBody>
          <a:bodyPr wrap="none" rtlCol="0">
            <a:spAutoFit/>
          </a:bodyPr>
          <a:lstStyle/>
          <a:p>
            <a:r>
              <a:rPr kumimoji="1" lang="ja-JP" altLang="en-US" sz="2800" b="1">
                <a:solidFill>
                  <a:schemeClr val="accent4"/>
                </a:solidFill>
                <a:latin typeface="Noto Sans JP" panose="020B0200000000000000" pitchFamily="50" charset="-128"/>
                <a:ea typeface="Noto Sans JP" panose="020B0200000000000000" pitchFamily="50" charset="-128"/>
              </a:rPr>
              <a:t>カードの見出し</a:t>
            </a:r>
          </a:p>
        </p:txBody>
      </p:sp>
      <p:sp>
        <p:nvSpPr>
          <p:cNvPr id="27" name="正方形/長方形 26">
            <a:extLst>
              <a:ext uri="{FF2B5EF4-FFF2-40B4-BE49-F238E27FC236}">
                <a16:creationId xmlns:a16="http://schemas.microsoft.com/office/drawing/2014/main" id="{8819E9C6-0B50-DA8E-DBFC-95D84C86E41D}"/>
              </a:ext>
            </a:extLst>
          </p:cNvPr>
          <p:cNvSpPr/>
          <p:nvPr userDrawn="1"/>
        </p:nvSpPr>
        <p:spPr>
          <a:xfrm>
            <a:off x="640876" y="4391123"/>
            <a:ext cx="5341676" cy="2194032"/>
          </a:xfrm>
          <a:prstGeom prst="rect">
            <a:avLst/>
          </a:prstGeom>
          <a:solidFill>
            <a:srgbClr val="FFFFFF"/>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8620371E-1F48-B44D-4136-4B85A6D82755}"/>
              </a:ext>
            </a:extLst>
          </p:cNvPr>
          <p:cNvSpPr txBox="1"/>
          <p:nvPr userDrawn="1"/>
        </p:nvSpPr>
        <p:spPr>
          <a:xfrm>
            <a:off x="700865" y="4403210"/>
            <a:ext cx="954107" cy="369332"/>
          </a:xfrm>
          <a:prstGeom prst="rect">
            <a:avLst/>
          </a:prstGeom>
          <a:noFill/>
        </p:spPr>
        <p:txBody>
          <a:bodyPr wrap="none" rtlCol="0">
            <a:spAutoFit/>
          </a:bodyPr>
          <a:lstStyle/>
          <a:p>
            <a:r>
              <a:rPr lang="ja-JP" altLang="en-US" sz="1400" b="1">
                <a:solidFill>
                  <a:schemeClr val="tx2"/>
                </a:solidFill>
                <a:latin typeface="Noto Sans JP" panose="020B0200000000000000" pitchFamily="50" charset="-128"/>
                <a:ea typeface="Noto Sans JP" panose="020B0200000000000000" pitchFamily="50" charset="-128"/>
              </a:rPr>
              <a:t>カード</a:t>
            </a:r>
            <a:r>
              <a:rPr lang="ja-JP" altLang="en-US" b="1">
                <a:solidFill>
                  <a:schemeClr val="tx2"/>
                </a:solidFill>
                <a:latin typeface="Noto Sans JP" panose="020B0200000000000000" pitchFamily="50" charset="-128"/>
                <a:ea typeface="Noto Sans JP" panose="020B0200000000000000" pitchFamily="50" charset="-128"/>
              </a:rPr>
              <a:t>②</a:t>
            </a:r>
            <a:endParaRPr kumimoji="1" lang="ja-JP" altLang="en-US" b="1">
              <a:solidFill>
                <a:schemeClr val="tx2"/>
              </a:solidFill>
              <a:latin typeface="Noto Sans JP" panose="020B0200000000000000" pitchFamily="50" charset="-128"/>
              <a:ea typeface="Noto Sans JP" panose="020B0200000000000000" pitchFamily="50" charset="-128"/>
            </a:endParaRPr>
          </a:p>
        </p:txBody>
      </p:sp>
      <p:sp>
        <p:nvSpPr>
          <p:cNvPr id="29" name="テキスト ボックス 28">
            <a:extLst>
              <a:ext uri="{FF2B5EF4-FFF2-40B4-BE49-F238E27FC236}">
                <a16:creationId xmlns:a16="http://schemas.microsoft.com/office/drawing/2014/main" id="{4A059C68-85AE-C315-2356-95E710B35D69}"/>
              </a:ext>
            </a:extLst>
          </p:cNvPr>
          <p:cNvSpPr txBox="1"/>
          <p:nvPr userDrawn="1"/>
        </p:nvSpPr>
        <p:spPr>
          <a:xfrm>
            <a:off x="649306" y="4676985"/>
            <a:ext cx="2698175" cy="523220"/>
          </a:xfrm>
          <a:prstGeom prst="rect">
            <a:avLst/>
          </a:prstGeom>
          <a:noFill/>
        </p:spPr>
        <p:txBody>
          <a:bodyPr wrap="none" rtlCol="0">
            <a:spAutoFit/>
          </a:bodyPr>
          <a:lstStyle/>
          <a:p>
            <a:r>
              <a:rPr kumimoji="1" lang="ja-JP" altLang="en-US" sz="2800" b="1">
                <a:solidFill>
                  <a:schemeClr val="accent4"/>
                </a:solidFill>
                <a:latin typeface="Noto Sans JP" panose="020B0200000000000000" pitchFamily="50" charset="-128"/>
                <a:ea typeface="Noto Sans JP" panose="020B0200000000000000" pitchFamily="50" charset="-128"/>
              </a:rPr>
              <a:t>カードの見出し</a:t>
            </a:r>
          </a:p>
        </p:txBody>
      </p:sp>
      <p:sp>
        <p:nvSpPr>
          <p:cNvPr id="30" name="正方形/長方形 29">
            <a:extLst>
              <a:ext uri="{FF2B5EF4-FFF2-40B4-BE49-F238E27FC236}">
                <a16:creationId xmlns:a16="http://schemas.microsoft.com/office/drawing/2014/main" id="{628E01E4-69D9-4079-791C-DB5ACA6A8DCA}"/>
              </a:ext>
            </a:extLst>
          </p:cNvPr>
          <p:cNvSpPr/>
          <p:nvPr userDrawn="1"/>
        </p:nvSpPr>
        <p:spPr>
          <a:xfrm>
            <a:off x="6201018" y="1994510"/>
            <a:ext cx="5341676" cy="2194032"/>
          </a:xfrm>
          <a:prstGeom prst="rect">
            <a:avLst/>
          </a:prstGeom>
          <a:solidFill>
            <a:srgbClr val="FFFFFF"/>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CFB27F8B-5228-3D60-B5D3-6B17B425CCA1}"/>
              </a:ext>
            </a:extLst>
          </p:cNvPr>
          <p:cNvSpPr txBox="1"/>
          <p:nvPr userDrawn="1"/>
        </p:nvSpPr>
        <p:spPr>
          <a:xfrm>
            <a:off x="6261007" y="2006597"/>
            <a:ext cx="954107" cy="369332"/>
          </a:xfrm>
          <a:prstGeom prst="rect">
            <a:avLst/>
          </a:prstGeom>
          <a:noFill/>
        </p:spPr>
        <p:txBody>
          <a:bodyPr wrap="none" rtlCol="0">
            <a:spAutoFit/>
          </a:bodyPr>
          <a:lstStyle/>
          <a:p>
            <a:r>
              <a:rPr lang="ja-JP" altLang="en-US" sz="1400" b="1">
                <a:solidFill>
                  <a:schemeClr val="tx2"/>
                </a:solidFill>
                <a:latin typeface="Noto Sans JP" panose="020B0200000000000000" pitchFamily="50" charset="-128"/>
                <a:ea typeface="Noto Sans JP" panose="020B0200000000000000" pitchFamily="50" charset="-128"/>
              </a:rPr>
              <a:t>カード</a:t>
            </a:r>
            <a:r>
              <a:rPr kumimoji="1" lang="ja-JP" altLang="en-US" b="1">
                <a:solidFill>
                  <a:schemeClr val="tx2"/>
                </a:solidFill>
                <a:latin typeface="Noto Sans JP" panose="020B0200000000000000" pitchFamily="50" charset="-128"/>
                <a:ea typeface="Noto Sans JP" panose="020B0200000000000000" pitchFamily="50" charset="-128"/>
              </a:rPr>
              <a:t>③</a:t>
            </a:r>
          </a:p>
        </p:txBody>
      </p:sp>
      <p:sp>
        <p:nvSpPr>
          <p:cNvPr id="32" name="テキスト ボックス 31">
            <a:extLst>
              <a:ext uri="{FF2B5EF4-FFF2-40B4-BE49-F238E27FC236}">
                <a16:creationId xmlns:a16="http://schemas.microsoft.com/office/drawing/2014/main" id="{9C53E43C-0B35-6DB4-E322-C1A0F5EEAC54}"/>
              </a:ext>
            </a:extLst>
          </p:cNvPr>
          <p:cNvSpPr txBox="1"/>
          <p:nvPr userDrawn="1"/>
        </p:nvSpPr>
        <p:spPr>
          <a:xfrm>
            <a:off x="6209448" y="2280372"/>
            <a:ext cx="2698175" cy="523220"/>
          </a:xfrm>
          <a:prstGeom prst="rect">
            <a:avLst/>
          </a:prstGeom>
          <a:noFill/>
        </p:spPr>
        <p:txBody>
          <a:bodyPr wrap="none" rtlCol="0">
            <a:spAutoFit/>
          </a:bodyPr>
          <a:lstStyle/>
          <a:p>
            <a:r>
              <a:rPr kumimoji="1" lang="ja-JP" altLang="en-US" sz="2800" b="1">
                <a:solidFill>
                  <a:schemeClr val="accent4"/>
                </a:solidFill>
                <a:latin typeface="Noto Sans JP" panose="020B0200000000000000" pitchFamily="50" charset="-128"/>
                <a:ea typeface="Noto Sans JP" panose="020B0200000000000000" pitchFamily="50" charset="-128"/>
              </a:rPr>
              <a:t>カードの見出し</a:t>
            </a:r>
          </a:p>
        </p:txBody>
      </p:sp>
      <p:sp>
        <p:nvSpPr>
          <p:cNvPr id="33" name="正方形/長方形 32">
            <a:extLst>
              <a:ext uri="{FF2B5EF4-FFF2-40B4-BE49-F238E27FC236}">
                <a16:creationId xmlns:a16="http://schemas.microsoft.com/office/drawing/2014/main" id="{589387FE-DDA6-2CC1-4F9C-7B61147D15AB}"/>
              </a:ext>
            </a:extLst>
          </p:cNvPr>
          <p:cNvSpPr/>
          <p:nvPr userDrawn="1"/>
        </p:nvSpPr>
        <p:spPr>
          <a:xfrm>
            <a:off x="6201018" y="4391123"/>
            <a:ext cx="5341676" cy="2194032"/>
          </a:xfrm>
          <a:prstGeom prst="rect">
            <a:avLst/>
          </a:prstGeom>
          <a:solidFill>
            <a:srgbClr val="FFFFFF"/>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ボックス 33">
            <a:extLst>
              <a:ext uri="{FF2B5EF4-FFF2-40B4-BE49-F238E27FC236}">
                <a16:creationId xmlns:a16="http://schemas.microsoft.com/office/drawing/2014/main" id="{8D62D2F4-0791-47B5-FF25-3840506A48C3}"/>
              </a:ext>
            </a:extLst>
          </p:cNvPr>
          <p:cNvSpPr txBox="1"/>
          <p:nvPr userDrawn="1"/>
        </p:nvSpPr>
        <p:spPr>
          <a:xfrm>
            <a:off x="6261007" y="4403210"/>
            <a:ext cx="954107" cy="369332"/>
          </a:xfrm>
          <a:prstGeom prst="rect">
            <a:avLst/>
          </a:prstGeom>
          <a:noFill/>
        </p:spPr>
        <p:txBody>
          <a:bodyPr wrap="none" rtlCol="0">
            <a:spAutoFit/>
          </a:bodyPr>
          <a:lstStyle/>
          <a:p>
            <a:r>
              <a:rPr lang="ja-JP" altLang="en-US" sz="1400" b="1">
                <a:solidFill>
                  <a:schemeClr val="tx2"/>
                </a:solidFill>
                <a:latin typeface="Noto Sans JP" panose="020B0200000000000000" pitchFamily="50" charset="-128"/>
                <a:ea typeface="Noto Sans JP" panose="020B0200000000000000" pitchFamily="50" charset="-128"/>
              </a:rPr>
              <a:t>カード</a:t>
            </a:r>
            <a:r>
              <a:rPr kumimoji="1" lang="ja-JP" altLang="en-US" b="1">
                <a:solidFill>
                  <a:schemeClr val="tx2"/>
                </a:solidFill>
                <a:latin typeface="Noto Sans JP" panose="020B0200000000000000" pitchFamily="50" charset="-128"/>
                <a:ea typeface="Noto Sans JP" panose="020B0200000000000000" pitchFamily="50" charset="-128"/>
              </a:rPr>
              <a:t>④</a:t>
            </a:r>
          </a:p>
        </p:txBody>
      </p:sp>
      <p:sp>
        <p:nvSpPr>
          <p:cNvPr id="35" name="テキスト ボックス 34">
            <a:extLst>
              <a:ext uri="{FF2B5EF4-FFF2-40B4-BE49-F238E27FC236}">
                <a16:creationId xmlns:a16="http://schemas.microsoft.com/office/drawing/2014/main" id="{5AB2D310-65D0-88A2-45CF-027ACD78E56B}"/>
              </a:ext>
            </a:extLst>
          </p:cNvPr>
          <p:cNvSpPr txBox="1"/>
          <p:nvPr userDrawn="1"/>
        </p:nvSpPr>
        <p:spPr>
          <a:xfrm>
            <a:off x="6209448" y="4676985"/>
            <a:ext cx="2698175" cy="523220"/>
          </a:xfrm>
          <a:prstGeom prst="rect">
            <a:avLst/>
          </a:prstGeom>
          <a:noFill/>
        </p:spPr>
        <p:txBody>
          <a:bodyPr wrap="none" rtlCol="0">
            <a:spAutoFit/>
          </a:bodyPr>
          <a:lstStyle/>
          <a:p>
            <a:r>
              <a:rPr kumimoji="1" lang="ja-JP" altLang="en-US" sz="2800" b="1">
                <a:solidFill>
                  <a:schemeClr val="accent4"/>
                </a:solidFill>
                <a:latin typeface="Noto Sans JP" panose="020B0200000000000000" pitchFamily="50" charset="-128"/>
                <a:ea typeface="Noto Sans JP" panose="020B0200000000000000" pitchFamily="50" charset="-128"/>
              </a:rPr>
              <a:t>カードの見出し</a:t>
            </a:r>
          </a:p>
        </p:txBody>
      </p:sp>
    </p:spTree>
    <p:extLst>
      <p:ext uri="{BB962C8B-B14F-4D97-AF65-F5344CB8AC3E}">
        <p14:creationId xmlns:p14="http://schemas.microsoft.com/office/powerpoint/2010/main" val="1816944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C5E7773E-9F3C-8547-1887-EDE1B77EC8F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F238FCC-BF83-0877-84B7-63F27C6E690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2C07774-86F2-4BBC-8586-A1C4D2F7E11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20A137C-E3B5-4111-BA28-0A9D5E6D313C}" type="datetime1">
              <a:rPr kumimoji="1" lang="ja-JP" altLang="en-US" smtClean="0"/>
              <a:t>2026/3/3</a:t>
            </a:fld>
            <a:endParaRPr kumimoji="1" lang="ja-JP" altLang="en-US"/>
          </a:p>
        </p:txBody>
      </p:sp>
      <p:sp>
        <p:nvSpPr>
          <p:cNvPr id="5" name="フッター プレースホルダー 4">
            <a:extLst>
              <a:ext uri="{FF2B5EF4-FFF2-40B4-BE49-F238E27FC236}">
                <a16:creationId xmlns:a16="http://schemas.microsoft.com/office/drawing/2014/main" id="{4652D4A6-47C1-76E5-9827-09C32C51354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63FCC9AF-D09C-9F9C-6CDF-787F38893259}"/>
              </a:ext>
            </a:extLst>
          </p:cNvPr>
          <p:cNvSpPr>
            <a:spLocks noGrp="1"/>
          </p:cNvSpPr>
          <p:nvPr>
            <p:ph type="sldNum" sz="quarter" idx="4"/>
          </p:nvPr>
        </p:nvSpPr>
        <p:spPr>
          <a:xfrm>
            <a:off x="11283352" y="115094"/>
            <a:ext cx="838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pPr algn="ctr"/>
            <a:fld id="{8D1BC46D-89B1-41A3-BBA1-F56BEABD0A90}" type="slidenum">
              <a:rPr lang="ja-JP" altLang="en-US" smtClean="0"/>
              <a:pPr algn="ctr"/>
              <a:t>‹#›</a:t>
            </a:fld>
            <a:endParaRPr lang="ja-JP" altLang="en-US"/>
          </a:p>
        </p:txBody>
      </p:sp>
    </p:spTree>
    <p:extLst>
      <p:ext uri="{BB962C8B-B14F-4D97-AF65-F5344CB8AC3E}">
        <p14:creationId xmlns:p14="http://schemas.microsoft.com/office/powerpoint/2010/main" val="36237144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6" r:id="rId5"/>
    <p:sldLayoutId id="2147483653" r:id="rId6"/>
    <p:sldLayoutId id="2147483654" r:id="rId7"/>
    <p:sldLayoutId id="2147483655" r:id="rId8"/>
  </p:sldLayoutIdLst>
  <p:hf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j-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j-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j-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j-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j-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B52B6F2-916C-5E7A-C693-13232F3A1713}"/>
              </a:ext>
            </a:extLst>
          </p:cNvPr>
          <p:cNvSpPr>
            <a:spLocks noGrp="1"/>
          </p:cNvSpPr>
          <p:nvPr>
            <p:ph type="ctrTitle"/>
          </p:nvPr>
        </p:nvSpPr>
        <p:spPr>
          <a:xfrm>
            <a:off x="1072178" y="1928809"/>
            <a:ext cx="9787667" cy="1655763"/>
          </a:xfrm>
        </p:spPr>
        <p:txBody>
          <a:bodyPr>
            <a:noAutofit/>
          </a:bodyPr>
          <a:lstStyle/>
          <a:p>
            <a:r>
              <a:rPr lang="ja-JP" altLang="en-US" sz="3200" b="1" dirty="0">
                <a:latin typeface="メイリオ" panose="020B0604030504040204" pitchFamily="50" charset="-128"/>
                <a:ea typeface="メイリオ" panose="020B0604030504040204" pitchFamily="50" charset="-128"/>
              </a:rPr>
              <a:t>所有者優先権を保証する</a:t>
            </a:r>
            <a:br>
              <a:rPr lang="en-US" altLang="ja-JP" sz="3200" b="1" dirty="0">
                <a:latin typeface="メイリオ" panose="020B0604030504040204" pitchFamily="50" charset="-128"/>
                <a:ea typeface="メイリオ" panose="020B0604030504040204" pitchFamily="50" charset="-128"/>
              </a:rPr>
            </a:br>
            <a:r>
              <a:rPr lang="ja-JP" altLang="en-US" sz="3200" b="1" dirty="0">
                <a:latin typeface="メイリオ" panose="020B0604030504040204" pitchFamily="50" charset="-128"/>
                <a:ea typeface="メイリオ" panose="020B0604030504040204" pitchFamily="50" charset="-128"/>
              </a:rPr>
              <a:t>プリエンプティブ方式を用いた</a:t>
            </a:r>
            <a:br>
              <a:rPr lang="en-US" altLang="ja-JP" sz="3200" b="1" dirty="0">
                <a:latin typeface="メイリオ" panose="020B0604030504040204" pitchFamily="50" charset="-128"/>
                <a:ea typeface="メイリオ" panose="020B0604030504040204" pitchFamily="50" charset="-128"/>
              </a:rPr>
            </a:br>
            <a:r>
              <a:rPr lang="ja-JP" altLang="en-US" sz="3200" b="1" dirty="0">
                <a:latin typeface="メイリオ" panose="020B0604030504040204" pitchFamily="50" charset="-128"/>
                <a:ea typeface="メイリオ" panose="020B0604030504040204" pitchFamily="50" charset="-128"/>
              </a:rPr>
              <a:t>学内</a:t>
            </a:r>
            <a:r>
              <a:rPr lang="en-US" altLang="ja-JP" sz="3200" b="1" dirty="0">
                <a:latin typeface="メイリオ" panose="020B0604030504040204" pitchFamily="50" charset="-128"/>
                <a:ea typeface="メイリオ" panose="020B0604030504040204" pitchFamily="50" charset="-128"/>
              </a:rPr>
              <a:t>GPU</a:t>
            </a:r>
            <a:r>
              <a:rPr lang="ja-JP" altLang="en-US" sz="3200" b="1" dirty="0">
                <a:latin typeface="メイリオ" panose="020B0604030504040204" pitchFamily="50" charset="-128"/>
                <a:ea typeface="メイリオ" panose="020B0604030504040204" pitchFamily="50" charset="-128"/>
              </a:rPr>
              <a:t>共有基盤の提案とユーザ参加行動の評価</a:t>
            </a:r>
            <a:endParaRPr kumimoji="1" lang="ja-JP" altLang="en-US" sz="3200" dirty="0"/>
          </a:p>
        </p:txBody>
      </p:sp>
      <p:sp>
        <p:nvSpPr>
          <p:cNvPr id="4" name="日付プレースホルダー 3">
            <a:extLst>
              <a:ext uri="{FF2B5EF4-FFF2-40B4-BE49-F238E27FC236}">
                <a16:creationId xmlns:a16="http://schemas.microsoft.com/office/drawing/2014/main" id="{67F54E07-85EE-5553-6864-9FE5FFD22D59}"/>
              </a:ext>
            </a:extLst>
          </p:cNvPr>
          <p:cNvSpPr>
            <a:spLocks noGrp="1"/>
          </p:cNvSpPr>
          <p:nvPr>
            <p:ph type="dt" sz="half" idx="10"/>
          </p:nvPr>
        </p:nvSpPr>
        <p:spPr/>
        <p:txBody>
          <a:bodyPr/>
          <a:lstStyle/>
          <a:p>
            <a:endParaRPr lang="ja-JP" altLang="en-US"/>
          </a:p>
        </p:txBody>
      </p:sp>
      <p:sp>
        <p:nvSpPr>
          <p:cNvPr id="5" name="テキスト プレースホルダー 4">
            <a:extLst>
              <a:ext uri="{FF2B5EF4-FFF2-40B4-BE49-F238E27FC236}">
                <a16:creationId xmlns:a16="http://schemas.microsoft.com/office/drawing/2014/main" id="{4E775116-9EEA-8BC4-FFDD-34C04598AA01}"/>
              </a:ext>
            </a:extLst>
          </p:cNvPr>
          <p:cNvSpPr>
            <a:spLocks noGrp="1"/>
          </p:cNvSpPr>
          <p:nvPr>
            <p:ph type="body" sz="quarter" idx="11"/>
          </p:nvPr>
        </p:nvSpPr>
        <p:spPr>
          <a:xfrm>
            <a:off x="7527235" y="4649808"/>
            <a:ext cx="1599727" cy="450386"/>
          </a:xfrm>
        </p:spPr>
        <p:txBody>
          <a:bodyPr>
            <a:normAutofit/>
          </a:bodyPr>
          <a:lstStyle/>
          <a:p>
            <a:r>
              <a:rPr lang="ja-JP" altLang="en-US" sz="2400" b="1" dirty="0"/>
              <a:t>大阪大学</a:t>
            </a:r>
            <a:endParaRPr kumimoji="1" lang="ja-JP" altLang="en-US" sz="2400" b="1" dirty="0"/>
          </a:p>
        </p:txBody>
      </p:sp>
      <p:sp>
        <p:nvSpPr>
          <p:cNvPr id="8" name="字幕 7">
            <a:extLst>
              <a:ext uri="{FF2B5EF4-FFF2-40B4-BE49-F238E27FC236}">
                <a16:creationId xmlns:a16="http://schemas.microsoft.com/office/drawing/2014/main" id="{346AAB66-6418-444C-B52B-AEB5CBA8D08A}"/>
              </a:ext>
            </a:extLst>
          </p:cNvPr>
          <p:cNvSpPr txBox="1">
            <a:spLocks noGrp="1"/>
          </p:cNvSpPr>
          <p:nvPr>
            <p:ph type="subTitle" idx="1"/>
          </p:nvPr>
        </p:nvSpPr>
        <p:spPr>
          <a:xfrm>
            <a:off x="2273694" y="3972694"/>
            <a:ext cx="9144000" cy="480131"/>
          </a:xfrm>
          <a:prstGeom prst="rect">
            <a:avLst/>
          </a:prstGeom>
          <a:noFill/>
        </p:spPr>
        <p:txBody>
          <a:bodyPr wrap="square" rtlCol="0">
            <a:spAutoFit/>
          </a:bodyPr>
          <a:lstStyle/>
          <a:p>
            <a:r>
              <a:rPr lang="zh-TW" altLang="en-US" u="none" dirty="0">
                <a:latin typeface="+mn-ea"/>
              </a:rPr>
              <a:t>櫻井 翔琉</a:t>
            </a:r>
            <a:r>
              <a:rPr lang="en-US" altLang="zh-TW" u="none" dirty="0">
                <a:latin typeface="+mn-ea"/>
              </a:rPr>
              <a:t>, </a:t>
            </a:r>
            <a:r>
              <a:rPr lang="zh-TW" altLang="en-US" u="none" dirty="0">
                <a:latin typeface="+mn-ea"/>
              </a:rPr>
              <a:t>源内 裕貴</a:t>
            </a:r>
            <a:r>
              <a:rPr lang="en-US" altLang="zh-TW" u="none" dirty="0">
                <a:latin typeface="+mn-ea"/>
              </a:rPr>
              <a:t>, </a:t>
            </a:r>
            <a:r>
              <a:rPr lang="zh-TW" altLang="en-US" u="none" dirty="0">
                <a:latin typeface="+mn-ea"/>
              </a:rPr>
              <a:t>大下 裕一</a:t>
            </a:r>
            <a:r>
              <a:rPr lang="en-US" altLang="zh-TW" u="none" dirty="0">
                <a:latin typeface="+mn-ea"/>
              </a:rPr>
              <a:t>, </a:t>
            </a:r>
            <a:r>
              <a:rPr lang="zh-TW" altLang="en-US" u="none" dirty="0">
                <a:latin typeface="+mn-ea"/>
              </a:rPr>
              <a:t>下西 英之</a:t>
            </a:r>
            <a:endParaRPr kumimoji="1" lang="ja-JP" altLang="en-US" sz="2800" u="none" dirty="0">
              <a:latin typeface="+mn-ea"/>
            </a:endParaRPr>
          </a:p>
        </p:txBody>
      </p:sp>
    </p:spTree>
    <p:extLst>
      <p:ext uri="{BB962C8B-B14F-4D97-AF65-F5344CB8AC3E}">
        <p14:creationId xmlns:p14="http://schemas.microsoft.com/office/powerpoint/2010/main" val="36812769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AFE4376B-0BE6-DC44-9A92-9FB4E9E793D6}"/>
              </a:ext>
            </a:extLst>
          </p:cNvPr>
          <p:cNvSpPr>
            <a:spLocks noGrp="1"/>
          </p:cNvSpPr>
          <p:nvPr>
            <p:ph idx="1"/>
          </p:nvPr>
        </p:nvSpPr>
        <p:spPr>
          <a:xfrm>
            <a:off x="838200" y="1253331"/>
            <a:ext cx="10515600" cy="4893469"/>
          </a:xfrm>
        </p:spPr>
        <p:txBody>
          <a:bodyPr/>
          <a:lstStyle/>
          <a:p>
            <a:pPr marL="0" indent="0">
              <a:lnSpc>
                <a:spcPct val="150000"/>
              </a:lnSpc>
              <a:buNone/>
            </a:pPr>
            <a:r>
              <a:rPr lang="en-US" altLang="ja-JP" b="1" u="sng" dirty="0">
                <a:solidFill>
                  <a:schemeClr val="accent3">
                    <a:lumMod val="75000"/>
                  </a:schemeClr>
                </a:solidFill>
                <a:latin typeface="+mj-ea"/>
              </a:rPr>
              <a:t>GPU</a:t>
            </a:r>
            <a:r>
              <a:rPr lang="ja-JP" altLang="en-US" b="1" u="sng" dirty="0">
                <a:solidFill>
                  <a:schemeClr val="accent3">
                    <a:lumMod val="75000"/>
                  </a:schemeClr>
                </a:solidFill>
                <a:latin typeface="+mj-ea"/>
              </a:rPr>
              <a:t>の需要増加</a:t>
            </a:r>
            <a:endParaRPr lang="en-US" altLang="ja-JP" b="1" u="sng" dirty="0">
              <a:solidFill>
                <a:schemeClr val="accent3">
                  <a:lumMod val="75000"/>
                </a:schemeClr>
              </a:solidFill>
              <a:latin typeface="+mj-ea"/>
            </a:endParaRPr>
          </a:p>
          <a:p>
            <a:pPr marL="0" indent="0">
              <a:lnSpc>
                <a:spcPct val="150000"/>
              </a:lnSpc>
              <a:buNone/>
            </a:pPr>
            <a:r>
              <a:rPr lang="en-US" altLang="ja-JP" sz="2000" dirty="0"/>
              <a:t>AI</a:t>
            </a:r>
            <a:r>
              <a:rPr lang="ja-JP" altLang="en-US" sz="2000" dirty="0"/>
              <a:t>・データサイエンス分野の発展に伴い、</a:t>
            </a:r>
            <a:r>
              <a:rPr lang="en-US" altLang="ja-JP" sz="2000" dirty="0"/>
              <a:t>GPU</a:t>
            </a:r>
            <a:r>
              <a:rPr lang="ja-JP" altLang="en-US" sz="2000" dirty="0"/>
              <a:t>需要は年々増加している。</a:t>
            </a:r>
            <a:br>
              <a:rPr lang="ja-JP" altLang="en-US" sz="2000" dirty="0"/>
            </a:br>
            <a:r>
              <a:rPr lang="ja-JP" altLang="en-US" sz="2000" dirty="0"/>
              <a:t>特にデータセンター向け</a:t>
            </a:r>
            <a:r>
              <a:rPr lang="en-US" altLang="ja-JP" sz="2000" dirty="0"/>
              <a:t>GPU</a:t>
            </a:r>
            <a:r>
              <a:rPr lang="ja-JP" altLang="en-US" sz="2000" dirty="0"/>
              <a:t>市場は、今後も高い成長率で拡大すると予測されている</a:t>
            </a:r>
            <a:r>
              <a:rPr lang="en-US" altLang="ja-JP" sz="2000" dirty="0"/>
              <a:t>¹</a:t>
            </a:r>
            <a:r>
              <a:rPr lang="ja-JP" altLang="en-US" sz="2000" dirty="0"/>
              <a:t>。</a:t>
            </a:r>
            <a:endParaRPr lang="en-US" altLang="ja-JP" sz="2000" dirty="0"/>
          </a:p>
          <a:p>
            <a:pPr marL="0" indent="0">
              <a:lnSpc>
                <a:spcPct val="150000"/>
              </a:lnSpc>
              <a:buNone/>
            </a:pPr>
            <a:r>
              <a:rPr lang="en-US" altLang="ja-JP" b="1" u="sng" dirty="0">
                <a:solidFill>
                  <a:schemeClr val="accent3">
                    <a:lumMod val="75000"/>
                  </a:schemeClr>
                </a:solidFill>
              </a:rPr>
              <a:t>GPU</a:t>
            </a:r>
            <a:r>
              <a:rPr lang="ja-JP" altLang="en-US" b="1" u="sng" dirty="0">
                <a:solidFill>
                  <a:schemeClr val="accent3">
                    <a:lumMod val="75000"/>
                  </a:schemeClr>
                </a:solidFill>
              </a:rPr>
              <a:t>資源の高価さ・調達困難性</a:t>
            </a:r>
            <a:endParaRPr lang="en-US" altLang="ja-JP" b="1" u="sng" dirty="0">
              <a:solidFill>
                <a:schemeClr val="accent3">
                  <a:lumMod val="75000"/>
                </a:schemeClr>
              </a:solidFill>
            </a:endParaRPr>
          </a:p>
          <a:p>
            <a:pPr marL="0" indent="0">
              <a:lnSpc>
                <a:spcPct val="150000"/>
              </a:lnSpc>
              <a:buNone/>
            </a:pPr>
            <a:r>
              <a:rPr lang="ja-JP" altLang="en-US" sz="2000" dirty="0"/>
              <a:t>高性能</a:t>
            </a:r>
            <a:r>
              <a:rPr lang="en-US" altLang="ja-JP" sz="2000" dirty="0"/>
              <a:t>GPU</a:t>
            </a:r>
            <a:r>
              <a:rPr lang="ja-JP" altLang="en-US" sz="2000" dirty="0"/>
              <a:t>は製造コストが高く、また</a:t>
            </a:r>
            <a:r>
              <a:rPr lang="en-US" altLang="ja-JP" sz="2000" dirty="0"/>
              <a:t>AI</a:t>
            </a:r>
            <a:r>
              <a:rPr lang="ja-JP" altLang="en-US" sz="2000" dirty="0"/>
              <a:t>用途の需要集中により供給が逼迫している</a:t>
            </a:r>
            <a:r>
              <a:rPr lang="en-US" altLang="ja-JP" sz="2000" dirty="0"/>
              <a:t>²</a:t>
            </a:r>
            <a:r>
              <a:rPr lang="ja-JP" altLang="en-US" sz="2000" dirty="0"/>
              <a:t>。</a:t>
            </a:r>
            <a:br>
              <a:rPr lang="ja-JP" altLang="en-US" sz="2000" dirty="0"/>
            </a:br>
            <a:r>
              <a:rPr lang="ja-JP" altLang="en-US" sz="2000" dirty="0"/>
              <a:t>→　研究機関や大学において、必要な時に十分な</a:t>
            </a:r>
            <a:r>
              <a:rPr lang="en-US" altLang="ja-JP" sz="2000" dirty="0"/>
              <a:t>GPU</a:t>
            </a:r>
            <a:r>
              <a:rPr lang="ja-JP" altLang="en-US" sz="2000" dirty="0"/>
              <a:t>資源を確保することは困難。</a:t>
            </a:r>
            <a:endParaRPr lang="en-US" altLang="ja-JP" sz="2000" dirty="0"/>
          </a:p>
          <a:p>
            <a:pPr marL="0" indent="0">
              <a:lnSpc>
                <a:spcPct val="150000"/>
              </a:lnSpc>
              <a:buNone/>
            </a:pPr>
            <a:endParaRPr lang="en-US" altLang="ja-JP" sz="2000" dirty="0"/>
          </a:p>
        </p:txBody>
      </p:sp>
      <p:sp>
        <p:nvSpPr>
          <p:cNvPr id="2" name="タイトル 1">
            <a:extLst>
              <a:ext uri="{FF2B5EF4-FFF2-40B4-BE49-F238E27FC236}">
                <a16:creationId xmlns:a16="http://schemas.microsoft.com/office/drawing/2014/main" id="{85D61B3A-AD9E-5C90-4810-806836B72722}"/>
              </a:ext>
            </a:extLst>
          </p:cNvPr>
          <p:cNvSpPr>
            <a:spLocks noGrp="1"/>
          </p:cNvSpPr>
          <p:nvPr>
            <p:ph type="title"/>
          </p:nvPr>
        </p:nvSpPr>
        <p:spPr/>
        <p:txBody>
          <a:bodyPr/>
          <a:lstStyle/>
          <a:p>
            <a:r>
              <a:rPr lang="ja-JP" altLang="en-US" b="1">
                <a:latin typeface="メイリオ" panose="020B0604030504040204" pitchFamily="50" charset="-128"/>
                <a:ea typeface="メイリオ" panose="020B0604030504040204" pitchFamily="50" charset="-128"/>
              </a:rPr>
              <a:t>背景</a:t>
            </a:r>
            <a:endParaRPr kumimoji="1" lang="ja-JP" altLang="en-US"/>
          </a:p>
        </p:txBody>
      </p:sp>
      <p:sp>
        <p:nvSpPr>
          <p:cNvPr id="4" name="スライド番号プレースホルダー 3">
            <a:extLst>
              <a:ext uri="{FF2B5EF4-FFF2-40B4-BE49-F238E27FC236}">
                <a16:creationId xmlns:a16="http://schemas.microsoft.com/office/drawing/2014/main" id="{2A0BE1F7-55D9-910D-C6AE-1E86520001C2}"/>
              </a:ext>
            </a:extLst>
          </p:cNvPr>
          <p:cNvSpPr>
            <a:spLocks noGrp="1"/>
          </p:cNvSpPr>
          <p:nvPr>
            <p:ph type="sldNum" sz="quarter" idx="12"/>
          </p:nvPr>
        </p:nvSpPr>
        <p:spPr/>
        <p:txBody>
          <a:bodyPr/>
          <a:lstStyle/>
          <a:p>
            <a:fld id="{8D1BC46D-89B1-41A3-BBA1-F56BEABD0A90}" type="slidenum">
              <a:rPr lang="ja-JP" altLang="en-US" smtClean="0"/>
              <a:pPr/>
              <a:t>2</a:t>
            </a:fld>
            <a:endParaRPr lang="ja-JP" altLang="en-US"/>
          </a:p>
        </p:txBody>
      </p:sp>
      <p:sp>
        <p:nvSpPr>
          <p:cNvPr id="23" name="テキスト ボックス 22">
            <a:extLst>
              <a:ext uri="{FF2B5EF4-FFF2-40B4-BE49-F238E27FC236}">
                <a16:creationId xmlns:a16="http://schemas.microsoft.com/office/drawing/2014/main" id="{0E3A94D9-8DA9-314B-FCD9-8E91040FBF5B}"/>
              </a:ext>
            </a:extLst>
          </p:cNvPr>
          <p:cNvSpPr txBox="1"/>
          <p:nvPr/>
        </p:nvSpPr>
        <p:spPr>
          <a:xfrm>
            <a:off x="3124200" y="6302416"/>
            <a:ext cx="10055903" cy="553998"/>
          </a:xfrm>
          <a:prstGeom prst="rect">
            <a:avLst/>
          </a:prstGeom>
          <a:noFill/>
        </p:spPr>
        <p:txBody>
          <a:bodyPr wrap="square" rtlCol="0">
            <a:spAutoFit/>
          </a:bodyPr>
          <a:lstStyle/>
          <a:p>
            <a:r>
              <a:rPr lang="en-US" altLang="ja-JP" sz="1200">
                <a:latin typeface="メイリオ" panose="020B0604030504040204" pitchFamily="50" charset="-128"/>
                <a:ea typeface="メイリオ" panose="020B0604030504040204" pitchFamily="50" charset="-128"/>
              </a:rPr>
              <a:t>[1] Precedence Research, AI Data Center GPU Market Size Report, 2024.</a:t>
            </a:r>
          </a:p>
          <a:p>
            <a:r>
              <a:rPr lang="en-US" altLang="ja-JP" sz="1200">
                <a:latin typeface="メイリオ" panose="020B0604030504040204" pitchFamily="50" charset="-128"/>
                <a:ea typeface="メイリオ" panose="020B0604030504040204" pitchFamily="50" charset="-128"/>
              </a:rPr>
              <a:t>[2] PC Gamer, AI demand is keeping GPU and memory prices high, 2024</a:t>
            </a:r>
            <a:r>
              <a:rPr lang="en-US" altLang="ja-JP"/>
              <a:t>.</a:t>
            </a:r>
            <a:endParaRPr kumimoji="1" lang="ja-JP" altLang="en-US"/>
          </a:p>
        </p:txBody>
      </p:sp>
      <p:sp>
        <p:nvSpPr>
          <p:cNvPr id="5" name="正方形/長方形 4">
            <a:extLst>
              <a:ext uri="{FF2B5EF4-FFF2-40B4-BE49-F238E27FC236}">
                <a16:creationId xmlns:a16="http://schemas.microsoft.com/office/drawing/2014/main" id="{51FA538A-6348-9BB4-2E2A-E78969F497A9}"/>
              </a:ext>
            </a:extLst>
          </p:cNvPr>
          <p:cNvSpPr/>
          <p:nvPr/>
        </p:nvSpPr>
        <p:spPr>
          <a:xfrm>
            <a:off x="2974110" y="5689600"/>
            <a:ext cx="6042890" cy="304800"/>
          </a:xfrm>
          <a:prstGeom prst="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96E70598-9FED-356E-DDDE-530E0D867D47}"/>
              </a:ext>
            </a:extLst>
          </p:cNvPr>
          <p:cNvSpPr/>
          <p:nvPr/>
        </p:nvSpPr>
        <p:spPr>
          <a:xfrm>
            <a:off x="3916218" y="5181126"/>
            <a:ext cx="3767086" cy="282971"/>
          </a:xfrm>
          <a:prstGeom prst="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21A731A3-5876-7CD9-AD8C-2EF1AD31AA8E}"/>
              </a:ext>
            </a:extLst>
          </p:cNvPr>
          <p:cNvSpPr txBox="1"/>
          <p:nvPr/>
        </p:nvSpPr>
        <p:spPr>
          <a:xfrm>
            <a:off x="2202704" y="5012491"/>
            <a:ext cx="7015186" cy="1354217"/>
          </a:xfrm>
          <a:prstGeom prst="rect">
            <a:avLst/>
          </a:prstGeom>
          <a:noFill/>
        </p:spPr>
        <p:txBody>
          <a:bodyPr wrap="square" rtlCol="0">
            <a:spAutoFit/>
          </a:bodyPr>
          <a:lstStyle/>
          <a:p>
            <a:pPr algn="ctr"/>
            <a:r>
              <a:rPr kumimoji="1" lang="ja-JP" altLang="en-US" sz="3200" b="1" dirty="0"/>
              <a:t>学内</a:t>
            </a:r>
            <a:r>
              <a:rPr kumimoji="1" lang="en-US" altLang="ja-JP" sz="3200" b="1" dirty="0"/>
              <a:t>GPU</a:t>
            </a:r>
            <a:r>
              <a:rPr kumimoji="1" lang="ja-JP" altLang="en-US" sz="3200" b="1" dirty="0"/>
              <a:t>共有基盤</a:t>
            </a:r>
            <a:endParaRPr kumimoji="1" lang="en-US" altLang="ja-JP" sz="3200" b="1" dirty="0"/>
          </a:p>
          <a:p>
            <a:pPr algn="ctr"/>
            <a:r>
              <a:rPr lang="ja-JP" altLang="en-US" sz="3200" b="1" dirty="0">
                <a:solidFill>
                  <a:schemeClr val="accent3">
                    <a:lumMod val="75000"/>
                  </a:schemeClr>
                </a:solidFill>
              </a:rPr>
              <a:t>「</a:t>
            </a:r>
            <a:r>
              <a:rPr lang="en-US" altLang="ja-JP" sz="3200" b="1" dirty="0"/>
              <a:t>Air Computing Pool</a:t>
            </a:r>
            <a:r>
              <a:rPr lang="ja-JP" altLang="en-US" sz="3200" b="1" dirty="0"/>
              <a:t>」を検討中</a:t>
            </a:r>
            <a:endParaRPr lang="en-US" altLang="ja-JP" sz="3200" b="1" dirty="0"/>
          </a:p>
          <a:p>
            <a:endParaRPr kumimoji="1" lang="ja-JP" altLang="en-US" dirty="0"/>
          </a:p>
        </p:txBody>
      </p:sp>
    </p:spTree>
    <p:extLst>
      <p:ext uri="{BB962C8B-B14F-4D97-AF65-F5344CB8AC3E}">
        <p14:creationId xmlns:p14="http://schemas.microsoft.com/office/powerpoint/2010/main" val="713329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 name="図 53" descr="ダイアグラム&#10;&#10;AI 生成コンテンツは誤りを含む可能性があります。">
            <a:extLst>
              <a:ext uri="{FF2B5EF4-FFF2-40B4-BE49-F238E27FC236}">
                <a16:creationId xmlns:a16="http://schemas.microsoft.com/office/drawing/2014/main" id="{39D86E21-1A84-380D-FE90-E395AAE3594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148" y="1267691"/>
            <a:ext cx="7885536" cy="4892964"/>
          </a:xfrm>
          <a:prstGeom prst="rect">
            <a:avLst/>
          </a:prstGeom>
        </p:spPr>
      </p:pic>
      <p:sp>
        <p:nvSpPr>
          <p:cNvPr id="2" name="タイトル 1">
            <a:extLst>
              <a:ext uri="{FF2B5EF4-FFF2-40B4-BE49-F238E27FC236}">
                <a16:creationId xmlns:a16="http://schemas.microsoft.com/office/drawing/2014/main" id="{FDD48FF9-7E2F-CD35-8A02-3A48287A73E0}"/>
              </a:ext>
            </a:extLst>
          </p:cNvPr>
          <p:cNvSpPr>
            <a:spLocks noGrp="1"/>
          </p:cNvSpPr>
          <p:nvPr>
            <p:ph type="title"/>
          </p:nvPr>
        </p:nvSpPr>
        <p:spPr/>
        <p:txBody>
          <a:bodyPr/>
          <a:lstStyle/>
          <a:p>
            <a:r>
              <a:rPr lang="en-US" altLang="ja-JP"/>
              <a:t>“Air Computing Pool”</a:t>
            </a:r>
            <a:r>
              <a:rPr lang="ja-JP" altLang="en-US"/>
              <a:t>とは</a:t>
            </a:r>
            <a:endParaRPr kumimoji="1" lang="ja-JP" altLang="en-US"/>
          </a:p>
        </p:txBody>
      </p:sp>
      <p:sp>
        <p:nvSpPr>
          <p:cNvPr id="4" name="スライド番号プレースホルダー 3">
            <a:extLst>
              <a:ext uri="{FF2B5EF4-FFF2-40B4-BE49-F238E27FC236}">
                <a16:creationId xmlns:a16="http://schemas.microsoft.com/office/drawing/2014/main" id="{E3DC26F3-E565-9B46-EB01-7031E3D203E8}"/>
              </a:ext>
            </a:extLst>
          </p:cNvPr>
          <p:cNvSpPr>
            <a:spLocks noGrp="1"/>
          </p:cNvSpPr>
          <p:nvPr>
            <p:ph type="sldNum" sz="quarter" idx="12"/>
          </p:nvPr>
        </p:nvSpPr>
        <p:spPr/>
        <p:txBody>
          <a:bodyPr/>
          <a:lstStyle/>
          <a:p>
            <a:fld id="{8D1BC46D-89B1-41A3-BBA1-F56BEABD0A90}" type="slidenum">
              <a:rPr lang="ja-JP" altLang="en-US" smtClean="0"/>
              <a:pPr/>
              <a:t>3</a:t>
            </a:fld>
            <a:endParaRPr lang="ja-JP" altLang="en-US"/>
          </a:p>
        </p:txBody>
      </p:sp>
      <p:sp>
        <p:nvSpPr>
          <p:cNvPr id="9" name="AutoShape 2" descr="サーバー複数　イラスト に対する画像結果">
            <a:extLst>
              <a:ext uri="{FF2B5EF4-FFF2-40B4-BE49-F238E27FC236}">
                <a16:creationId xmlns:a16="http://schemas.microsoft.com/office/drawing/2014/main" id="{F93E315D-73D0-77EB-7256-B1DE030CB29A}"/>
              </a:ext>
            </a:extLst>
          </p:cNvPr>
          <p:cNvSpPr>
            <a:spLocks noChangeAspect="1" noChangeArrowheads="1"/>
          </p:cNvSpPr>
          <p:nvPr/>
        </p:nvSpPr>
        <p:spPr bwMode="auto">
          <a:xfrm>
            <a:off x="6946619" y="4655182"/>
            <a:ext cx="2285991" cy="2351305"/>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sp>
        <p:nvSpPr>
          <p:cNvPr id="10" name="AutoShape 4" descr="サーバー複数　イラスト に対する画像結果">
            <a:extLst>
              <a:ext uri="{FF2B5EF4-FFF2-40B4-BE49-F238E27FC236}">
                <a16:creationId xmlns:a16="http://schemas.microsoft.com/office/drawing/2014/main" id="{709DC914-D693-766D-685C-5179189B502E}"/>
              </a:ext>
            </a:extLst>
          </p:cNvPr>
          <p:cNvSpPr>
            <a:spLocks noChangeAspect="1" noChangeArrowheads="1"/>
          </p:cNvSpPr>
          <p:nvPr/>
        </p:nvSpPr>
        <p:spPr bwMode="auto">
          <a:xfrm>
            <a:off x="7939733" y="5689798"/>
            <a:ext cx="1133694" cy="113369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sp>
        <p:nvSpPr>
          <p:cNvPr id="6" name="吹き出し: 角を丸めた四角形 5">
            <a:extLst>
              <a:ext uri="{FF2B5EF4-FFF2-40B4-BE49-F238E27FC236}">
                <a16:creationId xmlns:a16="http://schemas.microsoft.com/office/drawing/2014/main" id="{1ECD15FA-CA2F-8C61-6029-E0E24F926375}"/>
              </a:ext>
            </a:extLst>
          </p:cNvPr>
          <p:cNvSpPr/>
          <p:nvPr/>
        </p:nvSpPr>
        <p:spPr>
          <a:xfrm>
            <a:off x="138401" y="2233061"/>
            <a:ext cx="2723823" cy="987308"/>
          </a:xfrm>
          <a:prstGeom prst="wedgeRoundRectCallout">
            <a:avLst>
              <a:gd name="adj1" fmla="val -1339"/>
              <a:gd name="adj2" fmla="val 88439"/>
              <a:gd name="adj3" fmla="val 16667"/>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テキスト ボックス 2">
            <a:extLst>
              <a:ext uri="{FF2B5EF4-FFF2-40B4-BE49-F238E27FC236}">
                <a16:creationId xmlns:a16="http://schemas.microsoft.com/office/drawing/2014/main" id="{2922FCE5-3C4E-4645-DB0C-057EF8277D45}"/>
              </a:ext>
            </a:extLst>
          </p:cNvPr>
          <p:cNvSpPr txBox="1"/>
          <p:nvPr/>
        </p:nvSpPr>
        <p:spPr>
          <a:xfrm>
            <a:off x="199944" y="2387065"/>
            <a:ext cx="2723823" cy="646331"/>
          </a:xfrm>
          <a:prstGeom prst="rect">
            <a:avLst/>
          </a:prstGeom>
          <a:noFill/>
        </p:spPr>
        <p:txBody>
          <a:bodyPr wrap="none" rtlCol="0">
            <a:spAutoFit/>
          </a:bodyPr>
          <a:lstStyle/>
          <a:p>
            <a:pPr algn="ctr"/>
            <a:r>
              <a:rPr kumimoji="1" lang="ja-JP" altLang="en-US" b="1"/>
              <a:t>使用していない時間帯に</a:t>
            </a:r>
            <a:endParaRPr kumimoji="1" lang="en-US" altLang="ja-JP" b="1"/>
          </a:p>
          <a:p>
            <a:pPr algn="ctr"/>
            <a:r>
              <a:rPr kumimoji="1" lang="en-US" altLang="ja-JP" b="1"/>
              <a:t>GPU</a:t>
            </a:r>
            <a:r>
              <a:rPr kumimoji="1" lang="ja-JP" altLang="en-US" b="1"/>
              <a:t>を共有</a:t>
            </a:r>
          </a:p>
        </p:txBody>
      </p:sp>
      <p:sp>
        <p:nvSpPr>
          <p:cNvPr id="7" name="吹き出し: 角を丸めた四角形 6">
            <a:extLst>
              <a:ext uri="{FF2B5EF4-FFF2-40B4-BE49-F238E27FC236}">
                <a16:creationId xmlns:a16="http://schemas.microsoft.com/office/drawing/2014/main" id="{140E4113-A693-B3E0-92EA-B3069388DC73}"/>
              </a:ext>
            </a:extLst>
          </p:cNvPr>
          <p:cNvSpPr/>
          <p:nvPr/>
        </p:nvSpPr>
        <p:spPr>
          <a:xfrm>
            <a:off x="9073427" y="1985597"/>
            <a:ext cx="2723823" cy="987308"/>
          </a:xfrm>
          <a:prstGeom prst="wedgeRoundRectCallout">
            <a:avLst>
              <a:gd name="adj1" fmla="val -36676"/>
              <a:gd name="adj2" fmla="val 101113"/>
              <a:gd name="adj3" fmla="val 16667"/>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A8A730E1-518F-F37F-9061-999F1F00FDAE}"/>
              </a:ext>
            </a:extLst>
          </p:cNvPr>
          <p:cNvSpPr txBox="1"/>
          <p:nvPr/>
        </p:nvSpPr>
        <p:spPr>
          <a:xfrm>
            <a:off x="9073426" y="2294585"/>
            <a:ext cx="2723823" cy="369332"/>
          </a:xfrm>
          <a:prstGeom prst="rect">
            <a:avLst/>
          </a:prstGeom>
          <a:noFill/>
        </p:spPr>
        <p:txBody>
          <a:bodyPr wrap="none" rtlCol="0">
            <a:spAutoFit/>
          </a:bodyPr>
          <a:lstStyle/>
          <a:p>
            <a:pPr algn="ctr"/>
            <a:r>
              <a:rPr kumimoji="1" lang="ja-JP" altLang="en-US" b="1"/>
              <a:t>他資源の遊休時間に利用</a:t>
            </a:r>
          </a:p>
        </p:txBody>
      </p:sp>
    </p:spTree>
    <p:extLst>
      <p:ext uri="{BB962C8B-B14F-4D97-AF65-F5344CB8AC3E}">
        <p14:creationId xmlns:p14="http://schemas.microsoft.com/office/powerpoint/2010/main" val="15603747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四角形: 角を丸くする 2">
            <a:extLst>
              <a:ext uri="{FF2B5EF4-FFF2-40B4-BE49-F238E27FC236}">
                <a16:creationId xmlns:a16="http://schemas.microsoft.com/office/drawing/2014/main" id="{2B105007-E1D6-2D5D-F152-5202985386E4}"/>
              </a:ext>
            </a:extLst>
          </p:cNvPr>
          <p:cNvSpPr/>
          <p:nvPr/>
        </p:nvSpPr>
        <p:spPr>
          <a:xfrm>
            <a:off x="382402" y="2818388"/>
            <a:ext cx="11427195" cy="228880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342BA726-CB51-AB18-359B-A449BB1A1139}"/>
              </a:ext>
            </a:extLst>
          </p:cNvPr>
          <p:cNvSpPr>
            <a:spLocks noGrp="1"/>
          </p:cNvSpPr>
          <p:nvPr>
            <p:ph type="title"/>
          </p:nvPr>
        </p:nvSpPr>
        <p:spPr/>
        <p:txBody>
          <a:bodyPr/>
          <a:lstStyle/>
          <a:p>
            <a:r>
              <a:rPr lang="ja-JP" altLang="en-US" b="1">
                <a:latin typeface="メイリオ" panose="020B0604030504040204" pitchFamily="50" charset="-128"/>
                <a:ea typeface="メイリオ" panose="020B0604030504040204" pitchFamily="50" charset="-128"/>
              </a:rPr>
              <a:t>研究目的</a:t>
            </a:r>
            <a:endParaRPr kumimoji="1" lang="ja-JP" altLang="en-US"/>
          </a:p>
        </p:txBody>
      </p:sp>
      <p:sp>
        <p:nvSpPr>
          <p:cNvPr id="4" name="スライド番号プレースホルダー 3">
            <a:extLst>
              <a:ext uri="{FF2B5EF4-FFF2-40B4-BE49-F238E27FC236}">
                <a16:creationId xmlns:a16="http://schemas.microsoft.com/office/drawing/2014/main" id="{08775162-1789-39EE-819D-E13CD2D3C08D}"/>
              </a:ext>
            </a:extLst>
          </p:cNvPr>
          <p:cNvSpPr>
            <a:spLocks noGrp="1"/>
          </p:cNvSpPr>
          <p:nvPr>
            <p:ph type="sldNum" sz="quarter" idx="12"/>
          </p:nvPr>
        </p:nvSpPr>
        <p:spPr/>
        <p:txBody>
          <a:bodyPr/>
          <a:lstStyle/>
          <a:p>
            <a:fld id="{8D1BC46D-89B1-41A3-BBA1-F56BEABD0A90}" type="slidenum">
              <a:rPr lang="ja-JP" altLang="en-US" smtClean="0"/>
              <a:pPr/>
              <a:t>4</a:t>
            </a:fld>
            <a:endParaRPr lang="ja-JP" altLang="en-US"/>
          </a:p>
        </p:txBody>
      </p:sp>
      <p:sp>
        <p:nvSpPr>
          <p:cNvPr id="41" name="テキスト ボックス 40">
            <a:extLst>
              <a:ext uri="{FF2B5EF4-FFF2-40B4-BE49-F238E27FC236}">
                <a16:creationId xmlns:a16="http://schemas.microsoft.com/office/drawing/2014/main" id="{E324E133-541E-36FF-73C0-02DDB9A8A616}"/>
              </a:ext>
            </a:extLst>
          </p:cNvPr>
          <p:cNvSpPr txBox="1"/>
          <p:nvPr/>
        </p:nvSpPr>
        <p:spPr>
          <a:xfrm>
            <a:off x="629222" y="966787"/>
            <a:ext cx="10724578" cy="5847755"/>
          </a:xfrm>
          <a:prstGeom prst="rect">
            <a:avLst/>
          </a:prstGeom>
          <a:noFill/>
        </p:spPr>
        <p:txBody>
          <a:bodyPr wrap="square" rtlCol="0">
            <a:spAutoFit/>
          </a:bodyPr>
          <a:lstStyle/>
          <a:p>
            <a:pPr>
              <a:lnSpc>
                <a:spcPct val="150000"/>
              </a:lnSpc>
            </a:pPr>
            <a:r>
              <a:rPr lang="en-US" altLang="ja-JP" sz="2400" b="1" dirty="0"/>
              <a:t>2000</a:t>
            </a:r>
            <a:r>
              <a:rPr lang="ja-JP" altLang="en-US" sz="2400" b="1" dirty="0"/>
              <a:t>年代：</a:t>
            </a:r>
            <a:r>
              <a:rPr lang="ja-JP" altLang="en-US" sz="2400" b="1" dirty="0">
                <a:solidFill>
                  <a:schemeClr val="accent3">
                    <a:lumMod val="75000"/>
                  </a:schemeClr>
                </a:solidFill>
              </a:rPr>
              <a:t>グリッドコンピューティング</a:t>
            </a:r>
            <a:endParaRPr lang="en-US" altLang="ja-JP" sz="2400" b="1" dirty="0">
              <a:solidFill>
                <a:schemeClr val="accent3">
                  <a:lumMod val="75000"/>
                </a:schemeClr>
              </a:solidFill>
            </a:endParaRPr>
          </a:p>
          <a:p>
            <a:pPr>
              <a:lnSpc>
                <a:spcPct val="150000"/>
              </a:lnSpc>
            </a:pPr>
            <a:r>
              <a:rPr lang="ja-JP" altLang="en-US" sz="2400" dirty="0"/>
              <a:t>資源提供はボランティアであり、資源提供者の権利保護が十分に設計されていなかった　</a:t>
            </a:r>
            <a:r>
              <a:rPr lang="ja-JP" altLang="en-US" sz="2400" b="1" dirty="0">
                <a:solidFill>
                  <a:schemeClr val="accent3">
                    <a:lumMod val="75000"/>
                  </a:schemeClr>
                </a:solidFill>
              </a:rPr>
              <a:t>→　</a:t>
            </a:r>
            <a:r>
              <a:rPr lang="ja-JP" altLang="en-US" sz="2400" dirty="0"/>
              <a:t>持続的な運用が</a:t>
            </a:r>
            <a:r>
              <a:rPr lang="ja-JP" altLang="en-US" sz="2400" b="1" dirty="0">
                <a:solidFill>
                  <a:schemeClr val="accent3">
                    <a:lumMod val="75000"/>
                  </a:schemeClr>
                </a:solidFill>
              </a:rPr>
              <a:t>困難</a:t>
            </a:r>
            <a:endParaRPr lang="en-US" altLang="ja-JP" sz="2400" b="1" dirty="0">
              <a:solidFill>
                <a:schemeClr val="accent3">
                  <a:lumMod val="75000"/>
                </a:schemeClr>
              </a:solidFill>
            </a:endParaRPr>
          </a:p>
          <a:p>
            <a:pPr>
              <a:lnSpc>
                <a:spcPct val="200000"/>
              </a:lnSpc>
            </a:pPr>
            <a:r>
              <a:rPr lang="ja-JP" altLang="en-US" sz="2800" b="1" dirty="0">
                <a:solidFill>
                  <a:schemeClr val="accent3">
                    <a:lumMod val="75000"/>
                  </a:schemeClr>
                </a:solidFill>
              </a:rPr>
              <a:t>目的：</a:t>
            </a:r>
            <a:r>
              <a:rPr lang="ja-JP" altLang="en-US" sz="2800" b="1" u="sng" dirty="0">
                <a:solidFill>
                  <a:schemeClr val="accent3">
                    <a:lumMod val="75000"/>
                  </a:schemeClr>
                </a:solidFill>
              </a:rPr>
              <a:t>「</a:t>
            </a:r>
            <a:r>
              <a:rPr lang="en-US" altLang="ja-JP" sz="2800" b="1" u="sng" dirty="0">
                <a:solidFill>
                  <a:schemeClr val="accent3">
                    <a:lumMod val="75000"/>
                  </a:schemeClr>
                </a:solidFill>
              </a:rPr>
              <a:t>ACP</a:t>
            </a:r>
            <a:r>
              <a:rPr lang="ja-JP" altLang="en-US" sz="2800" b="1" u="sng" dirty="0">
                <a:solidFill>
                  <a:schemeClr val="accent3">
                    <a:lumMod val="75000"/>
                  </a:schemeClr>
                </a:solidFill>
              </a:rPr>
              <a:t>」の普及と持続的な運用</a:t>
            </a:r>
            <a:endParaRPr lang="en-US" altLang="ja-JP" sz="2800" b="1" u="sng" dirty="0">
              <a:solidFill>
                <a:schemeClr val="accent3">
                  <a:lumMod val="75000"/>
                </a:schemeClr>
              </a:solidFill>
            </a:endParaRPr>
          </a:p>
          <a:p>
            <a:pPr>
              <a:lnSpc>
                <a:spcPct val="200000"/>
              </a:lnSpc>
            </a:pPr>
            <a:r>
              <a:rPr lang="ja-JP" altLang="en-US" sz="2400" dirty="0"/>
              <a:t>各研究室が保有する</a:t>
            </a:r>
            <a:r>
              <a:rPr lang="en-US" altLang="ja-JP" sz="2400" dirty="0"/>
              <a:t>GPU</a:t>
            </a:r>
            <a:r>
              <a:rPr lang="ja-JP" altLang="en-US" sz="2400" dirty="0"/>
              <a:t>をより多く提供してもらえて、持続的な運用が可能となる制度設計を構築すること</a:t>
            </a:r>
            <a:endParaRPr lang="en-US" altLang="ja-JP" sz="2400" dirty="0"/>
          </a:p>
          <a:p>
            <a:pPr>
              <a:lnSpc>
                <a:spcPct val="200000"/>
              </a:lnSpc>
            </a:pPr>
            <a:r>
              <a:rPr lang="en-US" altLang="ja-JP" sz="2400" dirty="0"/>
              <a:t>ACP</a:t>
            </a:r>
            <a:r>
              <a:rPr lang="ja-JP" altLang="en-US" sz="2400" dirty="0"/>
              <a:t>の普及・持続には、</a:t>
            </a:r>
            <a:r>
              <a:rPr lang="ja-JP" altLang="en-US" sz="2400" b="1" dirty="0">
                <a:solidFill>
                  <a:schemeClr val="accent2"/>
                </a:solidFill>
              </a:rPr>
              <a:t>善意による提供</a:t>
            </a:r>
            <a:r>
              <a:rPr lang="ja-JP" altLang="en-US" sz="2400" dirty="0"/>
              <a:t>ではなく、ユーザーが</a:t>
            </a:r>
            <a:endParaRPr lang="en-US" altLang="ja-JP" sz="2400" dirty="0"/>
          </a:p>
          <a:p>
            <a:pPr>
              <a:lnSpc>
                <a:spcPct val="200000"/>
              </a:lnSpc>
            </a:pPr>
            <a:r>
              <a:rPr lang="ja-JP" altLang="en-US" sz="2400" b="1" dirty="0">
                <a:solidFill>
                  <a:schemeClr val="accent3">
                    <a:lumMod val="75000"/>
                  </a:schemeClr>
                </a:solidFill>
              </a:rPr>
              <a:t>　　　</a:t>
            </a:r>
            <a:r>
              <a:rPr lang="ja-JP" altLang="en-US" sz="2400" b="1" u="sng" dirty="0">
                <a:solidFill>
                  <a:schemeClr val="accent3">
                    <a:lumMod val="75000"/>
                  </a:schemeClr>
                </a:solidFill>
              </a:rPr>
              <a:t>自発的に資源を提供するインセンティブの設計が必要</a:t>
            </a:r>
            <a:endParaRPr lang="en-US" altLang="ja-JP" sz="2400" u="sng" dirty="0">
              <a:solidFill>
                <a:schemeClr val="accent3">
                  <a:lumMod val="75000"/>
                </a:schemeClr>
              </a:solidFill>
            </a:endParaRPr>
          </a:p>
          <a:p>
            <a:endParaRPr kumimoji="1" lang="ja-JP" altLang="en-US" dirty="0"/>
          </a:p>
        </p:txBody>
      </p:sp>
    </p:spTree>
    <p:extLst>
      <p:ext uri="{BB962C8B-B14F-4D97-AF65-F5344CB8AC3E}">
        <p14:creationId xmlns:p14="http://schemas.microsoft.com/office/powerpoint/2010/main" val="26342245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9CE2DA86-15D3-3D29-A8DC-6BF2A3868776}"/>
              </a:ext>
            </a:extLst>
          </p:cNvPr>
          <p:cNvSpPr>
            <a:spLocks noGrp="1"/>
          </p:cNvSpPr>
          <p:nvPr>
            <p:ph idx="1"/>
          </p:nvPr>
        </p:nvSpPr>
        <p:spPr>
          <a:xfrm>
            <a:off x="763349" y="926540"/>
            <a:ext cx="10515600" cy="5327012"/>
          </a:xfrm>
        </p:spPr>
        <p:txBody>
          <a:bodyPr/>
          <a:lstStyle/>
          <a:p>
            <a:pPr marL="0" indent="0">
              <a:lnSpc>
                <a:spcPct val="200000"/>
              </a:lnSpc>
              <a:buNone/>
            </a:pPr>
            <a:r>
              <a:rPr lang="ja-JP" altLang="en-US" b="1">
                <a:solidFill>
                  <a:schemeClr val="accent3">
                    <a:lumMod val="75000"/>
                  </a:schemeClr>
                </a:solidFill>
              </a:rPr>
              <a:t>課題：</a:t>
            </a:r>
            <a:r>
              <a:rPr lang="ja-JP" altLang="en-US" b="1" u="sng">
                <a:solidFill>
                  <a:schemeClr val="accent3">
                    <a:lumMod val="75000"/>
                  </a:schemeClr>
                </a:solidFill>
              </a:rPr>
              <a:t>高性能な</a:t>
            </a:r>
            <a:r>
              <a:rPr lang="en-US" altLang="ja-JP" b="1" u="sng">
                <a:solidFill>
                  <a:schemeClr val="accent3">
                    <a:lumMod val="75000"/>
                  </a:schemeClr>
                </a:solidFill>
              </a:rPr>
              <a:t>GPU</a:t>
            </a:r>
            <a:r>
              <a:rPr lang="ja-JP" altLang="en-US" b="1" u="sng">
                <a:solidFill>
                  <a:schemeClr val="accent3">
                    <a:lumMod val="75000"/>
                  </a:schemeClr>
                </a:solidFill>
              </a:rPr>
              <a:t>の提供者が参加しにくい</a:t>
            </a:r>
            <a:endParaRPr lang="en-US" altLang="ja-JP" b="1" u="sng">
              <a:solidFill>
                <a:schemeClr val="accent3">
                  <a:lumMod val="75000"/>
                </a:schemeClr>
              </a:solidFill>
            </a:endParaRPr>
          </a:p>
        </p:txBody>
      </p:sp>
      <p:sp>
        <p:nvSpPr>
          <p:cNvPr id="5" name="楕円 4">
            <a:extLst>
              <a:ext uri="{FF2B5EF4-FFF2-40B4-BE49-F238E27FC236}">
                <a16:creationId xmlns:a16="http://schemas.microsoft.com/office/drawing/2014/main" id="{7808E865-6A3F-1574-BE92-4F6A2EB2CCB6}"/>
              </a:ext>
            </a:extLst>
          </p:cNvPr>
          <p:cNvSpPr/>
          <p:nvPr/>
        </p:nvSpPr>
        <p:spPr>
          <a:xfrm>
            <a:off x="3702855" y="2189356"/>
            <a:ext cx="4399499" cy="1112206"/>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0382AD92-E30B-361B-31EA-59AE651F5778}"/>
              </a:ext>
            </a:extLst>
          </p:cNvPr>
          <p:cNvSpPr>
            <a:spLocks noGrp="1"/>
          </p:cNvSpPr>
          <p:nvPr>
            <p:ph type="title"/>
          </p:nvPr>
        </p:nvSpPr>
        <p:spPr/>
        <p:txBody>
          <a:bodyPr/>
          <a:lstStyle/>
          <a:p>
            <a:r>
              <a:rPr kumimoji="1" lang="ja-JP" altLang="en-US"/>
              <a:t>課題</a:t>
            </a:r>
          </a:p>
        </p:txBody>
      </p:sp>
      <p:sp>
        <p:nvSpPr>
          <p:cNvPr id="4" name="スライド番号プレースホルダー 3">
            <a:extLst>
              <a:ext uri="{FF2B5EF4-FFF2-40B4-BE49-F238E27FC236}">
                <a16:creationId xmlns:a16="http://schemas.microsoft.com/office/drawing/2014/main" id="{FFE58D5B-88FC-C0AB-3664-E844FC494419}"/>
              </a:ext>
            </a:extLst>
          </p:cNvPr>
          <p:cNvSpPr>
            <a:spLocks noGrp="1"/>
          </p:cNvSpPr>
          <p:nvPr>
            <p:ph type="sldNum" sz="quarter" idx="12"/>
          </p:nvPr>
        </p:nvSpPr>
        <p:spPr/>
        <p:txBody>
          <a:bodyPr/>
          <a:lstStyle/>
          <a:p>
            <a:fld id="{8D1BC46D-89B1-41A3-BBA1-F56BEABD0A90}" type="slidenum">
              <a:rPr lang="ja-JP" altLang="en-US" smtClean="0"/>
              <a:pPr/>
              <a:t>5</a:t>
            </a:fld>
            <a:endParaRPr lang="ja-JP" altLang="en-US"/>
          </a:p>
        </p:txBody>
      </p:sp>
      <p:sp>
        <p:nvSpPr>
          <p:cNvPr id="47" name="テキスト ボックス 46">
            <a:extLst>
              <a:ext uri="{FF2B5EF4-FFF2-40B4-BE49-F238E27FC236}">
                <a16:creationId xmlns:a16="http://schemas.microsoft.com/office/drawing/2014/main" id="{8C922CC7-B019-5A58-8C17-809C4B6A356E}"/>
              </a:ext>
            </a:extLst>
          </p:cNvPr>
          <p:cNvSpPr txBox="1"/>
          <p:nvPr/>
        </p:nvSpPr>
        <p:spPr>
          <a:xfrm>
            <a:off x="-88117" y="3984317"/>
            <a:ext cx="6167176" cy="830997"/>
          </a:xfrm>
          <a:prstGeom prst="rect">
            <a:avLst/>
          </a:prstGeom>
          <a:noFill/>
          <a:ln>
            <a:noFill/>
          </a:ln>
        </p:spPr>
        <p:txBody>
          <a:bodyPr wrap="square" rtlCol="0">
            <a:spAutoFit/>
          </a:bodyPr>
          <a:lstStyle/>
          <a:p>
            <a:pPr algn="ctr"/>
            <a:r>
              <a:rPr kumimoji="1" lang="ja-JP" altLang="en-US" sz="2400" b="1"/>
              <a:t>資源所有者が自分の</a:t>
            </a:r>
            <a:endParaRPr kumimoji="1" lang="en-US" altLang="ja-JP" sz="2400" b="1"/>
          </a:p>
          <a:p>
            <a:pPr algn="ctr"/>
            <a:r>
              <a:rPr kumimoji="1" lang="en-US" altLang="ja-JP" sz="2400" b="1"/>
              <a:t>GPU</a:t>
            </a:r>
            <a:r>
              <a:rPr kumimoji="1" lang="ja-JP" altLang="en-US" sz="2400" b="1"/>
              <a:t>を自由に使えない</a:t>
            </a:r>
          </a:p>
        </p:txBody>
      </p:sp>
      <p:sp>
        <p:nvSpPr>
          <p:cNvPr id="39" name="コンテンツ プレースホルダー 2">
            <a:extLst>
              <a:ext uri="{FF2B5EF4-FFF2-40B4-BE49-F238E27FC236}">
                <a16:creationId xmlns:a16="http://schemas.microsoft.com/office/drawing/2014/main" id="{140A9F7B-5094-1145-CABD-B246C3FDD88B}"/>
              </a:ext>
            </a:extLst>
          </p:cNvPr>
          <p:cNvSpPr txBox="1">
            <a:spLocks/>
          </p:cNvSpPr>
          <p:nvPr/>
        </p:nvSpPr>
        <p:spPr>
          <a:xfrm>
            <a:off x="1803519" y="5823599"/>
            <a:ext cx="10515600" cy="6313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j-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j-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j-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j-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j-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None/>
            </a:pPr>
            <a:r>
              <a:rPr lang="ja-JP" altLang="en-US" b="1" u="sng" dirty="0">
                <a:solidFill>
                  <a:schemeClr val="accent2"/>
                </a:solidFill>
              </a:rPr>
              <a:t>提供者の利便性を最優先で保証する運用が不可欠</a:t>
            </a:r>
          </a:p>
        </p:txBody>
      </p:sp>
      <p:sp>
        <p:nvSpPr>
          <p:cNvPr id="9" name="テキスト ボックス 8">
            <a:extLst>
              <a:ext uri="{FF2B5EF4-FFF2-40B4-BE49-F238E27FC236}">
                <a16:creationId xmlns:a16="http://schemas.microsoft.com/office/drawing/2014/main" id="{8A85EFBF-F54E-70A5-D158-37C7AE14C7CF}"/>
              </a:ext>
            </a:extLst>
          </p:cNvPr>
          <p:cNvSpPr txBox="1"/>
          <p:nvPr/>
        </p:nvSpPr>
        <p:spPr>
          <a:xfrm>
            <a:off x="7509496" y="3988116"/>
            <a:ext cx="2822390" cy="830997"/>
          </a:xfrm>
          <a:prstGeom prst="rect">
            <a:avLst/>
          </a:prstGeom>
          <a:noFill/>
          <a:ln>
            <a:noFill/>
          </a:ln>
        </p:spPr>
        <p:txBody>
          <a:bodyPr wrap="square" rtlCol="0">
            <a:spAutoFit/>
          </a:bodyPr>
          <a:lstStyle/>
          <a:p>
            <a:pPr algn="ctr"/>
            <a:r>
              <a:rPr kumimoji="1" lang="ja-JP" altLang="en-US" sz="2400" b="1"/>
              <a:t>所有者が資源を</a:t>
            </a:r>
            <a:endParaRPr kumimoji="1" lang="en-US" altLang="ja-JP" sz="2400" b="1"/>
          </a:p>
          <a:p>
            <a:pPr algn="ctr"/>
            <a:r>
              <a:rPr kumimoji="1" lang="ja-JP" altLang="en-US" sz="2400" b="1"/>
              <a:t>提供しなくなる</a:t>
            </a:r>
          </a:p>
        </p:txBody>
      </p:sp>
      <p:sp>
        <p:nvSpPr>
          <p:cNvPr id="14" name="テキスト ボックス 13">
            <a:extLst>
              <a:ext uri="{FF2B5EF4-FFF2-40B4-BE49-F238E27FC236}">
                <a16:creationId xmlns:a16="http://schemas.microsoft.com/office/drawing/2014/main" id="{8C1294A3-72BA-7BCA-A2D7-469CF5BB4786}"/>
              </a:ext>
            </a:extLst>
          </p:cNvPr>
          <p:cNvSpPr txBox="1"/>
          <p:nvPr/>
        </p:nvSpPr>
        <p:spPr>
          <a:xfrm>
            <a:off x="3595340" y="2423878"/>
            <a:ext cx="4651581" cy="1107996"/>
          </a:xfrm>
          <a:prstGeom prst="rect">
            <a:avLst/>
          </a:prstGeom>
          <a:noFill/>
        </p:spPr>
        <p:txBody>
          <a:bodyPr wrap="square" rtlCol="0">
            <a:spAutoFit/>
          </a:bodyPr>
          <a:lstStyle/>
          <a:p>
            <a:pPr algn="ctr"/>
            <a:r>
              <a:rPr lang="ja-JP" altLang="en-US" sz="2400" b="1"/>
              <a:t>システム内で高性能な</a:t>
            </a:r>
            <a:r>
              <a:rPr lang="en-US" altLang="ja-JP" sz="2400" b="1"/>
              <a:t>GPU</a:t>
            </a:r>
          </a:p>
          <a:p>
            <a:pPr algn="ctr"/>
            <a:r>
              <a:rPr lang="ja-JP" altLang="en-US" sz="2400" b="1"/>
              <a:t>は他ユーザに人気</a:t>
            </a:r>
            <a:endParaRPr lang="en-US" altLang="ja-JP" sz="2400" b="1"/>
          </a:p>
          <a:p>
            <a:endParaRPr kumimoji="1" lang="ja-JP" altLang="en-US"/>
          </a:p>
        </p:txBody>
      </p:sp>
      <p:cxnSp>
        <p:nvCxnSpPr>
          <p:cNvPr id="17" name="コネクタ: 曲線 16">
            <a:extLst>
              <a:ext uri="{FF2B5EF4-FFF2-40B4-BE49-F238E27FC236}">
                <a16:creationId xmlns:a16="http://schemas.microsoft.com/office/drawing/2014/main" id="{25D2585F-6876-844D-71FD-128D0E8CFA1B}"/>
              </a:ext>
            </a:extLst>
          </p:cNvPr>
          <p:cNvCxnSpPr>
            <a:cxnSpLocks/>
            <a:stCxn id="10" idx="6"/>
            <a:endCxn id="14" idx="3"/>
          </p:cNvCxnSpPr>
          <p:nvPr/>
        </p:nvCxnSpPr>
        <p:spPr>
          <a:xfrm flipH="1" flipV="1">
            <a:off x="8246921" y="2977876"/>
            <a:ext cx="2906648" cy="1458063"/>
          </a:xfrm>
          <a:prstGeom prst="curvedConnector3">
            <a:avLst>
              <a:gd name="adj1" fmla="val -15809"/>
            </a:avLst>
          </a:prstGeom>
          <a:ln w="130175">
            <a:tailEnd type="triangle"/>
          </a:ln>
        </p:spPr>
        <p:style>
          <a:lnRef idx="2">
            <a:schemeClr val="accent1"/>
          </a:lnRef>
          <a:fillRef idx="0">
            <a:schemeClr val="accent1"/>
          </a:fillRef>
          <a:effectRef idx="1">
            <a:schemeClr val="accent1"/>
          </a:effectRef>
          <a:fontRef idx="minor">
            <a:schemeClr val="tx1"/>
          </a:fontRef>
        </p:style>
      </p:cxnSp>
      <p:sp>
        <p:nvSpPr>
          <p:cNvPr id="8" name="楕円 7">
            <a:extLst>
              <a:ext uri="{FF2B5EF4-FFF2-40B4-BE49-F238E27FC236}">
                <a16:creationId xmlns:a16="http://schemas.microsoft.com/office/drawing/2014/main" id="{B9251A78-F9AA-71D2-1417-6AE9E1CC6A00}"/>
              </a:ext>
            </a:extLst>
          </p:cNvPr>
          <p:cNvSpPr/>
          <p:nvPr/>
        </p:nvSpPr>
        <p:spPr>
          <a:xfrm>
            <a:off x="824937" y="3847512"/>
            <a:ext cx="4399499" cy="1112206"/>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楕円 9">
            <a:extLst>
              <a:ext uri="{FF2B5EF4-FFF2-40B4-BE49-F238E27FC236}">
                <a16:creationId xmlns:a16="http://schemas.microsoft.com/office/drawing/2014/main" id="{3250D516-3709-566A-C162-7900482E55B2}"/>
              </a:ext>
            </a:extLst>
          </p:cNvPr>
          <p:cNvSpPr/>
          <p:nvPr/>
        </p:nvSpPr>
        <p:spPr>
          <a:xfrm>
            <a:off x="6754070" y="3879836"/>
            <a:ext cx="4399499" cy="1112206"/>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コネクタ: 曲線 29">
            <a:extLst>
              <a:ext uri="{FF2B5EF4-FFF2-40B4-BE49-F238E27FC236}">
                <a16:creationId xmlns:a16="http://schemas.microsoft.com/office/drawing/2014/main" id="{96CB7BCD-C1FE-14D6-3632-26F6094732BE}"/>
              </a:ext>
            </a:extLst>
          </p:cNvPr>
          <p:cNvCxnSpPr>
            <a:cxnSpLocks/>
            <a:stCxn id="14" idx="1"/>
            <a:endCxn id="8" idx="2"/>
          </p:cNvCxnSpPr>
          <p:nvPr/>
        </p:nvCxnSpPr>
        <p:spPr>
          <a:xfrm rot="10800000" flipV="1">
            <a:off x="824938" y="2977875"/>
            <a:ext cx="2770403" cy="1425739"/>
          </a:xfrm>
          <a:prstGeom prst="curvedConnector3">
            <a:avLst>
              <a:gd name="adj1" fmla="val 108252"/>
            </a:avLst>
          </a:prstGeom>
          <a:ln w="130175">
            <a:tailEnd type="triangle"/>
          </a:ln>
        </p:spPr>
        <p:style>
          <a:lnRef idx="2">
            <a:schemeClr val="accent1"/>
          </a:lnRef>
          <a:fillRef idx="0">
            <a:schemeClr val="accent1"/>
          </a:fillRef>
          <a:effectRef idx="1">
            <a:schemeClr val="accent1"/>
          </a:effectRef>
          <a:fontRef idx="minor">
            <a:schemeClr val="tx1"/>
          </a:fontRef>
        </p:style>
      </p:cxnSp>
      <p:cxnSp>
        <p:nvCxnSpPr>
          <p:cNvPr id="36" name="コネクタ: 曲線 35">
            <a:extLst>
              <a:ext uri="{FF2B5EF4-FFF2-40B4-BE49-F238E27FC236}">
                <a16:creationId xmlns:a16="http://schemas.microsoft.com/office/drawing/2014/main" id="{FB083D6C-ACD2-E4EC-82D8-42A64B0F594A}"/>
              </a:ext>
            </a:extLst>
          </p:cNvPr>
          <p:cNvCxnSpPr>
            <a:cxnSpLocks/>
            <a:stCxn id="8" idx="4"/>
            <a:endCxn id="10" idx="4"/>
          </p:cNvCxnSpPr>
          <p:nvPr/>
        </p:nvCxnSpPr>
        <p:spPr>
          <a:xfrm rot="16200000" flipH="1">
            <a:off x="5973091" y="2011313"/>
            <a:ext cx="32324" cy="5929133"/>
          </a:xfrm>
          <a:prstGeom prst="curvedConnector3">
            <a:avLst>
              <a:gd name="adj1" fmla="val 1378700"/>
            </a:avLst>
          </a:prstGeom>
          <a:ln w="130175">
            <a:tailEnd type="triangle"/>
          </a:ln>
        </p:spPr>
        <p:style>
          <a:lnRef idx="2">
            <a:schemeClr val="accent1"/>
          </a:lnRef>
          <a:fillRef idx="0">
            <a:schemeClr val="accent1"/>
          </a:fillRef>
          <a:effectRef idx="1">
            <a:schemeClr val="accent1"/>
          </a:effectRef>
          <a:fontRef idx="minor">
            <a:schemeClr val="tx1"/>
          </a:fontRef>
        </p:style>
      </p:cxnSp>
      <p:sp>
        <p:nvSpPr>
          <p:cNvPr id="44" name="テキスト ボックス 43">
            <a:extLst>
              <a:ext uri="{FF2B5EF4-FFF2-40B4-BE49-F238E27FC236}">
                <a16:creationId xmlns:a16="http://schemas.microsoft.com/office/drawing/2014/main" id="{CAC1A2AC-AB56-AABB-7477-9C40E2FE1CED}"/>
              </a:ext>
            </a:extLst>
          </p:cNvPr>
          <p:cNvSpPr txBox="1"/>
          <p:nvPr/>
        </p:nvSpPr>
        <p:spPr>
          <a:xfrm>
            <a:off x="5124975" y="3642435"/>
            <a:ext cx="1629095" cy="523220"/>
          </a:xfrm>
          <a:prstGeom prst="rect">
            <a:avLst/>
          </a:prstGeom>
          <a:solidFill>
            <a:schemeClr val="bg1">
              <a:lumMod val="85000"/>
            </a:schemeClr>
          </a:solidFill>
        </p:spPr>
        <p:txBody>
          <a:bodyPr wrap="square" rtlCol="0">
            <a:spAutoFit/>
          </a:bodyPr>
          <a:lstStyle/>
          <a:p>
            <a:r>
              <a:rPr lang="ja-JP" altLang="en-US" sz="2800" b="1">
                <a:solidFill>
                  <a:schemeClr val="accent3">
                    <a:lumMod val="75000"/>
                  </a:schemeClr>
                </a:solidFill>
              </a:rPr>
              <a:t>負の連鎖</a:t>
            </a:r>
            <a:endParaRPr kumimoji="1" lang="ja-JP" altLang="en-US" sz="2800" b="1">
              <a:solidFill>
                <a:schemeClr val="accent3">
                  <a:lumMod val="75000"/>
                </a:schemeClr>
              </a:solidFill>
            </a:endParaRPr>
          </a:p>
        </p:txBody>
      </p:sp>
    </p:spTree>
    <p:extLst>
      <p:ext uri="{BB962C8B-B14F-4D97-AF65-F5344CB8AC3E}">
        <p14:creationId xmlns:p14="http://schemas.microsoft.com/office/powerpoint/2010/main" val="32665356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コンテンツ プレースホルダー 5" descr="ダイアグラム&#10;&#10;AI 生成コンテンツは誤りを含む可能性があります。">
            <a:extLst>
              <a:ext uri="{FF2B5EF4-FFF2-40B4-BE49-F238E27FC236}">
                <a16:creationId xmlns:a16="http://schemas.microsoft.com/office/drawing/2014/main" id="{C4F2CA39-E9E7-93DD-C9B3-840DA3575A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25903" y="2405440"/>
            <a:ext cx="7463125" cy="4404146"/>
          </a:xfrm>
          <a:prstGeom prst="rect">
            <a:avLst/>
          </a:prstGeom>
        </p:spPr>
      </p:pic>
      <p:sp>
        <p:nvSpPr>
          <p:cNvPr id="2" name="タイトル 1">
            <a:extLst>
              <a:ext uri="{FF2B5EF4-FFF2-40B4-BE49-F238E27FC236}">
                <a16:creationId xmlns:a16="http://schemas.microsoft.com/office/drawing/2014/main" id="{10FB8406-F743-92A1-05EF-EA728E2F5212}"/>
              </a:ext>
            </a:extLst>
          </p:cNvPr>
          <p:cNvSpPr>
            <a:spLocks noGrp="1"/>
          </p:cNvSpPr>
          <p:nvPr>
            <p:ph type="title"/>
          </p:nvPr>
        </p:nvSpPr>
        <p:spPr/>
        <p:txBody>
          <a:bodyPr/>
          <a:lstStyle/>
          <a:p>
            <a:r>
              <a:rPr lang="ja-JP" altLang="en-US" b="1">
                <a:latin typeface="メイリオ" panose="020B0604030504040204" pitchFamily="50" charset="-128"/>
                <a:ea typeface="メイリオ" panose="020B0604030504040204" pitchFamily="50" charset="-128"/>
              </a:rPr>
              <a:t>提案基盤</a:t>
            </a:r>
            <a:endParaRPr kumimoji="1" lang="ja-JP" altLang="en-US"/>
          </a:p>
        </p:txBody>
      </p:sp>
      <p:sp>
        <p:nvSpPr>
          <p:cNvPr id="4" name="スライド番号プレースホルダー 3">
            <a:extLst>
              <a:ext uri="{FF2B5EF4-FFF2-40B4-BE49-F238E27FC236}">
                <a16:creationId xmlns:a16="http://schemas.microsoft.com/office/drawing/2014/main" id="{FB6CCCC4-A7FC-777A-0E71-B2F49189DDCA}"/>
              </a:ext>
            </a:extLst>
          </p:cNvPr>
          <p:cNvSpPr>
            <a:spLocks noGrp="1"/>
          </p:cNvSpPr>
          <p:nvPr>
            <p:ph type="sldNum" sz="quarter" idx="12"/>
          </p:nvPr>
        </p:nvSpPr>
        <p:spPr/>
        <p:txBody>
          <a:bodyPr/>
          <a:lstStyle/>
          <a:p>
            <a:fld id="{8D1BC46D-89B1-41A3-BBA1-F56BEABD0A90}" type="slidenum">
              <a:rPr lang="ja-JP" altLang="en-US" smtClean="0"/>
              <a:pPr/>
              <a:t>6</a:t>
            </a:fld>
            <a:endParaRPr lang="ja-JP" altLang="en-US"/>
          </a:p>
        </p:txBody>
      </p:sp>
      <p:sp>
        <p:nvSpPr>
          <p:cNvPr id="60" name="正方形/長方形 59">
            <a:extLst>
              <a:ext uri="{FF2B5EF4-FFF2-40B4-BE49-F238E27FC236}">
                <a16:creationId xmlns:a16="http://schemas.microsoft.com/office/drawing/2014/main" id="{BE870CD7-9D8E-61BC-8008-C1DC2D66E354}"/>
              </a:ext>
            </a:extLst>
          </p:cNvPr>
          <p:cNvSpPr/>
          <p:nvPr/>
        </p:nvSpPr>
        <p:spPr>
          <a:xfrm>
            <a:off x="2983345" y="2128349"/>
            <a:ext cx="5689600" cy="277091"/>
          </a:xfrm>
          <a:prstGeom prst="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正方形/長方形 60">
            <a:extLst>
              <a:ext uri="{FF2B5EF4-FFF2-40B4-BE49-F238E27FC236}">
                <a16:creationId xmlns:a16="http://schemas.microsoft.com/office/drawing/2014/main" id="{6ECF8C11-1749-EF70-A396-65C0E4FB1C45}"/>
              </a:ext>
            </a:extLst>
          </p:cNvPr>
          <p:cNvSpPr/>
          <p:nvPr/>
        </p:nvSpPr>
        <p:spPr>
          <a:xfrm>
            <a:off x="1163784" y="1565836"/>
            <a:ext cx="9282546" cy="277091"/>
          </a:xfrm>
          <a:prstGeom prst="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テキスト ボックス 62">
            <a:extLst>
              <a:ext uri="{FF2B5EF4-FFF2-40B4-BE49-F238E27FC236}">
                <a16:creationId xmlns:a16="http://schemas.microsoft.com/office/drawing/2014/main" id="{E4DB6871-A1AF-4AD2-68B8-EA48012E1F19}"/>
              </a:ext>
            </a:extLst>
          </p:cNvPr>
          <p:cNvSpPr txBox="1"/>
          <p:nvPr/>
        </p:nvSpPr>
        <p:spPr>
          <a:xfrm>
            <a:off x="1071416" y="1279833"/>
            <a:ext cx="9559636" cy="1200329"/>
          </a:xfrm>
          <a:prstGeom prst="rect">
            <a:avLst/>
          </a:prstGeom>
          <a:noFill/>
          <a:ln w="44450">
            <a:solidFill>
              <a:schemeClr val="bg1"/>
            </a:solidFill>
          </a:ln>
        </p:spPr>
        <p:txBody>
          <a:bodyPr wrap="square" rtlCol="0">
            <a:spAutoFit/>
          </a:bodyPr>
          <a:lstStyle/>
          <a:p>
            <a:pPr algn="ctr"/>
            <a:r>
              <a:rPr lang="ja-JP" altLang="en-US" sz="3600" b="1">
                <a:solidFill>
                  <a:schemeClr val="accent1">
                    <a:lumMod val="50000"/>
                  </a:schemeClr>
                </a:solidFill>
                <a:latin typeface="メイリオ" panose="020B0604030504040204" pitchFamily="50" charset="-128"/>
                <a:ea typeface="メイリオ" panose="020B0604030504040204" pitchFamily="50" charset="-128"/>
              </a:rPr>
              <a:t>所有者優先権を保証するプリエンプティブ方式を用いた学内</a:t>
            </a:r>
            <a:r>
              <a:rPr lang="en-US" altLang="ja-JP" sz="3600" b="1">
                <a:solidFill>
                  <a:schemeClr val="accent1">
                    <a:lumMod val="50000"/>
                  </a:schemeClr>
                </a:solidFill>
                <a:latin typeface="メイリオ" panose="020B0604030504040204" pitchFamily="50" charset="-128"/>
                <a:ea typeface="メイリオ" panose="020B0604030504040204" pitchFamily="50" charset="-128"/>
              </a:rPr>
              <a:t>GPU</a:t>
            </a:r>
            <a:r>
              <a:rPr lang="ja-JP" altLang="en-US" sz="3600" b="1">
                <a:solidFill>
                  <a:schemeClr val="accent1">
                    <a:lumMod val="50000"/>
                  </a:schemeClr>
                </a:solidFill>
                <a:latin typeface="メイリオ" panose="020B0604030504040204" pitchFamily="50" charset="-128"/>
                <a:ea typeface="メイリオ" panose="020B0604030504040204" pitchFamily="50" charset="-128"/>
              </a:rPr>
              <a:t>共有基盤</a:t>
            </a:r>
            <a:endParaRPr kumimoji="1" lang="ja-JP" altLang="en-US" sz="3600">
              <a:solidFill>
                <a:schemeClr val="accent1">
                  <a:lumMod val="50000"/>
                </a:schemeClr>
              </a:solidFill>
            </a:endParaRPr>
          </a:p>
        </p:txBody>
      </p:sp>
    </p:spTree>
    <p:extLst>
      <p:ext uri="{BB962C8B-B14F-4D97-AF65-F5344CB8AC3E}">
        <p14:creationId xmlns:p14="http://schemas.microsoft.com/office/powerpoint/2010/main" val="19128793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FD60252-1501-71D8-6BC9-E78149346470}"/>
              </a:ext>
            </a:extLst>
          </p:cNvPr>
          <p:cNvSpPr>
            <a:spLocks noGrp="1"/>
          </p:cNvSpPr>
          <p:nvPr>
            <p:ph type="title"/>
          </p:nvPr>
        </p:nvSpPr>
        <p:spPr/>
        <p:txBody>
          <a:bodyPr/>
          <a:lstStyle/>
          <a:p>
            <a:r>
              <a:rPr lang="ja-JP" altLang="en-US" b="1"/>
              <a:t>割り込み機能がタスクの完了時間に与える影響</a:t>
            </a:r>
            <a:endParaRPr kumimoji="1" lang="ja-JP" altLang="en-US"/>
          </a:p>
        </p:txBody>
      </p:sp>
      <p:sp>
        <p:nvSpPr>
          <p:cNvPr id="4" name="スライド番号プレースホルダー 3">
            <a:extLst>
              <a:ext uri="{FF2B5EF4-FFF2-40B4-BE49-F238E27FC236}">
                <a16:creationId xmlns:a16="http://schemas.microsoft.com/office/drawing/2014/main" id="{421F459B-53A9-E0E5-DEC7-8DDFE962CFB9}"/>
              </a:ext>
            </a:extLst>
          </p:cNvPr>
          <p:cNvSpPr>
            <a:spLocks noGrp="1"/>
          </p:cNvSpPr>
          <p:nvPr>
            <p:ph type="sldNum" sz="quarter" idx="12"/>
          </p:nvPr>
        </p:nvSpPr>
        <p:spPr/>
        <p:txBody>
          <a:bodyPr/>
          <a:lstStyle/>
          <a:p>
            <a:fld id="{8D1BC46D-89B1-41A3-BBA1-F56BEABD0A90}" type="slidenum">
              <a:rPr lang="ja-JP" altLang="en-US" smtClean="0"/>
              <a:pPr/>
              <a:t>7</a:t>
            </a:fld>
            <a:endParaRPr lang="ja-JP" altLang="en-US"/>
          </a:p>
        </p:txBody>
      </p:sp>
      <p:sp>
        <p:nvSpPr>
          <p:cNvPr id="5" name="Rectangle 1">
            <a:extLst>
              <a:ext uri="{FF2B5EF4-FFF2-40B4-BE49-F238E27FC236}">
                <a16:creationId xmlns:a16="http://schemas.microsoft.com/office/drawing/2014/main" id="{CC2B7B21-3B66-E807-85F4-EC62EAD85EDA}"/>
              </a:ext>
            </a:extLst>
          </p:cNvPr>
          <p:cNvSpPr txBox="1">
            <a:spLocks noChangeArrowheads="1"/>
          </p:cNvSpPr>
          <p:nvPr/>
        </p:nvSpPr>
        <p:spPr bwMode="auto">
          <a:xfrm>
            <a:off x="704499" y="2915919"/>
            <a:ext cx="10530447" cy="4937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rtlCol="0" anchor="ctr" anchorCtr="0" compatLnSpc="1">
            <a:prstTxWarp prst="textNoShape">
              <a:avLst/>
            </a:prstTxWarp>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j-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j-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j-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j-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j-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Font typeface="Arial" panose="020B0604020202020204" pitchFamily="34" charset="0"/>
              <a:buNone/>
            </a:pPr>
            <a:r>
              <a:rPr lang="ja-JP" altLang="en-US" sz="2000" b="1" dirty="0"/>
              <a:t>① 共有なし </a:t>
            </a:r>
            <a:endParaRPr lang="en-US" altLang="ja-JP" sz="2000" b="1" dirty="0"/>
          </a:p>
          <a:p>
            <a:pPr marL="0" indent="0">
              <a:buFont typeface="Arial" panose="020B0604020202020204" pitchFamily="34" charset="0"/>
              <a:buNone/>
            </a:pPr>
            <a:r>
              <a:rPr lang="en-US" altLang="ja-JP" sz="2000" dirty="0"/>
              <a:t>	</a:t>
            </a:r>
            <a:r>
              <a:rPr lang="ja-JP" altLang="en-US" sz="2000" dirty="0"/>
              <a:t>各ユーザーが自分の</a:t>
            </a:r>
            <a:r>
              <a:rPr lang="en-US" altLang="ja-JP" sz="2000" dirty="0"/>
              <a:t>GPU</a:t>
            </a:r>
            <a:r>
              <a:rPr lang="ja-JP" altLang="en-US" sz="2000" dirty="0"/>
              <a:t>のみを使用する</a:t>
            </a:r>
            <a:endParaRPr lang="en-US" altLang="ja-JP" sz="2000" dirty="0"/>
          </a:p>
          <a:p>
            <a:pPr marL="0" indent="0">
              <a:buFont typeface="Arial" panose="020B0604020202020204" pitchFamily="34" charset="0"/>
              <a:buNone/>
            </a:pPr>
            <a:r>
              <a:rPr lang="ja-JP" altLang="en-US" sz="2000" b="1" dirty="0"/>
              <a:t>② </a:t>
            </a:r>
            <a:r>
              <a:rPr lang="en-US" altLang="ja-JP" sz="2000" b="1" dirty="0"/>
              <a:t>FCFS</a:t>
            </a:r>
            <a:r>
              <a:rPr lang="ja-JP" altLang="en-US" sz="2000" b="1" dirty="0"/>
              <a:t>（先着順</a:t>
            </a:r>
            <a:r>
              <a:rPr lang="ja-JP" altLang="en-US" sz="2000" dirty="0"/>
              <a:t>）</a:t>
            </a:r>
            <a:r>
              <a:rPr lang="ja-JP" altLang="en-US" sz="2000" b="1" dirty="0"/>
              <a:t>方式</a:t>
            </a:r>
            <a:endParaRPr lang="en-US" altLang="ja-JP" sz="2000" b="1" dirty="0"/>
          </a:p>
          <a:p>
            <a:pPr marL="0" indent="0">
              <a:buFont typeface="Arial" panose="020B0604020202020204" pitchFamily="34" charset="0"/>
              <a:buNone/>
            </a:pPr>
            <a:r>
              <a:rPr lang="en-US" altLang="ja-JP" sz="2000" dirty="0"/>
              <a:t>	</a:t>
            </a:r>
            <a:r>
              <a:rPr lang="ja-JP" altLang="en-US" sz="2000" dirty="0"/>
              <a:t>全員が</a:t>
            </a:r>
            <a:r>
              <a:rPr lang="en-US" altLang="ja-JP" sz="2000" dirty="0"/>
              <a:t>ACP</a:t>
            </a:r>
            <a:r>
              <a:rPr lang="ja-JP" altLang="en-US" sz="2000" dirty="0"/>
              <a:t>上の全</a:t>
            </a:r>
            <a:r>
              <a:rPr lang="en-US" altLang="ja-JP" sz="2000" dirty="0"/>
              <a:t>GPU</a:t>
            </a:r>
            <a:r>
              <a:rPr lang="ja-JP" altLang="en-US" sz="2000" dirty="0"/>
              <a:t>を平等に利用</a:t>
            </a:r>
            <a:endParaRPr lang="en-US" altLang="ja-JP" sz="2000" dirty="0"/>
          </a:p>
          <a:p>
            <a:pPr marL="0" indent="0">
              <a:buFont typeface="Arial" panose="020B0604020202020204" pitchFamily="34" charset="0"/>
              <a:buNone/>
            </a:pPr>
            <a:r>
              <a:rPr lang="ja-JP" altLang="en-US" sz="2000" b="1" dirty="0"/>
              <a:t>③ 所有者優先方式 </a:t>
            </a:r>
            <a:endParaRPr lang="en-US" altLang="ja-JP" sz="2000" b="1" dirty="0"/>
          </a:p>
          <a:p>
            <a:pPr marL="0" indent="0">
              <a:buFont typeface="Arial" panose="020B0604020202020204" pitchFamily="34" charset="0"/>
              <a:buNone/>
            </a:pPr>
            <a:r>
              <a:rPr lang="en-US" altLang="ja-JP" sz="2000" dirty="0"/>
              <a:t>	</a:t>
            </a:r>
            <a:r>
              <a:rPr lang="ja-JP" altLang="en-US" sz="2000" dirty="0"/>
              <a:t>自分の</a:t>
            </a:r>
            <a:r>
              <a:rPr lang="en-US" altLang="ja-JP" sz="2000" dirty="0"/>
              <a:t>GPU</a:t>
            </a:r>
            <a:r>
              <a:rPr lang="ja-JP" altLang="en-US" sz="2000" dirty="0"/>
              <a:t>を使う場合は、割り込んで優先して使える（</a:t>
            </a:r>
            <a:r>
              <a:rPr lang="ja-JP" altLang="en-US" sz="2000" b="1" dirty="0"/>
              <a:t>プリエンプションはなし</a:t>
            </a:r>
            <a:r>
              <a:rPr lang="ja-JP" altLang="en-US" sz="2000" dirty="0"/>
              <a:t>）</a:t>
            </a:r>
          </a:p>
          <a:p>
            <a:pPr marL="0" indent="0">
              <a:buFont typeface="Arial" panose="020B0604020202020204" pitchFamily="34" charset="0"/>
              <a:buNone/>
            </a:pPr>
            <a:r>
              <a:rPr lang="ja-JP" altLang="en-US" sz="2000" b="1" dirty="0"/>
              <a:t>④ プリエンプティブ方式 </a:t>
            </a:r>
            <a:endParaRPr lang="en-US" altLang="ja-JP" sz="2000" b="1" dirty="0"/>
          </a:p>
          <a:p>
            <a:pPr marL="0" indent="0">
              <a:buFont typeface="Arial" panose="020B0604020202020204" pitchFamily="34" charset="0"/>
              <a:buNone/>
            </a:pPr>
            <a:r>
              <a:rPr lang="en-US" altLang="ja-JP" sz="2000" dirty="0"/>
              <a:t>	</a:t>
            </a:r>
            <a:r>
              <a:rPr lang="ja-JP" altLang="en-US" sz="2000" dirty="0"/>
              <a:t>自分の</a:t>
            </a:r>
            <a:r>
              <a:rPr lang="en-US" altLang="ja-JP" sz="2000" dirty="0"/>
              <a:t>GPU </a:t>
            </a:r>
            <a:r>
              <a:rPr lang="ja-JP" altLang="en-US" sz="2000" dirty="0"/>
              <a:t>を使う場合は、他人のタスクを途中切断（他人の</a:t>
            </a:r>
            <a:r>
              <a:rPr lang="en-US" altLang="ja-JP" sz="2000" dirty="0"/>
              <a:t>GPU</a:t>
            </a:r>
            <a:r>
              <a:rPr lang="ja-JP" altLang="en-US" sz="2000" dirty="0"/>
              <a:t>は、</a:t>
            </a:r>
            <a:r>
              <a:rPr lang="en-US" altLang="ja-JP" sz="2000" dirty="0"/>
              <a:t>FCFS</a:t>
            </a:r>
            <a:r>
              <a:rPr lang="ja-JP" altLang="en-US" sz="2000" dirty="0"/>
              <a:t>）</a:t>
            </a:r>
            <a:endParaRPr lang="en-US" altLang="ja-JP" sz="2000" dirty="0"/>
          </a:p>
          <a:p>
            <a:pPr marL="0" indent="0">
              <a:buFont typeface="Arial" panose="020B0604020202020204" pitchFamily="34" charset="0"/>
              <a:buNone/>
            </a:pPr>
            <a:r>
              <a:rPr lang="ja-JP" altLang="en-US" sz="2000" dirty="0"/>
              <a:t>　</a:t>
            </a:r>
            <a:r>
              <a:rPr lang="en-US" altLang="ja-JP" sz="2000" dirty="0"/>
              <a:t>	</a:t>
            </a:r>
            <a:r>
              <a:rPr lang="ja-JP" altLang="en-US" sz="2000" dirty="0"/>
              <a:t>途中切断されたタスクはマイグレーション </a:t>
            </a:r>
            <a:r>
              <a:rPr lang="en-US" altLang="ja-JP" sz="2000" dirty="0"/>
              <a:t>or </a:t>
            </a:r>
            <a:r>
              <a:rPr lang="ja-JP" altLang="en-US" sz="2000" dirty="0"/>
              <a:t>待機</a:t>
            </a:r>
            <a:endParaRPr lang="en-US" altLang="ja-JP" sz="2000" dirty="0"/>
          </a:p>
          <a:p>
            <a:pPr marL="0" indent="0">
              <a:buFont typeface="Arial" panose="020B0604020202020204" pitchFamily="34" charset="0"/>
              <a:buNone/>
            </a:pPr>
            <a:endParaRPr lang="en-US" altLang="ja-JP" sz="2400" dirty="0"/>
          </a:p>
          <a:p>
            <a:pPr marL="0" indent="0">
              <a:buFont typeface="Arial" panose="020B0604020202020204" pitchFamily="34" charset="0"/>
              <a:buNone/>
            </a:pPr>
            <a:endParaRPr lang="en-US" altLang="ja-JP" sz="2400" dirty="0"/>
          </a:p>
          <a:p>
            <a:pPr marL="0" indent="0">
              <a:buFont typeface="Arial" panose="020B0604020202020204" pitchFamily="34" charset="0"/>
              <a:buNone/>
            </a:pPr>
            <a:endParaRPr lang="en-US" altLang="ja-JP" sz="2000" dirty="0"/>
          </a:p>
        </p:txBody>
      </p:sp>
      <p:sp>
        <p:nvSpPr>
          <p:cNvPr id="6" name="四角形: 角を丸くする 5">
            <a:extLst>
              <a:ext uri="{FF2B5EF4-FFF2-40B4-BE49-F238E27FC236}">
                <a16:creationId xmlns:a16="http://schemas.microsoft.com/office/drawing/2014/main" id="{A9CDFBD1-186D-F566-03B2-C93A3FAC1712}"/>
              </a:ext>
            </a:extLst>
          </p:cNvPr>
          <p:cNvSpPr/>
          <p:nvPr/>
        </p:nvSpPr>
        <p:spPr>
          <a:xfrm>
            <a:off x="235337" y="2869960"/>
            <a:ext cx="11066417" cy="3657600"/>
          </a:xfrm>
          <a:prstGeom prst="roundRect">
            <a:avLst/>
          </a:prstGeom>
          <a:noFill/>
          <a:ln w="3175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テキスト ボックス 2">
            <a:extLst>
              <a:ext uri="{FF2B5EF4-FFF2-40B4-BE49-F238E27FC236}">
                <a16:creationId xmlns:a16="http://schemas.microsoft.com/office/drawing/2014/main" id="{CD176066-0ABF-09CA-6F94-BC95E3DC2A30}"/>
              </a:ext>
            </a:extLst>
          </p:cNvPr>
          <p:cNvSpPr txBox="1"/>
          <p:nvPr/>
        </p:nvSpPr>
        <p:spPr>
          <a:xfrm>
            <a:off x="838200" y="1034143"/>
            <a:ext cx="9546771" cy="1526315"/>
          </a:xfrm>
          <a:prstGeom prst="rect">
            <a:avLst/>
          </a:prstGeom>
          <a:noFill/>
        </p:spPr>
        <p:txBody>
          <a:bodyPr wrap="square" rtlCol="0">
            <a:spAutoFit/>
          </a:bodyPr>
          <a:lstStyle/>
          <a:p>
            <a:pPr>
              <a:lnSpc>
                <a:spcPct val="150000"/>
              </a:lnSpc>
            </a:pPr>
            <a:r>
              <a:rPr lang="ja-JP" altLang="en-US" sz="2400" b="1">
                <a:solidFill>
                  <a:schemeClr val="accent3">
                    <a:lumMod val="75000"/>
                  </a:schemeClr>
                </a:solidFill>
              </a:rPr>
              <a:t>共有基盤をモデル化し、各運用ルールの性能比較を行う</a:t>
            </a:r>
            <a:endParaRPr lang="en-US" altLang="ja-JP" sz="2400" b="1">
              <a:solidFill>
                <a:schemeClr val="accent3">
                  <a:lumMod val="75000"/>
                </a:schemeClr>
              </a:solidFill>
            </a:endParaRPr>
          </a:p>
          <a:p>
            <a:pPr>
              <a:lnSpc>
                <a:spcPct val="150000"/>
              </a:lnSpc>
            </a:pPr>
            <a:r>
              <a:rPr lang="ja-JP" altLang="en-US" sz="2000"/>
              <a:t>各ユーザーはタスク発生時に、全 </a:t>
            </a:r>
            <a:r>
              <a:rPr lang="en-US" altLang="ja-JP" sz="2000"/>
              <a:t>GPU </a:t>
            </a:r>
            <a:r>
              <a:rPr lang="ja-JP" altLang="en-US" sz="2000"/>
              <a:t>の中から</a:t>
            </a:r>
            <a:r>
              <a:rPr lang="ja-JP" altLang="en-US" sz="2000" b="1"/>
              <a:t>自身のターンアラウンドタイム（</a:t>
            </a:r>
            <a:r>
              <a:rPr lang="en-US" altLang="ja-JP" sz="2000" b="1"/>
              <a:t>TAT</a:t>
            </a:r>
            <a:r>
              <a:rPr lang="ja-JP" altLang="en-US" sz="2000" b="1"/>
              <a:t>）を最小化できる </a:t>
            </a:r>
            <a:r>
              <a:rPr lang="en-US" altLang="ja-JP" sz="2000" b="1"/>
              <a:t>GPU </a:t>
            </a:r>
            <a:r>
              <a:rPr lang="ja-JP" altLang="en-US" sz="2000"/>
              <a:t>を動的に選択する </a:t>
            </a:r>
            <a:endParaRPr lang="en-US" altLang="ja-JP" sz="2000"/>
          </a:p>
        </p:txBody>
      </p:sp>
    </p:spTree>
    <p:extLst>
      <p:ext uri="{BB962C8B-B14F-4D97-AF65-F5344CB8AC3E}">
        <p14:creationId xmlns:p14="http://schemas.microsoft.com/office/powerpoint/2010/main" val="14167908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四角形: 角を丸くする 4">
            <a:extLst>
              <a:ext uri="{FF2B5EF4-FFF2-40B4-BE49-F238E27FC236}">
                <a16:creationId xmlns:a16="http://schemas.microsoft.com/office/drawing/2014/main" id="{4807C8A0-7CBA-B80D-0FB4-B8346403DB17}"/>
              </a:ext>
            </a:extLst>
          </p:cNvPr>
          <p:cNvSpPr/>
          <p:nvPr/>
        </p:nvSpPr>
        <p:spPr>
          <a:xfrm>
            <a:off x="272143" y="4535161"/>
            <a:ext cx="11307760" cy="2203096"/>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4566B3D1-161C-F037-0DA7-B0CB974F353A}"/>
              </a:ext>
            </a:extLst>
          </p:cNvPr>
          <p:cNvSpPr>
            <a:spLocks noGrp="1"/>
          </p:cNvSpPr>
          <p:nvPr>
            <p:ph type="title"/>
          </p:nvPr>
        </p:nvSpPr>
        <p:spPr/>
        <p:txBody>
          <a:bodyPr/>
          <a:lstStyle/>
          <a:p>
            <a:r>
              <a:rPr kumimoji="1" lang="ja-JP" altLang="en-US" b="1"/>
              <a:t>シミュレーション環境</a:t>
            </a:r>
          </a:p>
        </p:txBody>
      </p:sp>
      <p:sp>
        <p:nvSpPr>
          <p:cNvPr id="4" name="スライド番号プレースホルダー 3">
            <a:extLst>
              <a:ext uri="{FF2B5EF4-FFF2-40B4-BE49-F238E27FC236}">
                <a16:creationId xmlns:a16="http://schemas.microsoft.com/office/drawing/2014/main" id="{98146559-3B5C-5FBA-D8E0-01F8596CD480}"/>
              </a:ext>
            </a:extLst>
          </p:cNvPr>
          <p:cNvSpPr>
            <a:spLocks noGrp="1"/>
          </p:cNvSpPr>
          <p:nvPr>
            <p:ph type="sldNum" sz="quarter" idx="12"/>
          </p:nvPr>
        </p:nvSpPr>
        <p:spPr/>
        <p:txBody>
          <a:bodyPr/>
          <a:lstStyle/>
          <a:p>
            <a:fld id="{8D1BC46D-89B1-41A3-BBA1-F56BEABD0A90}" type="slidenum">
              <a:rPr lang="ja-JP" altLang="en-US" smtClean="0"/>
              <a:pPr/>
              <a:t>8</a:t>
            </a:fld>
            <a:endParaRPr lang="ja-JP" altLang="en-US"/>
          </a:p>
        </p:txBody>
      </p:sp>
      <p:sp>
        <p:nvSpPr>
          <p:cNvPr id="9" name="コンテンツ プレースホルダー 8">
            <a:extLst>
              <a:ext uri="{FF2B5EF4-FFF2-40B4-BE49-F238E27FC236}">
                <a16:creationId xmlns:a16="http://schemas.microsoft.com/office/drawing/2014/main" id="{E221A8E1-EA11-1126-3023-712944A98EF5}"/>
              </a:ext>
            </a:extLst>
          </p:cNvPr>
          <p:cNvSpPr txBox="1">
            <a:spLocks noGrp="1"/>
          </p:cNvSpPr>
          <p:nvPr>
            <p:ph idx="1"/>
          </p:nvPr>
        </p:nvSpPr>
        <p:spPr>
          <a:xfrm>
            <a:off x="403853" y="1096674"/>
            <a:ext cx="10515600" cy="5732851"/>
          </a:xfrm>
          <a:prstGeom prst="rect">
            <a:avLst/>
          </a:prstGeom>
          <a:noFill/>
        </p:spPr>
        <p:txBody>
          <a:bodyPr wrap="square" rtlCol="0">
            <a:spAutoFit/>
          </a:bodyPr>
          <a:lstStyle/>
          <a:p>
            <a:pPr marL="0" indent="0">
              <a:buNone/>
            </a:pPr>
            <a:r>
              <a:rPr lang="ja-JP" altLang="en-US" sz="2400" b="1">
                <a:solidFill>
                  <a:schemeClr val="accent3">
                    <a:lumMod val="75000"/>
                  </a:schemeClr>
                </a:solidFill>
              </a:rPr>
              <a:t>待ち行列モデルによるシミュレーション</a:t>
            </a:r>
            <a:endParaRPr lang="en-US" altLang="ja-JP" sz="2400" b="1">
              <a:solidFill>
                <a:schemeClr val="accent3">
                  <a:lumMod val="75000"/>
                </a:schemeClr>
              </a:solidFill>
            </a:endParaRPr>
          </a:p>
          <a:p>
            <a:pPr>
              <a:lnSpc>
                <a:spcPct val="150000"/>
              </a:lnSpc>
            </a:pPr>
            <a:r>
              <a:rPr lang="ja-JP" altLang="en-US" sz="2400"/>
              <a:t>ユーザー数：</a:t>
            </a:r>
            <a:r>
              <a:rPr lang="en-US" altLang="ja-JP" sz="2400" b="1"/>
              <a:t>18</a:t>
            </a:r>
            <a:r>
              <a:rPr lang="ja-JP" altLang="en-US" sz="2400" b="1"/>
              <a:t>人</a:t>
            </a:r>
            <a:r>
              <a:rPr lang="ja-JP" altLang="en-US" sz="2400"/>
              <a:t>（</a:t>
            </a:r>
            <a:r>
              <a:rPr lang="en-US" altLang="ja-JP" sz="2400"/>
              <a:t>GPU</a:t>
            </a:r>
            <a:r>
              <a:rPr lang="ja-JP" altLang="en-US" sz="2400"/>
              <a:t>サーバ各１台）</a:t>
            </a:r>
            <a:endParaRPr lang="en-US" altLang="ja-JP" sz="2400"/>
          </a:p>
          <a:p>
            <a:pPr>
              <a:lnSpc>
                <a:spcPct val="100000"/>
              </a:lnSpc>
            </a:pPr>
            <a:r>
              <a:rPr kumimoji="1" lang="en-US" altLang="ja-JP" sz="2400"/>
              <a:t>GPU</a:t>
            </a:r>
            <a:r>
              <a:rPr kumimoji="1" lang="ja-JP" altLang="en-US" sz="2400"/>
              <a:t>性能：</a:t>
            </a:r>
            <a:r>
              <a:rPr kumimoji="1" lang="ja-JP" altLang="en-US" sz="2400" b="1"/>
              <a:t>９段階</a:t>
            </a:r>
            <a:endParaRPr lang="en-US" altLang="ja-JP" sz="2000"/>
          </a:p>
          <a:p>
            <a:pPr>
              <a:lnSpc>
                <a:spcPct val="150000"/>
              </a:lnSpc>
            </a:pPr>
            <a:r>
              <a:rPr lang="ja-JP" altLang="en-US" sz="2400"/>
              <a:t>タスク到着率：</a:t>
            </a:r>
            <a:r>
              <a:rPr lang="en-US" altLang="ja-JP" sz="2400"/>
              <a:t>0.005[tasks/s]</a:t>
            </a:r>
          </a:p>
          <a:p>
            <a:pPr marL="0" indent="0">
              <a:buNone/>
            </a:pPr>
            <a:r>
              <a:rPr lang="ja-JP" altLang="en-US" sz="2400"/>
              <a:t>  →　</a:t>
            </a:r>
            <a:r>
              <a:rPr lang="ja-JP" altLang="en-US" sz="2400" b="1"/>
              <a:t>平均</a:t>
            </a:r>
            <a:r>
              <a:rPr lang="en-US" altLang="ja-JP" sz="2400" b="1"/>
              <a:t>200</a:t>
            </a:r>
            <a:r>
              <a:rPr lang="ja-JP" altLang="en-US" sz="2400" b="1"/>
              <a:t>秒に１回タスクが発生</a:t>
            </a:r>
            <a:endParaRPr lang="en-US" altLang="ja-JP" sz="2400" b="1"/>
          </a:p>
          <a:p>
            <a:pPr marL="0" indent="0">
              <a:lnSpc>
                <a:spcPct val="150000"/>
              </a:lnSpc>
              <a:buNone/>
            </a:pPr>
            <a:r>
              <a:rPr lang="ja-JP" altLang="en-US" sz="2400"/>
              <a:t>総シミュレーション時間：</a:t>
            </a:r>
            <a:r>
              <a:rPr lang="en-US" altLang="ja-JP" sz="2400" b="1"/>
              <a:t>24</a:t>
            </a:r>
            <a:r>
              <a:rPr lang="ja-JP" altLang="en-US" sz="2400" b="1"/>
              <a:t>時間</a:t>
            </a:r>
            <a:endParaRPr lang="en-US" altLang="ja-JP" sz="2400" b="1"/>
          </a:p>
          <a:p>
            <a:pPr marL="0" indent="0">
              <a:buNone/>
            </a:pPr>
            <a:r>
              <a:rPr lang="ja-JP" altLang="en-US" sz="2400"/>
              <a:t>タスク </a:t>
            </a:r>
            <a:r>
              <a:rPr lang="en-US" altLang="ja-JP" sz="2400"/>
              <a:t>: YOLOv7</a:t>
            </a:r>
            <a:r>
              <a:rPr lang="ja-JP" altLang="en-US" sz="2400"/>
              <a:t>学習タスクを想定</a:t>
            </a:r>
            <a:endParaRPr lang="en-US" altLang="ja-JP" sz="2400"/>
          </a:p>
          <a:p>
            <a:pPr marL="0" indent="0">
              <a:buNone/>
            </a:pPr>
            <a:r>
              <a:rPr lang="en-US" altLang="ja-JP" sz="2400"/>
              <a:t> </a:t>
            </a:r>
            <a:r>
              <a:rPr lang="ja-JP" altLang="en-US" sz="2400"/>
              <a:t> </a:t>
            </a:r>
            <a:r>
              <a:rPr lang="en-US" altLang="ja-JP" sz="2400"/>
              <a:t>- </a:t>
            </a:r>
            <a:r>
              <a:rPr lang="ja-JP" altLang="en-US" sz="2400"/>
              <a:t>画像１枚当たり平均</a:t>
            </a:r>
            <a:r>
              <a:rPr lang="en-US" altLang="ja-JP" sz="2400" b="1"/>
              <a:t>0.360TFLOPs</a:t>
            </a:r>
            <a:endParaRPr lang="en-US" altLang="ja-JP" sz="2400">
              <a:latin typeface="+mn-lt"/>
            </a:endParaRPr>
          </a:p>
          <a:p>
            <a:pPr marL="0" indent="0">
              <a:buNone/>
            </a:pPr>
            <a:r>
              <a:rPr lang="en-US" altLang="ja-JP" sz="2400">
                <a:latin typeface="+mn-lt"/>
              </a:rPr>
              <a:t> -</a:t>
            </a:r>
            <a:r>
              <a:rPr lang="ja-JP" altLang="en-US" sz="2400"/>
              <a:t> エポック数 ：</a:t>
            </a:r>
            <a:r>
              <a:rPr lang="en-US" altLang="ja-JP" sz="2400" b="1"/>
              <a:t>10[</a:t>
            </a:r>
            <a:r>
              <a:rPr lang="ja-JP" altLang="en-US" sz="2400" b="1"/>
              <a:t>回</a:t>
            </a:r>
            <a:r>
              <a:rPr lang="en-US" altLang="ja-JP" sz="2400" b="1"/>
              <a:t>]</a:t>
            </a:r>
            <a:r>
              <a:rPr lang="ja-JP" altLang="en-US" sz="2400"/>
              <a:t>（均一）</a:t>
            </a:r>
            <a:endParaRPr lang="en-US" altLang="ja-JP" sz="2400"/>
          </a:p>
          <a:p>
            <a:pPr marL="0" indent="0">
              <a:buNone/>
            </a:pPr>
            <a:r>
              <a:rPr lang="en-US" altLang="ja-JP" sz="2400"/>
              <a:t> -</a:t>
            </a:r>
            <a:r>
              <a:rPr lang="ja-JP" altLang="en-US" sz="2400"/>
              <a:t> バッチサイズ</a:t>
            </a:r>
            <a:r>
              <a:rPr lang="en-US" altLang="ja-JP" sz="2400"/>
              <a:t>[</a:t>
            </a:r>
            <a:r>
              <a:rPr lang="ja-JP" altLang="en-US" sz="2400"/>
              <a:t>枚</a:t>
            </a:r>
            <a:r>
              <a:rPr lang="en-US" altLang="ja-JP" sz="2400"/>
              <a:t>]</a:t>
            </a:r>
            <a:r>
              <a:rPr lang="ja-JP" altLang="en-US" sz="2400"/>
              <a:t>を調節することでシステム全体の</a:t>
            </a:r>
            <a:r>
              <a:rPr lang="ja-JP" altLang="en-US" sz="2400" b="1"/>
              <a:t>負荷率</a:t>
            </a:r>
            <a:r>
              <a:rPr lang="ja-JP" altLang="en-US" sz="2400"/>
              <a:t>を操作</a:t>
            </a:r>
            <a:endParaRPr lang="en-US" altLang="ja-JP" sz="2400"/>
          </a:p>
          <a:p>
            <a:pPr marL="0" indent="0">
              <a:buNone/>
            </a:pPr>
            <a:endParaRPr lang="en-US" altLang="ja-JP" sz="2400"/>
          </a:p>
        </p:txBody>
      </p:sp>
      <p:pic>
        <p:nvPicPr>
          <p:cNvPr id="11" name="図 10" descr="テーブル&#10;&#10;AI 生成コンテンツは誤りを含む可能性があります。">
            <a:extLst>
              <a:ext uri="{FF2B5EF4-FFF2-40B4-BE49-F238E27FC236}">
                <a16:creationId xmlns:a16="http://schemas.microsoft.com/office/drawing/2014/main" id="{39FFEEAE-C2D8-FD72-2E67-5800A0F655E4}"/>
              </a:ext>
            </a:extLst>
          </p:cNvPr>
          <p:cNvPicPr>
            <a:picLocks noChangeAspect="1"/>
          </p:cNvPicPr>
          <p:nvPr/>
        </p:nvPicPr>
        <p:blipFill>
          <a:blip r:embed="rId3"/>
          <a:srcRect l="27228" t="43333" r="26482" b="40556"/>
          <a:stretch>
            <a:fillRect/>
          </a:stretch>
        </p:blipFill>
        <p:spPr>
          <a:xfrm>
            <a:off x="7050850" y="1293867"/>
            <a:ext cx="4529053" cy="3177642"/>
          </a:xfrm>
          <a:prstGeom prst="rect">
            <a:avLst/>
          </a:prstGeom>
        </p:spPr>
      </p:pic>
      <p:sp>
        <p:nvSpPr>
          <p:cNvPr id="3" name="四角形: 角を丸くする 2">
            <a:extLst>
              <a:ext uri="{FF2B5EF4-FFF2-40B4-BE49-F238E27FC236}">
                <a16:creationId xmlns:a16="http://schemas.microsoft.com/office/drawing/2014/main" id="{1EFD1C3E-C25F-5A26-2291-946E494D4455}"/>
              </a:ext>
            </a:extLst>
          </p:cNvPr>
          <p:cNvSpPr/>
          <p:nvPr/>
        </p:nvSpPr>
        <p:spPr>
          <a:xfrm>
            <a:off x="272143" y="1578430"/>
            <a:ext cx="6574971" cy="289308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434014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図 5" descr="グラフ, 折れ線グラフ&#10;&#10;AI 生成コンテンツは誤りを含む可能性があります。">
            <a:extLst>
              <a:ext uri="{FF2B5EF4-FFF2-40B4-BE49-F238E27FC236}">
                <a16:creationId xmlns:a16="http://schemas.microsoft.com/office/drawing/2014/main" id="{7E1E4301-A96D-2F13-FCB1-DC5250D86770}"/>
              </a:ext>
            </a:extLst>
          </p:cNvPr>
          <p:cNvPicPr>
            <a:picLocks noChangeAspect="1"/>
          </p:cNvPicPr>
          <p:nvPr/>
        </p:nvPicPr>
        <p:blipFill>
          <a:blip r:embed="rId3"/>
          <a:stretch>
            <a:fillRect/>
          </a:stretch>
        </p:blipFill>
        <p:spPr>
          <a:xfrm>
            <a:off x="3924801" y="1076036"/>
            <a:ext cx="7726717" cy="5781964"/>
          </a:xfrm>
          <a:prstGeom prst="rect">
            <a:avLst/>
          </a:prstGeom>
        </p:spPr>
      </p:pic>
      <p:sp>
        <p:nvSpPr>
          <p:cNvPr id="11" name="吹き出し: 角を丸めた四角形 10">
            <a:extLst>
              <a:ext uri="{FF2B5EF4-FFF2-40B4-BE49-F238E27FC236}">
                <a16:creationId xmlns:a16="http://schemas.microsoft.com/office/drawing/2014/main" id="{7AB23996-5EA9-6643-52C6-0A9E99DD02A4}"/>
              </a:ext>
            </a:extLst>
          </p:cNvPr>
          <p:cNvSpPr/>
          <p:nvPr/>
        </p:nvSpPr>
        <p:spPr>
          <a:xfrm>
            <a:off x="540482" y="1395212"/>
            <a:ext cx="3313060" cy="1262743"/>
          </a:xfrm>
          <a:prstGeom prst="wedgeRoundRectCallout">
            <a:avLst>
              <a:gd name="adj1" fmla="val 87667"/>
              <a:gd name="adj2" fmla="val 24804"/>
              <a:gd name="adj3" fmla="val 16667"/>
            </a:avLst>
          </a:prstGeom>
          <a:solidFill>
            <a:schemeClr val="bg1">
              <a:lumMod val="85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9F12D26F-B7BC-5F6A-BDA3-E65D2788B134}"/>
              </a:ext>
            </a:extLst>
          </p:cNvPr>
          <p:cNvSpPr>
            <a:spLocks noGrp="1"/>
          </p:cNvSpPr>
          <p:nvPr>
            <p:ph type="title"/>
          </p:nvPr>
        </p:nvSpPr>
        <p:spPr>
          <a:xfrm>
            <a:off x="838200" y="231697"/>
            <a:ext cx="8268093" cy="457044"/>
          </a:xfrm>
        </p:spPr>
        <p:txBody>
          <a:bodyPr anchor="ctr">
            <a:normAutofit/>
          </a:bodyPr>
          <a:lstStyle/>
          <a:p>
            <a:r>
              <a:rPr lang="ja-JP" altLang="en-US" sz="2600"/>
              <a:t>シミュレーション結果：シナリオ別</a:t>
            </a:r>
            <a:r>
              <a:rPr lang="ja-JP" altLang="en-US" sz="2600" b="1"/>
              <a:t>全体平均</a:t>
            </a:r>
            <a:r>
              <a:rPr lang="en-US" altLang="ja-JP" sz="2600" b="1"/>
              <a:t>TAT</a:t>
            </a:r>
            <a:endParaRPr kumimoji="1" lang="ja-JP" altLang="en-US" sz="2600" b="1"/>
          </a:p>
        </p:txBody>
      </p:sp>
      <p:sp>
        <p:nvSpPr>
          <p:cNvPr id="4" name="スライド番号プレースホルダー 3">
            <a:extLst>
              <a:ext uri="{FF2B5EF4-FFF2-40B4-BE49-F238E27FC236}">
                <a16:creationId xmlns:a16="http://schemas.microsoft.com/office/drawing/2014/main" id="{09F9951A-6AF3-3F19-70CA-A6F5979A68FA}"/>
              </a:ext>
            </a:extLst>
          </p:cNvPr>
          <p:cNvSpPr>
            <a:spLocks noGrp="1"/>
          </p:cNvSpPr>
          <p:nvPr>
            <p:ph type="sldNum" sz="quarter" idx="12"/>
          </p:nvPr>
        </p:nvSpPr>
        <p:spPr>
          <a:xfrm>
            <a:off x="11160803" y="277657"/>
            <a:ext cx="838200" cy="365125"/>
          </a:xfrm>
        </p:spPr>
        <p:txBody>
          <a:bodyPr anchor="ctr">
            <a:normAutofit/>
          </a:bodyPr>
          <a:lstStyle/>
          <a:p>
            <a:pPr>
              <a:lnSpc>
                <a:spcPct val="90000"/>
              </a:lnSpc>
              <a:spcAft>
                <a:spcPts val="600"/>
              </a:spcAft>
            </a:pPr>
            <a:fld id="{8D1BC46D-89B1-41A3-BBA1-F56BEABD0A90}" type="slidenum">
              <a:rPr lang="ja-JP" altLang="en-US" smtClean="0"/>
              <a:pPr>
                <a:lnSpc>
                  <a:spcPct val="90000"/>
                </a:lnSpc>
                <a:spcAft>
                  <a:spcPts val="600"/>
                </a:spcAft>
              </a:pPr>
              <a:t>9</a:t>
            </a:fld>
            <a:endParaRPr lang="ja-JP" altLang="en-US"/>
          </a:p>
        </p:txBody>
      </p:sp>
      <p:sp>
        <p:nvSpPr>
          <p:cNvPr id="9" name="テキスト ボックス 8">
            <a:extLst>
              <a:ext uri="{FF2B5EF4-FFF2-40B4-BE49-F238E27FC236}">
                <a16:creationId xmlns:a16="http://schemas.microsoft.com/office/drawing/2014/main" id="{4101FAE1-2F9A-C553-A9BA-A2482198F063}"/>
              </a:ext>
            </a:extLst>
          </p:cNvPr>
          <p:cNvSpPr txBox="1"/>
          <p:nvPr/>
        </p:nvSpPr>
        <p:spPr>
          <a:xfrm>
            <a:off x="642256" y="1457626"/>
            <a:ext cx="3211286" cy="1200329"/>
          </a:xfrm>
          <a:prstGeom prst="rect">
            <a:avLst/>
          </a:prstGeom>
          <a:noFill/>
        </p:spPr>
        <p:txBody>
          <a:bodyPr wrap="square" rtlCol="0">
            <a:spAutoFit/>
          </a:bodyPr>
          <a:lstStyle/>
          <a:p>
            <a:r>
              <a:rPr kumimoji="1" lang="ja-JP" altLang="en-US" sz="2400" b="1"/>
              <a:t>共有なしより</a:t>
            </a:r>
            <a:endParaRPr kumimoji="1" lang="en-US" altLang="ja-JP" sz="2400" b="1"/>
          </a:p>
          <a:p>
            <a:r>
              <a:rPr kumimoji="1" lang="ja-JP" altLang="en-US" sz="2400" b="1"/>
              <a:t>どの共有シナリオも</a:t>
            </a:r>
            <a:r>
              <a:rPr kumimoji="1" lang="en-US" altLang="ja-JP" sz="2400" b="1"/>
              <a:t>TAT</a:t>
            </a:r>
            <a:r>
              <a:rPr kumimoji="1" lang="ja-JP" altLang="en-US" sz="2400" b="1"/>
              <a:t>が大幅に短縮</a:t>
            </a:r>
          </a:p>
        </p:txBody>
      </p:sp>
      <p:sp>
        <p:nvSpPr>
          <p:cNvPr id="12" name="吹き出し: 角を丸めた四角形 11">
            <a:extLst>
              <a:ext uri="{FF2B5EF4-FFF2-40B4-BE49-F238E27FC236}">
                <a16:creationId xmlns:a16="http://schemas.microsoft.com/office/drawing/2014/main" id="{BD52230C-1927-16C9-740A-9FFBA1DD831E}"/>
              </a:ext>
            </a:extLst>
          </p:cNvPr>
          <p:cNvSpPr/>
          <p:nvPr/>
        </p:nvSpPr>
        <p:spPr>
          <a:xfrm>
            <a:off x="554724" y="4318070"/>
            <a:ext cx="3370077" cy="1329385"/>
          </a:xfrm>
          <a:prstGeom prst="wedgeRoundRectCallout">
            <a:avLst>
              <a:gd name="adj1" fmla="val 257598"/>
              <a:gd name="adj2" fmla="val -121513"/>
              <a:gd name="adj3" fmla="val 16667"/>
            </a:avLst>
          </a:prstGeom>
          <a:solidFill>
            <a:schemeClr val="bg1">
              <a:lumMod val="85000"/>
              <a:alpha val="62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2400" b="1" dirty="0">
                <a:solidFill>
                  <a:schemeClr val="tx1"/>
                </a:solidFill>
              </a:rPr>
              <a:t>負荷率</a:t>
            </a:r>
            <a:r>
              <a:rPr lang="en-US" altLang="ja-JP" sz="2400" b="1" dirty="0">
                <a:solidFill>
                  <a:schemeClr val="tx1"/>
                </a:solidFill>
              </a:rPr>
              <a:t>0.8</a:t>
            </a:r>
            <a:r>
              <a:rPr lang="ja-JP" altLang="en-US" sz="2400" b="1" dirty="0">
                <a:solidFill>
                  <a:schemeClr val="tx1"/>
                </a:solidFill>
              </a:rPr>
              <a:t>以降</a:t>
            </a:r>
            <a:endParaRPr lang="en-US" altLang="ja-JP" sz="2400" b="1" dirty="0">
              <a:solidFill>
                <a:schemeClr val="tx1"/>
              </a:solidFill>
            </a:endParaRPr>
          </a:p>
          <a:p>
            <a:r>
              <a:rPr lang="ja-JP" altLang="en-US" sz="2400" b="1" dirty="0">
                <a:solidFill>
                  <a:schemeClr val="tx1"/>
                </a:solidFill>
              </a:rPr>
              <a:t>プリエンプションが</a:t>
            </a:r>
            <a:endParaRPr lang="en-US" altLang="ja-JP" sz="2400" b="1" dirty="0">
              <a:solidFill>
                <a:schemeClr val="tx1"/>
              </a:solidFill>
            </a:endParaRPr>
          </a:p>
          <a:p>
            <a:r>
              <a:rPr lang="ja-JP" altLang="en-US" sz="2400" b="1" dirty="0">
                <a:solidFill>
                  <a:schemeClr val="tx1"/>
                </a:solidFill>
              </a:rPr>
              <a:t>多く発生して</a:t>
            </a:r>
            <a:r>
              <a:rPr lang="en-US" altLang="ja-JP" sz="2400" b="1" dirty="0">
                <a:solidFill>
                  <a:schemeClr val="tx1"/>
                </a:solidFill>
              </a:rPr>
              <a:t>TAT</a:t>
            </a:r>
            <a:r>
              <a:rPr lang="ja-JP" altLang="en-US" sz="2400" b="1" dirty="0">
                <a:solidFill>
                  <a:schemeClr val="tx1"/>
                </a:solidFill>
              </a:rPr>
              <a:t>増</a:t>
            </a:r>
            <a:endParaRPr kumimoji="1" lang="ja-JP" altLang="en-US" sz="2400" b="1" dirty="0">
              <a:solidFill>
                <a:schemeClr val="tx1"/>
              </a:solidFill>
            </a:endParaRPr>
          </a:p>
        </p:txBody>
      </p:sp>
      <p:sp>
        <p:nvSpPr>
          <p:cNvPr id="10" name="テキスト ボックス 9">
            <a:extLst>
              <a:ext uri="{FF2B5EF4-FFF2-40B4-BE49-F238E27FC236}">
                <a16:creationId xmlns:a16="http://schemas.microsoft.com/office/drawing/2014/main" id="{2A2A73F0-3C85-28F2-67AF-A45C4955E81C}"/>
              </a:ext>
            </a:extLst>
          </p:cNvPr>
          <p:cNvSpPr txBox="1"/>
          <p:nvPr/>
        </p:nvSpPr>
        <p:spPr>
          <a:xfrm>
            <a:off x="6941012" y="2657955"/>
            <a:ext cx="1246974" cy="369332"/>
          </a:xfrm>
          <a:prstGeom prst="rect">
            <a:avLst/>
          </a:prstGeom>
          <a:solidFill>
            <a:srgbClr val="FF7F0E"/>
          </a:solidFill>
        </p:spPr>
        <p:txBody>
          <a:bodyPr wrap="square" rtlCol="0">
            <a:spAutoFit/>
          </a:bodyPr>
          <a:lstStyle/>
          <a:p>
            <a:r>
              <a:rPr lang="en-US" altLang="ja-JP" b="1">
                <a:solidFill>
                  <a:schemeClr val="bg1"/>
                </a:solidFill>
              </a:rPr>
              <a:t>FCFS</a:t>
            </a:r>
            <a:r>
              <a:rPr kumimoji="1" lang="ja-JP" altLang="en-US" b="1">
                <a:solidFill>
                  <a:schemeClr val="bg1"/>
                </a:solidFill>
              </a:rPr>
              <a:t>方式</a:t>
            </a:r>
          </a:p>
        </p:txBody>
      </p:sp>
      <p:sp>
        <p:nvSpPr>
          <p:cNvPr id="13" name="テキスト ボックス 12">
            <a:extLst>
              <a:ext uri="{FF2B5EF4-FFF2-40B4-BE49-F238E27FC236}">
                <a16:creationId xmlns:a16="http://schemas.microsoft.com/office/drawing/2014/main" id="{5DC99760-2A61-7E88-E168-9578CB3FD57C}"/>
              </a:ext>
            </a:extLst>
          </p:cNvPr>
          <p:cNvSpPr txBox="1"/>
          <p:nvPr/>
        </p:nvSpPr>
        <p:spPr>
          <a:xfrm>
            <a:off x="7278445" y="5278123"/>
            <a:ext cx="1819082" cy="369332"/>
          </a:xfrm>
          <a:prstGeom prst="rect">
            <a:avLst/>
          </a:prstGeom>
          <a:solidFill>
            <a:srgbClr val="1672B1"/>
          </a:solidFill>
        </p:spPr>
        <p:txBody>
          <a:bodyPr wrap="square" rtlCol="0">
            <a:spAutoFit/>
          </a:bodyPr>
          <a:lstStyle/>
          <a:p>
            <a:r>
              <a:rPr lang="ja-JP" altLang="en-US" b="1">
                <a:solidFill>
                  <a:schemeClr val="bg1"/>
                </a:solidFill>
              </a:rPr>
              <a:t>所有者優先</a:t>
            </a:r>
            <a:r>
              <a:rPr kumimoji="1" lang="ja-JP" altLang="en-US" b="1">
                <a:solidFill>
                  <a:schemeClr val="bg1"/>
                </a:solidFill>
              </a:rPr>
              <a:t>方式</a:t>
            </a:r>
          </a:p>
        </p:txBody>
      </p:sp>
      <p:sp>
        <p:nvSpPr>
          <p:cNvPr id="14" name="テキスト ボックス 13">
            <a:extLst>
              <a:ext uri="{FF2B5EF4-FFF2-40B4-BE49-F238E27FC236}">
                <a16:creationId xmlns:a16="http://schemas.microsoft.com/office/drawing/2014/main" id="{B8580310-C990-B0EC-5A19-295F10EA16DA}"/>
              </a:ext>
            </a:extLst>
          </p:cNvPr>
          <p:cNvSpPr txBox="1"/>
          <p:nvPr/>
        </p:nvSpPr>
        <p:spPr>
          <a:xfrm>
            <a:off x="8758609" y="2657955"/>
            <a:ext cx="1105827" cy="369332"/>
          </a:xfrm>
          <a:prstGeom prst="rect">
            <a:avLst/>
          </a:prstGeom>
          <a:solidFill>
            <a:srgbClr val="9467BD"/>
          </a:solidFill>
        </p:spPr>
        <p:txBody>
          <a:bodyPr wrap="square" rtlCol="0">
            <a:spAutoFit/>
          </a:bodyPr>
          <a:lstStyle/>
          <a:p>
            <a:r>
              <a:rPr lang="ja-JP" altLang="en-US" b="1">
                <a:solidFill>
                  <a:schemeClr val="bg1"/>
                </a:solidFill>
              </a:rPr>
              <a:t>共有なし</a:t>
            </a:r>
            <a:endParaRPr kumimoji="1" lang="ja-JP" altLang="en-US" b="1">
              <a:solidFill>
                <a:schemeClr val="bg1"/>
              </a:solidFill>
            </a:endParaRPr>
          </a:p>
        </p:txBody>
      </p:sp>
      <p:sp>
        <p:nvSpPr>
          <p:cNvPr id="15" name="テキスト ボックス 14">
            <a:extLst>
              <a:ext uri="{FF2B5EF4-FFF2-40B4-BE49-F238E27FC236}">
                <a16:creationId xmlns:a16="http://schemas.microsoft.com/office/drawing/2014/main" id="{6F353B76-CF8F-B428-CEDA-C252475AC03F}"/>
              </a:ext>
            </a:extLst>
          </p:cNvPr>
          <p:cNvSpPr txBox="1"/>
          <p:nvPr/>
        </p:nvSpPr>
        <p:spPr>
          <a:xfrm>
            <a:off x="9362355" y="5278123"/>
            <a:ext cx="2541195" cy="369332"/>
          </a:xfrm>
          <a:prstGeom prst="rect">
            <a:avLst/>
          </a:prstGeom>
          <a:solidFill>
            <a:srgbClr val="2CA02C"/>
          </a:solidFill>
        </p:spPr>
        <p:txBody>
          <a:bodyPr wrap="square" rtlCol="0">
            <a:spAutoFit/>
          </a:bodyPr>
          <a:lstStyle/>
          <a:p>
            <a:r>
              <a:rPr lang="ja-JP" altLang="en-US" b="1">
                <a:solidFill>
                  <a:schemeClr val="bg1"/>
                </a:solidFill>
              </a:rPr>
              <a:t>プリエンプティブ方式</a:t>
            </a:r>
            <a:endParaRPr kumimoji="1" lang="ja-JP" altLang="en-US" b="1">
              <a:solidFill>
                <a:schemeClr val="bg1"/>
              </a:solidFill>
            </a:endParaRPr>
          </a:p>
        </p:txBody>
      </p:sp>
      <p:cxnSp>
        <p:nvCxnSpPr>
          <p:cNvPr id="22" name="直線コネクタ 21">
            <a:extLst>
              <a:ext uri="{FF2B5EF4-FFF2-40B4-BE49-F238E27FC236}">
                <a16:creationId xmlns:a16="http://schemas.microsoft.com/office/drawing/2014/main" id="{E25646DB-B1F6-C3AD-3FBD-2B0E831EBBA0}"/>
              </a:ext>
            </a:extLst>
          </p:cNvPr>
          <p:cNvCxnSpPr>
            <a:cxnSpLocks/>
          </p:cNvCxnSpPr>
          <p:nvPr/>
        </p:nvCxnSpPr>
        <p:spPr>
          <a:xfrm>
            <a:off x="8599055" y="4732524"/>
            <a:ext cx="1995054" cy="545599"/>
          </a:xfrm>
          <a:prstGeom prst="line">
            <a:avLst/>
          </a:prstGeom>
          <a:ln>
            <a:solidFill>
              <a:srgbClr val="2CA02C"/>
            </a:solidFill>
          </a:ln>
        </p:spPr>
        <p:style>
          <a:lnRef idx="2">
            <a:schemeClr val="accent1"/>
          </a:lnRef>
          <a:fillRef idx="0">
            <a:schemeClr val="accent1"/>
          </a:fillRef>
          <a:effectRef idx="1">
            <a:schemeClr val="accent1"/>
          </a:effectRef>
          <a:fontRef idx="minor">
            <a:schemeClr val="tx1"/>
          </a:fontRef>
        </p:style>
      </p:cxnSp>
      <p:cxnSp>
        <p:nvCxnSpPr>
          <p:cNvPr id="26" name="直線コネクタ 25">
            <a:extLst>
              <a:ext uri="{FF2B5EF4-FFF2-40B4-BE49-F238E27FC236}">
                <a16:creationId xmlns:a16="http://schemas.microsoft.com/office/drawing/2014/main" id="{A3D23484-322A-12E6-9033-FFF84C62D7E9}"/>
              </a:ext>
            </a:extLst>
          </p:cNvPr>
          <p:cNvCxnSpPr>
            <a:cxnSpLocks/>
            <a:endCxn id="13" idx="0"/>
          </p:cNvCxnSpPr>
          <p:nvPr/>
        </p:nvCxnSpPr>
        <p:spPr>
          <a:xfrm>
            <a:off x="7656945" y="4461164"/>
            <a:ext cx="531041" cy="816959"/>
          </a:xfrm>
          <a:prstGeom prst="line">
            <a:avLst/>
          </a:prstGeom>
          <a:ln>
            <a:solidFill>
              <a:srgbClr val="1672B1"/>
            </a:solidFill>
          </a:ln>
        </p:spPr>
        <p:style>
          <a:lnRef idx="2">
            <a:schemeClr val="accent1"/>
          </a:lnRef>
          <a:fillRef idx="0">
            <a:schemeClr val="accent1"/>
          </a:fillRef>
          <a:effectRef idx="1">
            <a:schemeClr val="accent1"/>
          </a:effectRef>
          <a:fontRef idx="minor">
            <a:schemeClr val="tx1"/>
          </a:fontRef>
        </p:style>
      </p:cxnSp>
      <p:cxnSp>
        <p:nvCxnSpPr>
          <p:cNvPr id="29" name="直線コネクタ 28">
            <a:extLst>
              <a:ext uri="{FF2B5EF4-FFF2-40B4-BE49-F238E27FC236}">
                <a16:creationId xmlns:a16="http://schemas.microsoft.com/office/drawing/2014/main" id="{6217844D-1A6D-1A67-05D9-0270C9FDACD2}"/>
              </a:ext>
            </a:extLst>
          </p:cNvPr>
          <p:cNvCxnSpPr>
            <a:cxnSpLocks/>
            <a:endCxn id="14" idx="0"/>
          </p:cNvCxnSpPr>
          <p:nvPr/>
        </p:nvCxnSpPr>
        <p:spPr>
          <a:xfrm>
            <a:off x="9245600" y="1457626"/>
            <a:ext cx="65923" cy="1200329"/>
          </a:xfrm>
          <a:prstGeom prst="line">
            <a:avLst/>
          </a:prstGeom>
          <a:ln>
            <a:solidFill>
              <a:srgbClr val="9467BD"/>
            </a:solidFill>
          </a:ln>
        </p:spPr>
        <p:style>
          <a:lnRef idx="2">
            <a:schemeClr val="accent1"/>
          </a:lnRef>
          <a:fillRef idx="0">
            <a:schemeClr val="accent1"/>
          </a:fillRef>
          <a:effectRef idx="1">
            <a:schemeClr val="accent1"/>
          </a:effectRef>
          <a:fontRef idx="minor">
            <a:schemeClr val="tx1"/>
          </a:fontRef>
        </p:style>
      </p:cxnSp>
      <p:cxnSp>
        <p:nvCxnSpPr>
          <p:cNvPr id="32" name="直線コネクタ 31">
            <a:extLst>
              <a:ext uri="{FF2B5EF4-FFF2-40B4-BE49-F238E27FC236}">
                <a16:creationId xmlns:a16="http://schemas.microsoft.com/office/drawing/2014/main" id="{8C9F15B2-D9AB-A30D-6BD8-029E7EB26694}"/>
              </a:ext>
            </a:extLst>
          </p:cNvPr>
          <p:cNvCxnSpPr>
            <a:cxnSpLocks/>
          </p:cNvCxnSpPr>
          <p:nvPr/>
        </p:nvCxnSpPr>
        <p:spPr>
          <a:xfrm flipH="1" flipV="1">
            <a:off x="7509164" y="3027287"/>
            <a:ext cx="1967345" cy="1027477"/>
          </a:xfrm>
          <a:prstGeom prst="line">
            <a:avLst/>
          </a:prstGeom>
          <a:ln>
            <a:solidFill>
              <a:srgbClr val="FF7F0E"/>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031661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図 10" descr="グラフ, 折れ線グラフ&#10;&#10;AI 生成コンテンツは誤りを含む可能性があります。">
            <a:extLst>
              <a:ext uri="{FF2B5EF4-FFF2-40B4-BE49-F238E27FC236}">
                <a16:creationId xmlns:a16="http://schemas.microsoft.com/office/drawing/2014/main" id="{5130B4CF-FC9F-A621-7909-9FB2288AFD34}"/>
              </a:ext>
            </a:extLst>
          </p:cNvPr>
          <p:cNvPicPr>
            <a:picLocks noChangeAspect="1"/>
          </p:cNvPicPr>
          <p:nvPr/>
        </p:nvPicPr>
        <p:blipFill>
          <a:blip r:embed="rId3"/>
          <a:stretch>
            <a:fillRect/>
          </a:stretch>
        </p:blipFill>
        <p:spPr>
          <a:xfrm>
            <a:off x="4522395" y="1147814"/>
            <a:ext cx="7262822" cy="5432529"/>
          </a:xfrm>
          <a:prstGeom prst="rect">
            <a:avLst/>
          </a:prstGeom>
        </p:spPr>
      </p:pic>
      <p:pic>
        <p:nvPicPr>
          <p:cNvPr id="3" name="図 2" descr="テーブル&#10;&#10;AI 生成コンテンツは誤りを含む可能性があります。">
            <a:extLst>
              <a:ext uri="{FF2B5EF4-FFF2-40B4-BE49-F238E27FC236}">
                <a16:creationId xmlns:a16="http://schemas.microsoft.com/office/drawing/2014/main" id="{52BC15D5-F920-E66E-E83D-97EB53D18913}"/>
              </a:ext>
            </a:extLst>
          </p:cNvPr>
          <p:cNvPicPr>
            <a:picLocks noChangeAspect="1"/>
          </p:cNvPicPr>
          <p:nvPr/>
        </p:nvPicPr>
        <p:blipFill>
          <a:blip r:embed="rId4"/>
          <a:srcRect l="27228" t="43333" r="26482" b="40556"/>
          <a:stretch>
            <a:fillRect/>
          </a:stretch>
        </p:blipFill>
        <p:spPr>
          <a:xfrm>
            <a:off x="246743" y="3587124"/>
            <a:ext cx="3791453" cy="2660132"/>
          </a:xfrm>
          <a:prstGeom prst="rect">
            <a:avLst/>
          </a:prstGeom>
        </p:spPr>
      </p:pic>
      <p:sp>
        <p:nvSpPr>
          <p:cNvPr id="2" name="タイトル 1">
            <a:extLst>
              <a:ext uri="{FF2B5EF4-FFF2-40B4-BE49-F238E27FC236}">
                <a16:creationId xmlns:a16="http://schemas.microsoft.com/office/drawing/2014/main" id="{5670E5AB-B7CE-87F9-0DE2-DCA6A4B85B27}"/>
              </a:ext>
            </a:extLst>
          </p:cNvPr>
          <p:cNvSpPr>
            <a:spLocks noGrp="1"/>
          </p:cNvSpPr>
          <p:nvPr>
            <p:ph type="title"/>
          </p:nvPr>
        </p:nvSpPr>
        <p:spPr/>
        <p:txBody>
          <a:bodyPr/>
          <a:lstStyle/>
          <a:p>
            <a:r>
              <a:rPr kumimoji="1" lang="ja-JP" altLang="en-US"/>
              <a:t>シナリオ別</a:t>
            </a:r>
            <a:r>
              <a:rPr kumimoji="1" lang="ja-JP" altLang="en-US" b="1"/>
              <a:t>高性能平均</a:t>
            </a:r>
            <a:r>
              <a:rPr kumimoji="1" lang="en-US" altLang="ja-JP" b="1"/>
              <a:t>TAT</a:t>
            </a:r>
            <a:endParaRPr kumimoji="1" lang="ja-JP" altLang="en-US" b="1"/>
          </a:p>
        </p:txBody>
      </p:sp>
      <p:sp>
        <p:nvSpPr>
          <p:cNvPr id="4" name="スライド番号プレースホルダー 3">
            <a:extLst>
              <a:ext uri="{FF2B5EF4-FFF2-40B4-BE49-F238E27FC236}">
                <a16:creationId xmlns:a16="http://schemas.microsoft.com/office/drawing/2014/main" id="{95A618E8-DB97-1439-C3D8-5C7E56B0AB33}"/>
              </a:ext>
            </a:extLst>
          </p:cNvPr>
          <p:cNvSpPr>
            <a:spLocks noGrp="1"/>
          </p:cNvSpPr>
          <p:nvPr>
            <p:ph type="sldNum" sz="quarter" idx="12"/>
          </p:nvPr>
        </p:nvSpPr>
        <p:spPr/>
        <p:txBody>
          <a:bodyPr/>
          <a:lstStyle/>
          <a:p>
            <a:fld id="{8D1BC46D-89B1-41A3-BBA1-F56BEABD0A90}" type="slidenum">
              <a:rPr lang="ja-JP" altLang="en-US" smtClean="0"/>
              <a:pPr/>
              <a:t>10</a:t>
            </a:fld>
            <a:endParaRPr lang="ja-JP" altLang="en-US"/>
          </a:p>
        </p:txBody>
      </p:sp>
      <p:sp>
        <p:nvSpPr>
          <p:cNvPr id="7" name="吹き出し: 角を丸めた四角形 6">
            <a:extLst>
              <a:ext uri="{FF2B5EF4-FFF2-40B4-BE49-F238E27FC236}">
                <a16:creationId xmlns:a16="http://schemas.microsoft.com/office/drawing/2014/main" id="{00A6B0C8-1C6B-A559-4737-574EB877BDF4}"/>
              </a:ext>
            </a:extLst>
          </p:cNvPr>
          <p:cNvSpPr/>
          <p:nvPr/>
        </p:nvSpPr>
        <p:spPr>
          <a:xfrm>
            <a:off x="328681" y="1123281"/>
            <a:ext cx="3415804" cy="1295400"/>
          </a:xfrm>
          <a:prstGeom prst="wedgeRoundRectCallout">
            <a:avLst>
              <a:gd name="adj1" fmla="val 158030"/>
              <a:gd name="adj2" fmla="val 108413"/>
              <a:gd name="adj3" fmla="val 16667"/>
            </a:avLst>
          </a:prstGeom>
          <a:solidFill>
            <a:schemeClr val="bg1">
              <a:lumMod val="85000"/>
              <a:alpha val="64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2400" b="1">
                <a:solidFill>
                  <a:schemeClr val="tx1"/>
                </a:solidFill>
              </a:rPr>
              <a:t>共有なしと比べて</a:t>
            </a:r>
            <a:r>
              <a:rPr kumimoji="1" lang="en-US" altLang="ja-JP" sz="2400" b="1">
                <a:solidFill>
                  <a:schemeClr val="tx1"/>
                </a:solidFill>
              </a:rPr>
              <a:t>FCFS</a:t>
            </a:r>
            <a:r>
              <a:rPr kumimoji="1" lang="ja-JP" altLang="en-US" sz="2400" b="1">
                <a:solidFill>
                  <a:schemeClr val="tx1"/>
                </a:solidFill>
              </a:rPr>
              <a:t>、所有者優先</a:t>
            </a:r>
            <a:endParaRPr kumimoji="1" lang="en-US" altLang="ja-JP" sz="2400" b="1">
              <a:solidFill>
                <a:schemeClr val="tx1"/>
              </a:solidFill>
            </a:endParaRPr>
          </a:p>
          <a:p>
            <a:r>
              <a:rPr kumimoji="1" lang="ja-JP" altLang="en-US" sz="2400" b="1">
                <a:solidFill>
                  <a:schemeClr val="tx1"/>
                </a:solidFill>
              </a:rPr>
              <a:t>方式は</a:t>
            </a:r>
            <a:r>
              <a:rPr kumimoji="1" lang="en-US" altLang="ja-JP" sz="2400" b="1">
                <a:solidFill>
                  <a:schemeClr val="tx1"/>
                </a:solidFill>
              </a:rPr>
              <a:t>TAT</a:t>
            </a:r>
            <a:r>
              <a:rPr kumimoji="1" lang="ja-JP" altLang="en-US" sz="2400" b="1">
                <a:solidFill>
                  <a:schemeClr val="tx1"/>
                </a:solidFill>
              </a:rPr>
              <a:t>が大</a:t>
            </a:r>
          </a:p>
        </p:txBody>
      </p:sp>
      <p:sp>
        <p:nvSpPr>
          <p:cNvPr id="8" name="吹き出し: 角を丸めた四角形 7">
            <a:extLst>
              <a:ext uri="{FF2B5EF4-FFF2-40B4-BE49-F238E27FC236}">
                <a16:creationId xmlns:a16="http://schemas.microsoft.com/office/drawing/2014/main" id="{E32DFD16-C8A6-7AFE-D111-F9E47ADB642A}"/>
              </a:ext>
            </a:extLst>
          </p:cNvPr>
          <p:cNvSpPr/>
          <p:nvPr/>
        </p:nvSpPr>
        <p:spPr>
          <a:xfrm>
            <a:off x="315687" y="2548093"/>
            <a:ext cx="3135086" cy="909619"/>
          </a:xfrm>
          <a:prstGeom prst="wedgeRoundRectCallout">
            <a:avLst>
              <a:gd name="adj1" fmla="val 145537"/>
              <a:gd name="adj2" fmla="val 162934"/>
              <a:gd name="adj3" fmla="val 16667"/>
            </a:avLst>
          </a:prstGeom>
          <a:solidFill>
            <a:schemeClr val="bg1">
              <a:lumMod val="85000"/>
              <a:alpha val="72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800" b="1">
                <a:solidFill>
                  <a:schemeClr val="tx1"/>
                </a:solidFill>
              </a:rPr>
              <a:t>プリエンプティブ</a:t>
            </a:r>
            <a:endParaRPr kumimoji="1" lang="en-US" altLang="ja-JP" sz="2800" b="1">
              <a:solidFill>
                <a:schemeClr val="tx1"/>
              </a:solidFill>
            </a:endParaRPr>
          </a:p>
          <a:p>
            <a:pPr algn="ctr"/>
            <a:r>
              <a:rPr kumimoji="1" lang="ja-JP" altLang="en-US" sz="2800" b="1">
                <a:solidFill>
                  <a:schemeClr val="tx1"/>
                </a:solidFill>
              </a:rPr>
              <a:t>方式は同水準</a:t>
            </a:r>
          </a:p>
        </p:txBody>
      </p:sp>
      <p:sp>
        <p:nvSpPr>
          <p:cNvPr id="9" name="コンテンツ プレースホルダー 8">
            <a:extLst>
              <a:ext uri="{FF2B5EF4-FFF2-40B4-BE49-F238E27FC236}">
                <a16:creationId xmlns:a16="http://schemas.microsoft.com/office/drawing/2014/main" id="{9B8E9F00-4875-F957-C017-CACA2D5FBDA5}"/>
              </a:ext>
            </a:extLst>
          </p:cNvPr>
          <p:cNvSpPr>
            <a:spLocks noGrp="1"/>
          </p:cNvSpPr>
          <p:nvPr>
            <p:ph idx="1"/>
          </p:nvPr>
        </p:nvSpPr>
        <p:spPr/>
        <p:txBody>
          <a:bodyPr/>
          <a:lstStyle/>
          <a:p>
            <a:endParaRPr lang="ja-JP" altLang="en-US" dirty="0"/>
          </a:p>
        </p:txBody>
      </p:sp>
      <p:sp>
        <p:nvSpPr>
          <p:cNvPr id="12" name="テキスト ボックス 11">
            <a:extLst>
              <a:ext uri="{FF2B5EF4-FFF2-40B4-BE49-F238E27FC236}">
                <a16:creationId xmlns:a16="http://schemas.microsoft.com/office/drawing/2014/main" id="{9E5606FF-D8BA-36A8-8804-5AED8CBF7D3C}"/>
              </a:ext>
            </a:extLst>
          </p:cNvPr>
          <p:cNvSpPr txBox="1"/>
          <p:nvPr/>
        </p:nvSpPr>
        <p:spPr>
          <a:xfrm>
            <a:off x="6557753" y="1811925"/>
            <a:ext cx="1247202" cy="369332"/>
          </a:xfrm>
          <a:prstGeom prst="rect">
            <a:avLst/>
          </a:prstGeom>
          <a:solidFill>
            <a:srgbClr val="FF7F0E"/>
          </a:solidFill>
        </p:spPr>
        <p:txBody>
          <a:bodyPr wrap="square" rtlCol="0">
            <a:spAutoFit/>
          </a:bodyPr>
          <a:lstStyle/>
          <a:p>
            <a:r>
              <a:rPr lang="en-US" altLang="ja-JP" b="1" dirty="0">
                <a:solidFill>
                  <a:schemeClr val="bg1"/>
                </a:solidFill>
              </a:rPr>
              <a:t>FCFS</a:t>
            </a:r>
            <a:r>
              <a:rPr kumimoji="1" lang="ja-JP" altLang="en-US" b="1" dirty="0">
                <a:solidFill>
                  <a:schemeClr val="bg1"/>
                </a:solidFill>
              </a:rPr>
              <a:t>方式</a:t>
            </a:r>
          </a:p>
        </p:txBody>
      </p:sp>
      <p:cxnSp>
        <p:nvCxnSpPr>
          <p:cNvPr id="14" name="直線コネクタ 13">
            <a:extLst>
              <a:ext uri="{FF2B5EF4-FFF2-40B4-BE49-F238E27FC236}">
                <a16:creationId xmlns:a16="http://schemas.microsoft.com/office/drawing/2014/main" id="{1AEA56EB-3F5A-4A4E-2F0A-B8AAE1C74F7F}"/>
              </a:ext>
            </a:extLst>
          </p:cNvPr>
          <p:cNvCxnSpPr>
            <a:cxnSpLocks/>
          </p:cNvCxnSpPr>
          <p:nvPr/>
        </p:nvCxnSpPr>
        <p:spPr>
          <a:xfrm>
            <a:off x="7536873" y="2181257"/>
            <a:ext cx="2059709" cy="552707"/>
          </a:xfrm>
          <a:prstGeom prst="line">
            <a:avLst/>
          </a:prstGeom>
          <a:ln>
            <a:solidFill>
              <a:srgbClr val="FF7F0E"/>
            </a:solidFill>
          </a:ln>
        </p:spPr>
        <p:style>
          <a:lnRef idx="2">
            <a:schemeClr val="accent1"/>
          </a:lnRef>
          <a:fillRef idx="0">
            <a:schemeClr val="accent1"/>
          </a:fillRef>
          <a:effectRef idx="1">
            <a:schemeClr val="accent1"/>
          </a:effectRef>
          <a:fontRef idx="minor">
            <a:schemeClr val="tx1"/>
          </a:fontRef>
        </p:style>
      </p:cxnSp>
      <p:sp>
        <p:nvSpPr>
          <p:cNvPr id="15" name="テキスト ボックス 14">
            <a:extLst>
              <a:ext uri="{FF2B5EF4-FFF2-40B4-BE49-F238E27FC236}">
                <a16:creationId xmlns:a16="http://schemas.microsoft.com/office/drawing/2014/main" id="{18A414FC-D0D3-6AD0-32A8-72D585624629}"/>
              </a:ext>
            </a:extLst>
          </p:cNvPr>
          <p:cNvSpPr txBox="1"/>
          <p:nvPr/>
        </p:nvSpPr>
        <p:spPr>
          <a:xfrm>
            <a:off x="8100291" y="1811925"/>
            <a:ext cx="1939155" cy="369332"/>
          </a:xfrm>
          <a:prstGeom prst="rect">
            <a:avLst/>
          </a:prstGeom>
          <a:solidFill>
            <a:srgbClr val="1672B1"/>
          </a:solidFill>
        </p:spPr>
        <p:txBody>
          <a:bodyPr wrap="square" rtlCol="0">
            <a:spAutoFit/>
          </a:bodyPr>
          <a:lstStyle/>
          <a:p>
            <a:r>
              <a:rPr kumimoji="1" lang="ja-JP" altLang="en-US" b="1" dirty="0">
                <a:solidFill>
                  <a:schemeClr val="bg1"/>
                </a:solidFill>
              </a:rPr>
              <a:t>所有者優先方式</a:t>
            </a:r>
          </a:p>
        </p:txBody>
      </p:sp>
      <p:cxnSp>
        <p:nvCxnSpPr>
          <p:cNvPr id="16" name="直線コネクタ 15">
            <a:extLst>
              <a:ext uri="{FF2B5EF4-FFF2-40B4-BE49-F238E27FC236}">
                <a16:creationId xmlns:a16="http://schemas.microsoft.com/office/drawing/2014/main" id="{79138199-2CDC-AC9C-FF54-43F575EB850A}"/>
              </a:ext>
            </a:extLst>
          </p:cNvPr>
          <p:cNvCxnSpPr>
            <a:cxnSpLocks/>
          </p:cNvCxnSpPr>
          <p:nvPr/>
        </p:nvCxnSpPr>
        <p:spPr>
          <a:xfrm>
            <a:off x="9023927" y="2181257"/>
            <a:ext cx="1350565" cy="922161"/>
          </a:xfrm>
          <a:prstGeom prst="line">
            <a:avLst/>
          </a:prstGeom>
          <a:ln>
            <a:solidFill>
              <a:srgbClr val="1672B1"/>
            </a:solidFill>
          </a:ln>
        </p:spPr>
        <p:style>
          <a:lnRef idx="2">
            <a:schemeClr val="accent1"/>
          </a:lnRef>
          <a:fillRef idx="0">
            <a:schemeClr val="accent1"/>
          </a:fillRef>
          <a:effectRef idx="1">
            <a:schemeClr val="accent1"/>
          </a:effectRef>
          <a:fontRef idx="minor">
            <a:schemeClr val="tx1"/>
          </a:fontRef>
        </p:style>
      </p:cxnSp>
      <p:sp>
        <p:nvSpPr>
          <p:cNvPr id="20" name="テキスト ボックス 19">
            <a:extLst>
              <a:ext uri="{FF2B5EF4-FFF2-40B4-BE49-F238E27FC236}">
                <a16:creationId xmlns:a16="http://schemas.microsoft.com/office/drawing/2014/main" id="{EA0AE6D1-46FC-0DC8-B180-F6113E4AB514}"/>
              </a:ext>
            </a:extLst>
          </p:cNvPr>
          <p:cNvSpPr txBox="1"/>
          <p:nvPr/>
        </p:nvSpPr>
        <p:spPr>
          <a:xfrm>
            <a:off x="7918100" y="4732524"/>
            <a:ext cx="1105827" cy="369332"/>
          </a:xfrm>
          <a:prstGeom prst="rect">
            <a:avLst/>
          </a:prstGeom>
          <a:solidFill>
            <a:srgbClr val="9467BD"/>
          </a:solidFill>
        </p:spPr>
        <p:txBody>
          <a:bodyPr wrap="square" rtlCol="0">
            <a:spAutoFit/>
          </a:bodyPr>
          <a:lstStyle/>
          <a:p>
            <a:r>
              <a:rPr lang="ja-JP" altLang="en-US" b="1">
                <a:solidFill>
                  <a:schemeClr val="bg1"/>
                </a:solidFill>
              </a:rPr>
              <a:t>共有なし</a:t>
            </a:r>
            <a:endParaRPr kumimoji="1" lang="ja-JP" altLang="en-US" b="1">
              <a:solidFill>
                <a:schemeClr val="bg1"/>
              </a:solidFill>
            </a:endParaRPr>
          </a:p>
        </p:txBody>
      </p:sp>
      <p:cxnSp>
        <p:nvCxnSpPr>
          <p:cNvPr id="21" name="直線コネクタ 20">
            <a:extLst>
              <a:ext uri="{FF2B5EF4-FFF2-40B4-BE49-F238E27FC236}">
                <a16:creationId xmlns:a16="http://schemas.microsoft.com/office/drawing/2014/main" id="{F0E02930-DA3C-5EDE-B232-17078A322BD7}"/>
              </a:ext>
            </a:extLst>
          </p:cNvPr>
          <p:cNvCxnSpPr>
            <a:cxnSpLocks/>
          </p:cNvCxnSpPr>
          <p:nvPr/>
        </p:nvCxnSpPr>
        <p:spPr>
          <a:xfrm>
            <a:off x="7536873" y="4285673"/>
            <a:ext cx="794327" cy="446851"/>
          </a:xfrm>
          <a:prstGeom prst="line">
            <a:avLst/>
          </a:prstGeom>
          <a:ln>
            <a:solidFill>
              <a:srgbClr val="9467BD"/>
            </a:solidFill>
          </a:ln>
        </p:spPr>
        <p:style>
          <a:lnRef idx="2">
            <a:schemeClr val="accent1"/>
          </a:lnRef>
          <a:fillRef idx="0">
            <a:schemeClr val="accent1"/>
          </a:fillRef>
          <a:effectRef idx="1">
            <a:schemeClr val="accent1"/>
          </a:effectRef>
          <a:fontRef idx="minor">
            <a:schemeClr val="tx1"/>
          </a:fontRef>
        </p:style>
      </p:cxnSp>
      <p:sp>
        <p:nvSpPr>
          <p:cNvPr id="25" name="テキスト ボックス 24">
            <a:extLst>
              <a:ext uri="{FF2B5EF4-FFF2-40B4-BE49-F238E27FC236}">
                <a16:creationId xmlns:a16="http://schemas.microsoft.com/office/drawing/2014/main" id="{39FB8771-BB4E-14AF-3A66-C4AA25C200FD}"/>
              </a:ext>
            </a:extLst>
          </p:cNvPr>
          <p:cNvSpPr txBox="1"/>
          <p:nvPr/>
        </p:nvSpPr>
        <p:spPr>
          <a:xfrm>
            <a:off x="9404062" y="4732524"/>
            <a:ext cx="2541195" cy="369332"/>
          </a:xfrm>
          <a:prstGeom prst="rect">
            <a:avLst/>
          </a:prstGeom>
          <a:solidFill>
            <a:srgbClr val="2CA02C"/>
          </a:solidFill>
        </p:spPr>
        <p:txBody>
          <a:bodyPr wrap="square" rtlCol="0">
            <a:spAutoFit/>
          </a:bodyPr>
          <a:lstStyle/>
          <a:p>
            <a:r>
              <a:rPr lang="ja-JP" altLang="en-US" b="1">
                <a:solidFill>
                  <a:schemeClr val="bg1"/>
                </a:solidFill>
              </a:rPr>
              <a:t>プリエンプティブ方式</a:t>
            </a:r>
            <a:endParaRPr kumimoji="1" lang="ja-JP" altLang="en-US" b="1">
              <a:solidFill>
                <a:schemeClr val="bg1"/>
              </a:solidFill>
            </a:endParaRPr>
          </a:p>
        </p:txBody>
      </p:sp>
      <p:cxnSp>
        <p:nvCxnSpPr>
          <p:cNvPr id="29" name="直線コネクタ 28">
            <a:extLst>
              <a:ext uri="{FF2B5EF4-FFF2-40B4-BE49-F238E27FC236}">
                <a16:creationId xmlns:a16="http://schemas.microsoft.com/office/drawing/2014/main" id="{A5E09C0F-F1F2-46E2-7994-E7D60E37EEEF}"/>
              </a:ext>
            </a:extLst>
          </p:cNvPr>
          <p:cNvCxnSpPr>
            <a:cxnSpLocks/>
            <a:endCxn id="25" idx="0"/>
          </p:cNvCxnSpPr>
          <p:nvPr/>
        </p:nvCxnSpPr>
        <p:spPr>
          <a:xfrm>
            <a:off x="8815399" y="4124037"/>
            <a:ext cx="1859261" cy="608487"/>
          </a:xfrm>
          <a:prstGeom prst="line">
            <a:avLst/>
          </a:prstGeom>
          <a:ln>
            <a:solidFill>
              <a:srgbClr val="2CA02C"/>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42820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13F3A42-9F33-C969-1239-8E61272F5176}"/>
              </a:ext>
            </a:extLst>
          </p:cNvPr>
          <p:cNvSpPr>
            <a:spLocks noGrp="1"/>
          </p:cNvSpPr>
          <p:nvPr>
            <p:ph type="title"/>
          </p:nvPr>
        </p:nvSpPr>
        <p:spPr/>
        <p:txBody>
          <a:bodyPr/>
          <a:lstStyle/>
          <a:p>
            <a:r>
              <a:rPr lang="ja-JP" altLang="en-US" b="1"/>
              <a:t>性能別ユーザー行動による</a:t>
            </a:r>
            <a:r>
              <a:rPr lang="en-US" altLang="ja-JP" b="1"/>
              <a:t>ACP</a:t>
            </a:r>
            <a:r>
              <a:rPr lang="ja-JP" altLang="en-US" b="1"/>
              <a:t>参加評価</a:t>
            </a:r>
            <a:endParaRPr lang="en-US" altLang="ja-JP" b="1"/>
          </a:p>
        </p:txBody>
      </p:sp>
      <p:sp>
        <p:nvSpPr>
          <p:cNvPr id="3" name="コンテンツ プレースホルダー 2">
            <a:extLst>
              <a:ext uri="{FF2B5EF4-FFF2-40B4-BE49-F238E27FC236}">
                <a16:creationId xmlns:a16="http://schemas.microsoft.com/office/drawing/2014/main" id="{83113ED6-80FB-38AA-B1C6-A2AEE513B7C5}"/>
              </a:ext>
            </a:extLst>
          </p:cNvPr>
          <p:cNvSpPr>
            <a:spLocks noGrp="1"/>
          </p:cNvSpPr>
          <p:nvPr>
            <p:ph idx="1"/>
          </p:nvPr>
        </p:nvSpPr>
        <p:spPr/>
        <p:txBody>
          <a:bodyPr>
            <a:normAutofit fontScale="70000" lnSpcReduction="20000"/>
          </a:bodyPr>
          <a:lstStyle/>
          <a:p>
            <a:pPr marL="0" indent="0">
              <a:lnSpc>
                <a:spcPct val="150000"/>
              </a:lnSpc>
              <a:buNone/>
            </a:pPr>
            <a:r>
              <a:rPr lang="ja-JP" altLang="en-US" sz="3400" b="1" dirty="0">
                <a:solidFill>
                  <a:schemeClr val="accent3">
                    <a:lumMod val="75000"/>
                  </a:schemeClr>
                </a:solidFill>
                <a:latin typeface="+mn-lt"/>
              </a:rPr>
              <a:t>待ち時間を効用式とした意思決定モデルと参加者数の推移評価</a:t>
            </a:r>
            <a:endParaRPr lang="en-US" altLang="ja-JP" sz="3400" b="1" dirty="0">
              <a:solidFill>
                <a:schemeClr val="accent3">
                  <a:lumMod val="75000"/>
                </a:schemeClr>
              </a:solidFill>
              <a:latin typeface="+mn-lt"/>
              <a:ea typeface="メイリオ" panose="020B0604030504040204" pitchFamily="50" charset="-128"/>
            </a:endParaRPr>
          </a:p>
          <a:p>
            <a:pPr marL="0" indent="0">
              <a:lnSpc>
                <a:spcPct val="150000"/>
              </a:lnSpc>
              <a:buNone/>
            </a:pPr>
            <a:r>
              <a:rPr lang="ja-JP" altLang="en-US" sz="2900" b="1" dirty="0">
                <a:latin typeface="+mn-lt"/>
                <a:ea typeface="メイリオ" panose="020B0604030504040204" pitchFamily="50" charset="-128"/>
              </a:rPr>
              <a:t>合理的なユーザー行動のモデル化</a:t>
            </a:r>
            <a:endParaRPr lang="ja-JP" altLang="en-US" sz="2900" dirty="0">
              <a:latin typeface="+mn-lt"/>
              <a:ea typeface="メイリオ" panose="020B0604030504040204" pitchFamily="50" charset="-128"/>
            </a:endParaRPr>
          </a:p>
          <a:p>
            <a:pPr marL="457200" lvl="1" indent="0">
              <a:lnSpc>
                <a:spcPct val="150000"/>
              </a:lnSpc>
              <a:buNone/>
            </a:pPr>
            <a:r>
              <a:rPr lang="ja-JP" altLang="en-US" sz="2900" dirty="0">
                <a:latin typeface="+mn-lt"/>
                <a:ea typeface="メイリオ" panose="020B0604030504040204" pitchFamily="50" charset="-128"/>
              </a:rPr>
              <a:t>「ターンアラウンドタイム」の速さを</a:t>
            </a:r>
            <a:r>
              <a:rPr lang="ja-JP" altLang="en-US" sz="2900" b="1" dirty="0">
                <a:solidFill>
                  <a:schemeClr val="accent1"/>
                </a:solidFill>
                <a:latin typeface="+mn-lt"/>
                <a:ea typeface="メイリオ" panose="020B0604030504040204" pitchFamily="50" charset="-128"/>
              </a:rPr>
              <a:t>効用関数</a:t>
            </a:r>
            <a:r>
              <a:rPr lang="ja-JP" altLang="en-US" sz="2900" dirty="0">
                <a:latin typeface="+mn-lt"/>
                <a:ea typeface="メイリオ" panose="020B0604030504040204" pitchFamily="50" charset="-128"/>
              </a:rPr>
              <a:t>として、</a:t>
            </a:r>
            <a:r>
              <a:rPr lang="en-US" altLang="ja-JP" sz="2900" dirty="0">
                <a:latin typeface="+mn-lt"/>
                <a:ea typeface="メイリオ" panose="020B0604030504040204" pitchFamily="50" charset="-128"/>
              </a:rPr>
              <a:t>ACP</a:t>
            </a:r>
            <a:r>
              <a:rPr lang="ja-JP" altLang="en-US" sz="2900" dirty="0">
                <a:latin typeface="+mn-lt"/>
                <a:ea typeface="メイリオ" panose="020B0604030504040204" pitchFamily="50" charset="-128"/>
              </a:rPr>
              <a:t>への参加・不参加を判断すると想定。</a:t>
            </a:r>
          </a:p>
          <a:p>
            <a:pPr marL="0" indent="0">
              <a:lnSpc>
                <a:spcPct val="150000"/>
              </a:lnSpc>
              <a:buNone/>
            </a:pPr>
            <a:r>
              <a:rPr lang="ja-JP" altLang="en-US" sz="2900" b="1" dirty="0">
                <a:latin typeface="+mn-lt"/>
                <a:ea typeface="メイリオ" panose="020B0604030504040204" pitchFamily="50" charset="-128"/>
              </a:rPr>
              <a:t>参加判断のロジック　→　</a:t>
            </a:r>
            <a:r>
              <a:rPr lang="ja-JP" altLang="en-US" sz="2900" dirty="0">
                <a:latin typeface="+mn-lt"/>
                <a:ea typeface="メイリオ" panose="020B0604030504040204" pitchFamily="50" charset="-128"/>
              </a:rPr>
              <a:t>毎ループごとに参加判断</a:t>
            </a:r>
          </a:p>
          <a:p>
            <a:pPr marL="457200" lvl="1" indent="0">
              <a:lnSpc>
                <a:spcPct val="150000"/>
              </a:lnSpc>
              <a:buNone/>
            </a:pPr>
            <a:r>
              <a:rPr lang="ja-JP" altLang="en-US" sz="2900" b="1" dirty="0">
                <a:latin typeface="+mn-lt"/>
                <a:ea typeface="メイリオ" panose="020B0604030504040204" pitchFamily="50" charset="-128"/>
              </a:rPr>
              <a:t>未参加者：</a:t>
            </a:r>
            <a:r>
              <a:rPr lang="ja-JP" altLang="en-US" sz="2900" dirty="0">
                <a:latin typeface="+mn-lt"/>
                <a:ea typeface="メイリオ" panose="020B0604030504040204" pitchFamily="50" charset="-128"/>
              </a:rPr>
              <a:t>「現在の</a:t>
            </a:r>
            <a:r>
              <a:rPr lang="en-US" altLang="ja-JP" sz="2900" dirty="0">
                <a:latin typeface="+mn-lt"/>
                <a:ea typeface="メイリオ" panose="020B0604030504040204" pitchFamily="50" charset="-128"/>
              </a:rPr>
              <a:t>ACP</a:t>
            </a:r>
            <a:r>
              <a:rPr lang="ja-JP" altLang="en-US" sz="2900" dirty="0">
                <a:latin typeface="+mn-lt"/>
                <a:ea typeface="メイリオ" panose="020B0604030504040204" pitchFamily="50" charset="-128"/>
              </a:rPr>
              <a:t>に自分が加わった場合」の待ち時間を予測し、</a:t>
            </a:r>
            <a:endParaRPr lang="en-US" altLang="ja-JP" sz="2900" dirty="0">
              <a:latin typeface="+mn-lt"/>
              <a:ea typeface="メイリオ" panose="020B0604030504040204" pitchFamily="50" charset="-128"/>
            </a:endParaRPr>
          </a:p>
          <a:p>
            <a:pPr marL="457200" lvl="1" indent="0">
              <a:lnSpc>
                <a:spcPct val="150000"/>
              </a:lnSpc>
              <a:buNone/>
            </a:pPr>
            <a:r>
              <a:rPr lang="ja-JP" altLang="en-US" sz="2900" dirty="0">
                <a:latin typeface="+mn-lt"/>
                <a:ea typeface="メイリオ" panose="020B0604030504040204" pitchFamily="50" charset="-128"/>
              </a:rPr>
              <a:t>　　　　　　自分の</a:t>
            </a:r>
            <a:r>
              <a:rPr lang="en-US" altLang="ja-JP" sz="2900" dirty="0">
                <a:latin typeface="+mn-lt"/>
                <a:ea typeface="メイリオ" panose="020B0604030504040204" pitchFamily="50" charset="-128"/>
              </a:rPr>
              <a:t>GPU</a:t>
            </a:r>
            <a:r>
              <a:rPr lang="ja-JP" altLang="en-US" sz="2900" dirty="0">
                <a:latin typeface="+mn-lt"/>
                <a:ea typeface="メイリオ" panose="020B0604030504040204" pitchFamily="50" charset="-128"/>
              </a:rPr>
              <a:t>のみを使う場合と比較して早い方を選択。</a:t>
            </a:r>
          </a:p>
          <a:p>
            <a:pPr marL="457200" lvl="1" indent="0">
              <a:lnSpc>
                <a:spcPct val="150000"/>
              </a:lnSpc>
              <a:buNone/>
            </a:pPr>
            <a:r>
              <a:rPr lang="ja-JP" altLang="en-US" sz="2900" b="1" dirty="0">
                <a:latin typeface="+mn-lt"/>
                <a:ea typeface="メイリオ" panose="020B0604030504040204" pitchFamily="50" charset="-128"/>
              </a:rPr>
              <a:t>参加者：</a:t>
            </a:r>
            <a:r>
              <a:rPr lang="ja-JP" altLang="en-US" sz="2900" dirty="0">
                <a:latin typeface="+mn-lt"/>
                <a:ea typeface="メイリオ" panose="020B0604030504040204" pitchFamily="50" charset="-128"/>
              </a:rPr>
              <a:t>「現在の</a:t>
            </a:r>
            <a:r>
              <a:rPr lang="en-US" altLang="ja-JP" sz="2900" dirty="0">
                <a:latin typeface="+mn-lt"/>
                <a:ea typeface="メイリオ" panose="020B0604030504040204" pitchFamily="50" charset="-128"/>
              </a:rPr>
              <a:t>ACP</a:t>
            </a:r>
            <a:r>
              <a:rPr lang="ja-JP" altLang="en-US" sz="2900" dirty="0">
                <a:latin typeface="+mn-lt"/>
                <a:ea typeface="メイリオ" panose="020B0604030504040204" pitchFamily="50" charset="-128"/>
              </a:rPr>
              <a:t>での実績値」と、自分一人で計算した場合を比較し、</a:t>
            </a:r>
            <a:endParaRPr lang="en-US" altLang="ja-JP" sz="2900" dirty="0">
              <a:latin typeface="+mn-lt"/>
              <a:ea typeface="メイリオ" panose="020B0604030504040204" pitchFamily="50" charset="-128"/>
            </a:endParaRPr>
          </a:p>
          <a:p>
            <a:pPr marL="457200" lvl="1" indent="0">
              <a:lnSpc>
                <a:spcPct val="150000"/>
              </a:lnSpc>
              <a:buNone/>
            </a:pPr>
            <a:r>
              <a:rPr lang="ja-JP" altLang="en-US" sz="2900" dirty="0">
                <a:latin typeface="+mn-lt"/>
                <a:ea typeface="メイリオ" panose="020B0604030504040204" pitchFamily="50" charset="-128"/>
              </a:rPr>
              <a:t>　　　　　継続か離脱かを判断。</a:t>
            </a:r>
          </a:p>
          <a:p>
            <a:pPr marL="0" indent="0">
              <a:lnSpc>
                <a:spcPct val="150000"/>
              </a:lnSpc>
              <a:buNone/>
            </a:pPr>
            <a:r>
              <a:rPr lang="ja-JP" altLang="en-US" sz="2900" b="1" dirty="0">
                <a:latin typeface="+mn-lt"/>
                <a:ea typeface="メイリオ" panose="020B0604030504040204" pitchFamily="50" charset="-128"/>
              </a:rPr>
              <a:t>持続性の評価指標</a:t>
            </a:r>
            <a:endParaRPr lang="ja-JP" altLang="en-US" sz="2900" dirty="0">
              <a:latin typeface="+mn-lt"/>
              <a:ea typeface="メイリオ" panose="020B0604030504040204" pitchFamily="50" charset="-128"/>
            </a:endParaRPr>
          </a:p>
          <a:p>
            <a:pPr marL="457200" lvl="1" indent="0">
              <a:lnSpc>
                <a:spcPct val="150000"/>
              </a:lnSpc>
              <a:buNone/>
            </a:pPr>
            <a:r>
              <a:rPr lang="en-US" altLang="ja-JP" sz="2900" dirty="0">
                <a:latin typeface="+mn-lt"/>
                <a:ea typeface="メイリオ" panose="020B0604030504040204" pitchFamily="50" charset="-128"/>
              </a:rPr>
              <a:t>10</a:t>
            </a:r>
            <a:r>
              <a:rPr lang="ja-JP" altLang="en-US" sz="2900" dirty="0">
                <a:latin typeface="+mn-lt"/>
                <a:ea typeface="メイリオ" panose="020B0604030504040204" pitchFamily="50" charset="-128"/>
              </a:rPr>
              <a:t>回のループを通じて、</a:t>
            </a:r>
            <a:r>
              <a:rPr lang="ja-JP" altLang="en-US" sz="2900" b="1" dirty="0">
                <a:solidFill>
                  <a:schemeClr val="accent1"/>
                </a:solidFill>
                <a:latin typeface="+mn-lt"/>
                <a:ea typeface="メイリオ" panose="020B0604030504040204" pitchFamily="50" charset="-128"/>
              </a:rPr>
              <a:t>性能別のユーザーの参加者数</a:t>
            </a:r>
          </a:p>
          <a:p>
            <a:pPr marL="0" indent="0">
              <a:buNone/>
            </a:pPr>
            <a:endParaRPr kumimoji="1" lang="ja-JP" altLang="en-US" b="1" dirty="0">
              <a:solidFill>
                <a:schemeClr val="accent3">
                  <a:lumMod val="75000"/>
                </a:schemeClr>
              </a:solidFill>
            </a:endParaRPr>
          </a:p>
        </p:txBody>
      </p:sp>
      <p:sp>
        <p:nvSpPr>
          <p:cNvPr id="4" name="スライド番号プレースホルダー 3">
            <a:extLst>
              <a:ext uri="{FF2B5EF4-FFF2-40B4-BE49-F238E27FC236}">
                <a16:creationId xmlns:a16="http://schemas.microsoft.com/office/drawing/2014/main" id="{11E220AF-AD77-EDA2-CFF8-25A71A459026}"/>
              </a:ext>
            </a:extLst>
          </p:cNvPr>
          <p:cNvSpPr>
            <a:spLocks noGrp="1"/>
          </p:cNvSpPr>
          <p:nvPr>
            <p:ph type="sldNum" sz="quarter" idx="12"/>
          </p:nvPr>
        </p:nvSpPr>
        <p:spPr/>
        <p:txBody>
          <a:bodyPr/>
          <a:lstStyle/>
          <a:p>
            <a:fld id="{8D1BC46D-89B1-41A3-BBA1-F56BEABD0A90}" type="slidenum">
              <a:rPr lang="ja-JP" altLang="en-US" smtClean="0"/>
              <a:pPr/>
              <a:t>11</a:t>
            </a:fld>
            <a:endParaRPr lang="ja-JP" altLang="en-US"/>
          </a:p>
        </p:txBody>
      </p:sp>
    </p:spTree>
    <p:extLst>
      <p:ext uri="{BB962C8B-B14F-4D97-AF65-F5344CB8AC3E}">
        <p14:creationId xmlns:p14="http://schemas.microsoft.com/office/powerpoint/2010/main" val="6461698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descr="グラフ, 棒グラフ&#10;&#10;AI 生成コンテンツは誤りを含む可能性があります。">
            <a:extLst>
              <a:ext uri="{FF2B5EF4-FFF2-40B4-BE49-F238E27FC236}">
                <a16:creationId xmlns:a16="http://schemas.microsoft.com/office/drawing/2014/main" id="{BC83BF69-380B-7B8F-A309-FA7130143436}"/>
              </a:ext>
            </a:extLst>
          </p:cNvPr>
          <p:cNvPicPr>
            <a:picLocks noChangeAspect="1"/>
          </p:cNvPicPr>
          <p:nvPr/>
        </p:nvPicPr>
        <p:blipFill>
          <a:blip r:embed="rId3"/>
          <a:stretch>
            <a:fillRect/>
          </a:stretch>
        </p:blipFill>
        <p:spPr>
          <a:xfrm>
            <a:off x="3494041" y="1351463"/>
            <a:ext cx="4375576" cy="2614440"/>
          </a:xfrm>
          <a:prstGeom prst="rect">
            <a:avLst/>
          </a:prstGeom>
        </p:spPr>
      </p:pic>
      <p:pic>
        <p:nvPicPr>
          <p:cNvPr id="13" name="図 12" descr="グラフ, 棒グラフ&#10;&#10;AI 生成コンテンツは誤りを含む可能性があります。">
            <a:extLst>
              <a:ext uri="{FF2B5EF4-FFF2-40B4-BE49-F238E27FC236}">
                <a16:creationId xmlns:a16="http://schemas.microsoft.com/office/drawing/2014/main" id="{0A913290-A3B8-C50E-9165-8DF1ED8A2F15}"/>
              </a:ext>
            </a:extLst>
          </p:cNvPr>
          <p:cNvPicPr>
            <a:picLocks noChangeAspect="1"/>
          </p:cNvPicPr>
          <p:nvPr/>
        </p:nvPicPr>
        <p:blipFill>
          <a:blip r:embed="rId4"/>
          <a:stretch>
            <a:fillRect/>
          </a:stretch>
        </p:blipFill>
        <p:spPr>
          <a:xfrm>
            <a:off x="650147" y="4110182"/>
            <a:ext cx="4375576" cy="2614440"/>
          </a:xfrm>
          <a:prstGeom prst="rect">
            <a:avLst/>
          </a:prstGeom>
        </p:spPr>
      </p:pic>
      <p:sp>
        <p:nvSpPr>
          <p:cNvPr id="2" name="タイトル 1">
            <a:extLst>
              <a:ext uri="{FF2B5EF4-FFF2-40B4-BE49-F238E27FC236}">
                <a16:creationId xmlns:a16="http://schemas.microsoft.com/office/drawing/2014/main" id="{86AB8C8D-11A8-96A5-361A-59F9257AFEB8}"/>
              </a:ext>
            </a:extLst>
          </p:cNvPr>
          <p:cNvSpPr>
            <a:spLocks noGrp="1"/>
          </p:cNvSpPr>
          <p:nvPr>
            <p:ph type="title"/>
          </p:nvPr>
        </p:nvSpPr>
        <p:spPr/>
        <p:txBody>
          <a:bodyPr/>
          <a:lstStyle/>
          <a:p>
            <a:r>
              <a:rPr lang="ja-JP" altLang="en-US" b="1"/>
              <a:t>シミュレーション結果 </a:t>
            </a:r>
            <a:r>
              <a:rPr lang="en-US" altLang="ja-JP" b="1"/>
              <a:t>:</a:t>
            </a:r>
            <a:r>
              <a:rPr lang="ja-JP" altLang="en-US" b="1"/>
              <a:t> 参加者数推移</a:t>
            </a:r>
            <a:endParaRPr kumimoji="1" lang="ja-JP" altLang="en-US" b="1"/>
          </a:p>
        </p:txBody>
      </p:sp>
      <p:sp>
        <p:nvSpPr>
          <p:cNvPr id="4" name="スライド番号プレースホルダー 3">
            <a:extLst>
              <a:ext uri="{FF2B5EF4-FFF2-40B4-BE49-F238E27FC236}">
                <a16:creationId xmlns:a16="http://schemas.microsoft.com/office/drawing/2014/main" id="{10E2543F-C418-7668-E296-BC1FC3AEF9E0}"/>
              </a:ext>
            </a:extLst>
          </p:cNvPr>
          <p:cNvSpPr>
            <a:spLocks noGrp="1"/>
          </p:cNvSpPr>
          <p:nvPr>
            <p:ph type="sldNum" sz="quarter" idx="12"/>
          </p:nvPr>
        </p:nvSpPr>
        <p:spPr/>
        <p:txBody>
          <a:bodyPr/>
          <a:lstStyle/>
          <a:p>
            <a:fld id="{8D1BC46D-89B1-41A3-BBA1-F56BEABD0A90}" type="slidenum">
              <a:rPr lang="ja-JP" altLang="en-US" smtClean="0"/>
              <a:pPr/>
              <a:t>12</a:t>
            </a:fld>
            <a:endParaRPr lang="ja-JP" altLang="en-US"/>
          </a:p>
        </p:txBody>
      </p:sp>
      <p:sp>
        <p:nvSpPr>
          <p:cNvPr id="9" name="吹き出し: 角を丸めた四角形 8">
            <a:extLst>
              <a:ext uri="{FF2B5EF4-FFF2-40B4-BE49-F238E27FC236}">
                <a16:creationId xmlns:a16="http://schemas.microsoft.com/office/drawing/2014/main" id="{F54FDCF0-C453-9702-A3E7-809C763B461B}"/>
              </a:ext>
            </a:extLst>
          </p:cNvPr>
          <p:cNvSpPr/>
          <p:nvPr/>
        </p:nvSpPr>
        <p:spPr>
          <a:xfrm>
            <a:off x="80150" y="1498876"/>
            <a:ext cx="4115797" cy="2271923"/>
          </a:xfrm>
          <a:custGeom>
            <a:avLst/>
            <a:gdLst>
              <a:gd name="csX0" fmla="*/ 0 w 3252236"/>
              <a:gd name="csY0" fmla="*/ 264744 h 1588432"/>
              <a:gd name="csX1" fmla="*/ 264744 w 3252236"/>
              <a:gd name="csY1" fmla="*/ 0 h 1588432"/>
              <a:gd name="csX2" fmla="*/ 1897138 w 3252236"/>
              <a:gd name="csY2" fmla="*/ 0 h 1588432"/>
              <a:gd name="csX3" fmla="*/ 1897138 w 3252236"/>
              <a:gd name="csY3" fmla="*/ 0 h 1588432"/>
              <a:gd name="csX4" fmla="*/ 2710197 w 3252236"/>
              <a:gd name="csY4" fmla="*/ 0 h 1588432"/>
              <a:gd name="csX5" fmla="*/ 2987492 w 3252236"/>
              <a:gd name="csY5" fmla="*/ 0 h 1588432"/>
              <a:gd name="csX6" fmla="*/ 3252236 w 3252236"/>
              <a:gd name="csY6" fmla="*/ 264744 h 1588432"/>
              <a:gd name="csX7" fmla="*/ 3252236 w 3252236"/>
              <a:gd name="csY7" fmla="*/ 926585 h 1588432"/>
              <a:gd name="csX8" fmla="*/ 6988307 w 3252236"/>
              <a:gd name="csY8" fmla="*/ 1842184 h 1588432"/>
              <a:gd name="csX9" fmla="*/ 3252236 w 3252236"/>
              <a:gd name="csY9" fmla="*/ 1323693 h 1588432"/>
              <a:gd name="csX10" fmla="*/ 3252236 w 3252236"/>
              <a:gd name="csY10" fmla="*/ 1323688 h 1588432"/>
              <a:gd name="csX11" fmla="*/ 2987492 w 3252236"/>
              <a:gd name="csY11" fmla="*/ 1588432 h 1588432"/>
              <a:gd name="csX12" fmla="*/ 2710197 w 3252236"/>
              <a:gd name="csY12" fmla="*/ 1588432 h 1588432"/>
              <a:gd name="csX13" fmla="*/ 1897138 w 3252236"/>
              <a:gd name="csY13" fmla="*/ 1588432 h 1588432"/>
              <a:gd name="csX14" fmla="*/ 1897138 w 3252236"/>
              <a:gd name="csY14" fmla="*/ 1588432 h 1588432"/>
              <a:gd name="csX15" fmla="*/ 264744 w 3252236"/>
              <a:gd name="csY15" fmla="*/ 1588432 h 1588432"/>
              <a:gd name="csX16" fmla="*/ 0 w 3252236"/>
              <a:gd name="csY16" fmla="*/ 1323688 h 1588432"/>
              <a:gd name="csX17" fmla="*/ 0 w 3252236"/>
              <a:gd name="csY17" fmla="*/ 1323693 h 1588432"/>
              <a:gd name="csX18" fmla="*/ 0 w 3252236"/>
              <a:gd name="csY18" fmla="*/ 926585 h 1588432"/>
              <a:gd name="csX19" fmla="*/ 0 w 3252236"/>
              <a:gd name="csY19" fmla="*/ 926585 h 1588432"/>
              <a:gd name="csX20" fmla="*/ 0 w 3252236"/>
              <a:gd name="csY20" fmla="*/ 264744 h 1588432"/>
              <a:gd name="csX0" fmla="*/ 0 w 6988307"/>
              <a:gd name="csY0" fmla="*/ 264744 h 3925232"/>
              <a:gd name="csX1" fmla="*/ 264744 w 6988307"/>
              <a:gd name="csY1" fmla="*/ 0 h 3925232"/>
              <a:gd name="csX2" fmla="*/ 1897138 w 6988307"/>
              <a:gd name="csY2" fmla="*/ 0 h 3925232"/>
              <a:gd name="csX3" fmla="*/ 1897138 w 6988307"/>
              <a:gd name="csY3" fmla="*/ 0 h 3925232"/>
              <a:gd name="csX4" fmla="*/ 2710197 w 6988307"/>
              <a:gd name="csY4" fmla="*/ 0 h 3925232"/>
              <a:gd name="csX5" fmla="*/ 2987492 w 6988307"/>
              <a:gd name="csY5" fmla="*/ 0 h 3925232"/>
              <a:gd name="csX6" fmla="*/ 3252236 w 6988307"/>
              <a:gd name="csY6" fmla="*/ 264744 h 3925232"/>
              <a:gd name="csX7" fmla="*/ 3252236 w 6988307"/>
              <a:gd name="csY7" fmla="*/ 926585 h 3925232"/>
              <a:gd name="csX8" fmla="*/ 6988307 w 6988307"/>
              <a:gd name="csY8" fmla="*/ 1842184 h 3925232"/>
              <a:gd name="csX9" fmla="*/ 3252236 w 6988307"/>
              <a:gd name="csY9" fmla="*/ 1323693 h 3925232"/>
              <a:gd name="csX10" fmla="*/ 3252236 w 6988307"/>
              <a:gd name="csY10" fmla="*/ 1323688 h 3925232"/>
              <a:gd name="csX11" fmla="*/ 2987492 w 6988307"/>
              <a:gd name="csY11" fmla="*/ 1588432 h 3925232"/>
              <a:gd name="csX12" fmla="*/ 4603652 w 6988307"/>
              <a:gd name="csY12" fmla="*/ 3925232 h 3925232"/>
              <a:gd name="csX13" fmla="*/ 1897138 w 6988307"/>
              <a:gd name="csY13" fmla="*/ 1588432 h 3925232"/>
              <a:gd name="csX14" fmla="*/ 1897138 w 6988307"/>
              <a:gd name="csY14" fmla="*/ 1588432 h 3925232"/>
              <a:gd name="csX15" fmla="*/ 264744 w 6988307"/>
              <a:gd name="csY15" fmla="*/ 1588432 h 3925232"/>
              <a:gd name="csX16" fmla="*/ 0 w 6988307"/>
              <a:gd name="csY16" fmla="*/ 1323688 h 3925232"/>
              <a:gd name="csX17" fmla="*/ 0 w 6988307"/>
              <a:gd name="csY17" fmla="*/ 1323693 h 3925232"/>
              <a:gd name="csX18" fmla="*/ 0 w 6988307"/>
              <a:gd name="csY18" fmla="*/ 926585 h 3925232"/>
              <a:gd name="csX19" fmla="*/ 0 w 6988307"/>
              <a:gd name="csY19" fmla="*/ 926585 h 3925232"/>
              <a:gd name="csX20" fmla="*/ 0 w 6988307"/>
              <a:gd name="csY20" fmla="*/ 264744 h 3925232"/>
              <a:gd name="csX0" fmla="*/ 0 w 6988307"/>
              <a:gd name="csY0" fmla="*/ 264744 h 2271923"/>
              <a:gd name="csX1" fmla="*/ 264744 w 6988307"/>
              <a:gd name="csY1" fmla="*/ 0 h 2271923"/>
              <a:gd name="csX2" fmla="*/ 1897138 w 6988307"/>
              <a:gd name="csY2" fmla="*/ 0 h 2271923"/>
              <a:gd name="csX3" fmla="*/ 1897138 w 6988307"/>
              <a:gd name="csY3" fmla="*/ 0 h 2271923"/>
              <a:gd name="csX4" fmla="*/ 2710197 w 6988307"/>
              <a:gd name="csY4" fmla="*/ 0 h 2271923"/>
              <a:gd name="csX5" fmla="*/ 2987492 w 6988307"/>
              <a:gd name="csY5" fmla="*/ 0 h 2271923"/>
              <a:gd name="csX6" fmla="*/ 3252236 w 6988307"/>
              <a:gd name="csY6" fmla="*/ 264744 h 2271923"/>
              <a:gd name="csX7" fmla="*/ 3252236 w 6988307"/>
              <a:gd name="csY7" fmla="*/ 926585 h 2271923"/>
              <a:gd name="csX8" fmla="*/ 6988307 w 6988307"/>
              <a:gd name="csY8" fmla="*/ 1842184 h 2271923"/>
              <a:gd name="csX9" fmla="*/ 3252236 w 6988307"/>
              <a:gd name="csY9" fmla="*/ 1323693 h 2271923"/>
              <a:gd name="csX10" fmla="*/ 3252236 w 6988307"/>
              <a:gd name="csY10" fmla="*/ 1323688 h 2271923"/>
              <a:gd name="csX11" fmla="*/ 2987492 w 6988307"/>
              <a:gd name="csY11" fmla="*/ 1588432 h 2271923"/>
              <a:gd name="csX12" fmla="*/ 2867216 w 6988307"/>
              <a:gd name="csY12" fmla="*/ 2271923 h 2271923"/>
              <a:gd name="csX13" fmla="*/ 1897138 w 6988307"/>
              <a:gd name="csY13" fmla="*/ 1588432 h 2271923"/>
              <a:gd name="csX14" fmla="*/ 1897138 w 6988307"/>
              <a:gd name="csY14" fmla="*/ 1588432 h 2271923"/>
              <a:gd name="csX15" fmla="*/ 264744 w 6988307"/>
              <a:gd name="csY15" fmla="*/ 1588432 h 2271923"/>
              <a:gd name="csX16" fmla="*/ 0 w 6988307"/>
              <a:gd name="csY16" fmla="*/ 1323688 h 2271923"/>
              <a:gd name="csX17" fmla="*/ 0 w 6988307"/>
              <a:gd name="csY17" fmla="*/ 1323693 h 2271923"/>
              <a:gd name="csX18" fmla="*/ 0 w 6988307"/>
              <a:gd name="csY18" fmla="*/ 926585 h 2271923"/>
              <a:gd name="csX19" fmla="*/ 0 w 6988307"/>
              <a:gd name="csY19" fmla="*/ 926585 h 2271923"/>
              <a:gd name="csX20" fmla="*/ 0 w 6988307"/>
              <a:gd name="csY20" fmla="*/ 264744 h 2271923"/>
              <a:gd name="csX0" fmla="*/ 0 w 4115797"/>
              <a:gd name="csY0" fmla="*/ 264744 h 2271923"/>
              <a:gd name="csX1" fmla="*/ 264744 w 4115797"/>
              <a:gd name="csY1" fmla="*/ 0 h 2271923"/>
              <a:gd name="csX2" fmla="*/ 1897138 w 4115797"/>
              <a:gd name="csY2" fmla="*/ 0 h 2271923"/>
              <a:gd name="csX3" fmla="*/ 1897138 w 4115797"/>
              <a:gd name="csY3" fmla="*/ 0 h 2271923"/>
              <a:gd name="csX4" fmla="*/ 2710197 w 4115797"/>
              <a:gd name="csY4" fmla="*/ 0 h 2271923"/>
              <a:gd name="csX5" fmla="*/ 2987492 w 4115797"/>
              <a:gd name="csY5" fmla="*/ 0 h 2271923"/>
              <a:gd name="csX6" fmla="*/ 3252236 w 4115797"/>
              <a:gd name="csY6" fmla="*/ 264744 h 2271923"/>
              <a:gd name="csX7" fmla="*/ 3252236 w 4115797"/>
              <a:gd name="csY7" fmla="*/ 926585 h 2271923"/>
              <a:gd name="csX8" fmla="*/ 4115797 w 4115797"/>
              <a:gd name="csY8" fmla="*/ 863130 h 2271923"/>
              <a:gd name="csX9" fmla="*/ 3252236 w 4115797"/>
              <a:gd name="csY9" fmla="*/ 1323693 h 2271923"/>
              <a:gd name="csX10" fmla="*/ 3252236 w 4115797"/>
              <a:gd name="csY10" fmla="*/ 1323688 h 2271923"/>
              <a:gd name="csX11" fmla="*/ 2987492 w 4115797"/>
              <a:gd name="csY11" fmla="*/ 1588432 h 2271923"/>
              <a:gd name="csX12" fmla="*/ 2867216 w 4115797"/>
              <a:gd name="csY12" fmla="*/ 2271923 h 2271923"/>
              <a:gd name="csX13" fmla="*/ 1897138 w 4115797"/>
              <a:gd name="csY13" fmla="*/ 1588432 h 2271923"/>
              <a:gd name="csX14" fmla="*/ 1897138 w 4115797"/>
              <a:gd name="csY14" fmla="*/ 1588432 h 2271923"/>
              <a:gd name="csX15" fmla="*/ 264744 w 4115797"/>
              <a:gd name="csY15" fmla="*/ 1588432 h 2271923"/>
              <a:gd name="csX16" fmla="*/ 0 w 4115797"/>
              <a:gd name="csY16" fmla="*/ 1323688 h 2271923"/>
              <a:gd name="csX17" fmla="*/ 0 w 4115797"/>
              <a:gd name="csY17" fmla="*/ 1323693 h 2271923"/>
              <a:gd name="csX18" fmla="*/ 0 w 4115797"/>
              <a:gd name="csY18" fmla="*/ 926585 h 2271923"/>
              <a:gd name="csX19" fmla="*/ 0 w 4115797"/>
              <a:gd name="csY19" fmla="*/ 926585 h 2271923"/>
              <a:gd name="csX20" fmla="*/ 0 w 4115797"/>
              <a:gd name="csY20" fmla="*/ 264744 h 22719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15797" h="2271923">
                <a:moveTo>
                  <a:pt x="0" y="264744"/>
                </a:moveTo>
                <a:cubicBezTo>
                  <a:pt x="0" y="118530"/>
                  <a:pt x="118530" y="0"/>
                  <a:pt x="264744" y="0"/>
                </a:cubicBezTo>
                <a:lnTo>
                  <a:pt x="1897138" y="0"/>
                </a:lnTo>
                <a:lnTo>
                  <a:pt x="1897138" y="0"/>
                </a:lnTo>
                <a:lnTo>
                  <a:pt x="2710197" y="0"/>
                </a:lnTo>
                <a:lnTo>
                  <a:pt x="2987492" y="0"/>
                </a:lnTo>
                <a:cubicBezTo>
                  <a:pt x="3133706" y="0"/>
                  <a:pt x="3252236" y="118530"/>
                  <a:pt x="3252236" y="264744"/>
                </a:cubicBezTo>
                <a:lnTo>
                  <a:pt x="3252236" y="926585"/>
                </a:lnTo>
                <a:lnTo>
                  <a:pt x="4115797" y="863130"/>
                </a:lnTo>
                <a:lnTo>
                  <a:pt x="3252236" y="1323693"/>
                </a:lnTo>
                <a:lnTo>
                  <a:pt x="3252236" y="1323688"/>
                </a:lnTo>
                <a:cubicBezTo>
                  <a:pt x="3252236" y="1469902"/>
                  <a:pt x="3133706" y="1588432"/>
                  <a:pt x="2987492" y="1588432"/>
                </a:cubicBezTo>
                <a:lnTo>
                  <a:pt x="2867216" y="2271923"/>
                </a:lnTo>
                <a:lnTo>
                  <a:pt x="1897138" y="1588432"/>
                </a:lnTo>
                <a:lnTo>
                  <a:pt x="1897138" y="1588432"/>
                </a:lnTo>
                <a:lnTo>
                  <a:pt x="264744" y="1588432"/>
                </a:lnTo>
                <a:cubicBezTo>
                  <a:pt x="118530" y="1588432"/>
                  <a:pt x="0" y="1469902"/>
                  <a:pt x="0" y="1323688"/>
                </a:cubicBezTo>
                <a:lnTo>
                  <a:pt x="0" y="1323693"/>
                </a:lnTo>
                <a:lnTo>
                  <a:pt x="0" y="926585"/>
                </a:lnTo>
                <a:lnTo>
                  <a:pt x="0" y="926585"/>
                </a:lnTo>
                <a:lnTo>
                  <a:pt x="0" y="264744"/>
                </a:lnTo>
                <a:close/>
              </a:path>
            </a:pathLst>
          </a:custGeom>
          <a:solidFill>
            <a:schemeClr val="bg1">
              <a:lumMod val="85000"/>
              <a:alpha val="66000"/>
            </a:schemeClr>
          </a:solidFill>
          <a:ln cap="sq">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en-US" altLang="ja-JP">
              <a:solidFill>
                <a:schemeClr val="accent3">
                  <a:lumMod val="75000"/>
                </a:schemeClr>
              </a:solidFill>
              <a:latin typeface="メイリオ" panose="020B0604030504040204" pitchFamily="50" charset="-128"/>
              <a:ea typeface="メイリオ" panose="020B0604030504040204" pitchFamily="50" charset="-128"/>
            </a:endParaRPr>
          </a:p>
        </p:txBody>
      </p:sp>
      <p:sp>
        <p:nvSpPr>
          <p:cNvPr id="10" name="吹き出し: 角を丸めた四角形 9">
            <a:extLst>
              <a:ext uri="{FF2B5EF4-FFF2-40B4-BE49-F238E27FC236}">
                <a16:creationId xmlns:a16="http://schemas.microsoft.com/office/drawing/2014/main" id="{71DE01A5-1F87-13D2-22A3-7244C2BF70CC}"/>
              </a:ext>
            </a:extLst>
          </p:cNvPr>
          <p:cNvSpPr/>
          <p:nvPr/>
        </p:nvSpPr>
        <p:spPr>
          <a:xfrm>
            <a:off x="8817685" y="2303713"/>
            <a:ext cx="3181318" cy="927004"/>
          </a:xfrm>
          <a:prstGeom prst="wedgeRoundRectCallout">
            <a:avLst>
              <a:gd name="adj1" fmla="val 22566"/>
              <a:gd name="adj2" fmla="val 147869"/>
              <a:gd name="adj3" fmla="val 16667"/>
            </a:avLst>
          </a:prstGeom>
          <a:solidFill>
            <a:schemeClr val="bg1">
              <a:lumMod val="85000"/>
              <a:alpha val="36000"/>
            </a:schemeClr>
          </a:solidFill>
          <a:ln>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a:solidFill>
                  <a:schemeClr val="tx1"/>
                </a:solidFill>
                <a:latin typeface="メイリオ" panose="020B0604030504040204" pitchFamily="50" charset="-128"/>
                <a:ea typeface="メイリオ" panose="020B0604030504040204" pitchFamily="50" charset="-128"/>
              </a:rPr>
              <a:t>「プリエンプティブ方式」</a:t>
            </a:r>
            <a:endParaRPr lang="en-US" altLang="ja-JP" b="1">
              <a:solidFill>
                <a:schemeClr val="tx1"/>
              </a:solidFill>
              <a:latin typeface="メイリオ" panose="020B0604030504040204" pitchFamily="50" charset="-128"/>
              <a:ea typeface="メイリオ" panose="020B0604030504040204" pitchFamily="50" charset="-128"/>
            </a:endParaRPr>
          </a:p>
          <a:p>
            <a:pPr algn="ctr"/>
            <a:r>
              <a:rPr lang="ja-JP" altLang="en-US" b="1">
                <a:solidFill>
                  <a:schemeClr val="tx1"/>
                </a:solidFill>
                <a:latin typeface="メイリオ" panose="020B0604030504040204" pitchFamily="50" charset="-128"/>
                <a:ea typeface="メイリオ" panose="020B0604030504040204" pitchFamily="50" charset="-128"/>
              </a:rPr>
              <a:t>では全員参加</a:t>
            </a:r>
            <a:endParaRPr kumimoji="1" lang="ja-JP" altLang="en-US" b="1">
              <a:solidFill>
                <a:schemeClr val="tx1"/>
              </a:solidFill>
              <a:latin typeface="メイリオ" panose="020B0604030504040204" pitchFamily="50" charset="-128"/>
              <a:ea typeface="メイリオ" panose="020B0604030504040204" pitchFamily="50" charset="-128"/>
            </a:endParaRPr>
          </a:p>
        </p:txBody>
      </p:sp>
      <p:pic>
        <p:nvPicPr>
          <p:cNvPr id="17" name="図 16" descr="グラフ, 棒グラフ&#10;&#10;AI 生成コンテンツは誤りを含む可能性があります。">
            <a:extLst>
              <a:ext uri="{FF2B5EF4-FFF2-40B4-BE49-F238E27FC236}">
                <a16:creationId xmlns:a16="http://schemas.microsoft.com/office/drawing/2014/main" id="{E2B13883-ED91-D928-5EED-7399964919F5}"/>
              </a:ext>
            </a:extLst>
          </p:cNvPr>
          <p:cNvPicPr>
            <a:picLocks noChangeAspect="1"/>
          </p:cNvPicPr>
          <p:nvPr/>
        </p:nvPicPr>
        <p:blipFill>
          <a:blip r:embed="rId5"/>
          <a:stretch>
            <a:fillRect/>
          </a:stretch>
        </p:blipFill>
        <p:spPr>
          <a:xfrm>
            <a:off x="6855750" y="4110181"/>
            <a:ext cx="4375577" cy="2614441"/>
          </a:xfrm>
          <a:prstGeom prst="rect">
            <a:avLst/>
          </a:prstGeom>
        </p:spPr>
      </p:pic>
      <p:sp>
        <p:nvSpPr>
          <p:cNvPr id="18" name="テキスト ボックス 17">
            <a:extLst>
              <a:ext uri="{FF2B5EF4-FFF2-40B4-BE49-F238E27FC236}">
                <a16:creationId xmlns:a16="http://schemas.microsoft.com/office/drawing/2014/main" id="{7702A477-337E-122D-EA31-A55F7321F82D}"/>
              </a:ext>
            </a:extLst>
          </p:cNvPr>
          <p:cNvSpPr txBox="1"/>
          <p:nvPr/>
        </p:nvSpPr>
        <p:spPr>
          <a:xfrm>
            <a:off x="5043290" y="976351"/>
            <a:ext cx="2826327" cy="461665"/>
          </a:xfrm>
          <a:prstGeom prst="rect">
            <a:avLst/>
          </a:prstGeom>
          <a:noFill/>
        </p:spPr>
        <p:txBody>
          <a:bodyPr wrap="square" rtlCol="0">
            <a:spAutoFit/>
          </a:bodyPr>
          <a:lstStyle/>
          <a:p>
            <a:r>
              <a:rPr lang="en-US" altLang="ja-JP" sz="2400" b="1" u="sng"/>
              <a:t>FCFS</a:t>
            </a:r>
            <a:r>
              <a:rPr lang="ja-JP" altLang="en-US" sz="2400" b="1" u="sng"/>
              <a:t>方式</a:t>
            </a:r>
          </a:p>
        </p:txBody>
      </p:sp>
      <p:sp>
        <p:nvSpPr>
          <p:cNvPr id="19" name="テキスト ボックス 18">
            <a:extLst>
              <a:ext uri="{FF2B5EF4-FFF2-40B4-BE49-F238E27FC236}">
                <a16:creationId xmlns:a16="http://schemas.microsoft.com/office/drawing/2014/main" id="{1BEB860B-F834-39B9-E6F3-9386343FCB09}"/>
              </a:ext>
            </a:extLst>
          </p:cNvPr>
          <p:cNvSpPr txBox="1"/>
          <p:nvPr/>
        </p:nvSpPr>
        <p:spPr>
          <a:xfrm>
            <a:off x="1850355" y="3735070"/>
            <a:ext cx="2826327" cy="461665"/>
          </a:xfrm>
          <a:prstGeom prst="rect">
            <a:avLst/>
          </a:prstGeom>
          <a:noFill/>
        </p:spPr>
        <p:txBody>
          <a:bodyPr wrap="square" rtlCol="0">
            <a:spAutoFit/>
          </a:bodyPr>
          <a:lstStyle/>
          <a:p>
            <a:r>
              <a:rPr lang="ja-JP" altLang="en-US" sz="2400" b="1" u="sng"/>
              <a:t>所有者優先方式</a:t>
            </a:r>
          </a:p>
        </p:txBody>
      </p:sp>
      <p:sp>
        <p:nvSpPr>
          <p:cNvPr id="20" name="テキスト ボックス 19">
            <a:extLst>
              <a:ext uri="{FF2B5EF4-FFF2-40B4-BE49-F238E27FC236}">
                <a16:creationId xmlns:a16="http://schemas.microsoft.com/office/drawing/2014/main" id="{1C8F2513-FE7B-6F1D-7624-5E238E5DAF02}"/>
              </a:ext>
            </a:extLst>
          </p:cNvPr>
          <p:cNvSpPr txBox="1"/>
          <p:nvPr/>
        </p:nvSpPr>
        <p:spPr>
          <a:xfrm>
            <a:off x="7619909" y="3766358"/>
            <a:ext cx="3430189" cy="461665"/>
          </a:xfrm>
          <a:prstGeom prst="rect">
            <a:avLst/>
          </a:prstGeom>
          <a:noFill/>
        </p:spPr>
        <p:txBody>
          <a:bodyPr wrap="square" rtlCol="0">
            <a:spAutoFit/>
          </a:bodyPr>
          <a:lstStyle/>
          <a:p>
            <a:r>
              <a:rPr lang="ja-JP" altLang="en-US" sz="2400" b="1" u="sng"/>
              <a:t>プリエンプティブ方式</a:t>
            </a:r>
          </a:p>
        </p:txBody>
      </p:sp>
      <p:sp>
        <p:nvSpPr>
          <p:cNvPr id="22" name="テキスト ボックス 21">
            <a:extLst>
              <a:ext uri="{FF2B5EF4-FFF2-40B4-BE49-F238E27FC236}">
                <a16:creationId xmlns:a16="http://schemas.microsoft.com/office/drawing/2014/main" id="{D178DB7A-10DE-070F-1B0A-7AEB1F507EB2}"/>
              </a:ext>
            </a:extLst>
          </p:cNvPr>
          <p:cNvSpPr txBox="1"/>
          <p:nvPr/>
        </p:nvSpPr>
        <p:spPr>
          <a:xfrm>
            <a:off x="313560" y="1575448"/>
            <a:ext cx="3029527" cy="1304203"/>
          </a:xfrm>
          <a:prstGeom prst="rect">
            <a:avLst/>
          </a:prstGeom>
          <a:noFill/>
        </p:spPr>
        <p:txBody>
          <a:bodyPr wrap="square" rtlCol="0">
            <a:spAutoFit/>
          </a:bodyPr>
          <a:lstStyle/>
          <a:p>
            <a:pPr>
              <a:lnSpc>
                <a:spcPct val="150000"/>
              </a:lnSpc>
            </a:pPr>
            <a:r>
              <a:rPr lang="ja-JP" altLang="en-US" b="1" dirty="0">
                <a:latin typeface="メイリオ" panose="020B0604030504040204" pitchFamily="50" charset="-128"/>
                <a:ea typeface="メイリオ" panose="020B0604030504040204" pitchFamily="50" charset="-128"/>
              </a:rPr>
              <a:t>「</a:t>
            </a:r>
            <a:r>
              <a:rPr lang="en-US" altLang="ja-JP" b="1" dirty="0">
                <a:latin typeface="メイリオ" panose="020B0604030504040204" pitchFamily="50" charset="-128"/>
                <a:ea typeface="メイリオ" panose="020B0604030504040204" pitchFamily="50" charset="-128"/>
              </a:rPr>
              <a:t>FCFS</a:t>
            </a:r>
            <a:r>
              <a:rPr lang="ja-JP" altLang="en-US" b="1" dirty="0">
                <a:latin typeface="メイリオ" panose="020B0604030504040204" pitchFamily="50" charset="-128"/>
                <a:ea typeface="メイリオ" panose="020B0604030504040204" pitchFamily="50" charset="-128"/>
              </a:rPr>
              <a:t>」、「所有者優先」では中性能・高性能</a:t>
            </a:r>
            <a:endParaRPr lang="en-US" altLang="ja-JP" b="1" dirty="0">
              <a:latin typeface="メイリオ" panose="020B0604030504040204" pitchFamily="50" charset="-128"/>
              <a:ea typeface="メイリオ" panose="020B0604030504040204" pitchFamily="50" charset="-128"/>
            </a:endParaRPr>
          </a:p>
          <a:p>
            <a:pPr>
              <a:lnSpc>
                <a:spcPct val="150000"/>
              </a:lnSpc>
            </a:pPr>
            <a:r>
              <a:rPr lang="ja-JP" altLang="en-US" b="1" dirty="0">
                <a:latin typeface="メイリオ" panose="020B0604030504040204" pitchFamily="50" charset="-128"/>
                <a:ea typeface="メイリオ" panose="020B0604030504040204" pitchFamily="50" charset="-128"/>
              </a:rPr>
              <a:t>ユーザーは最終的に不参加</a:t>
            </a:r>
            <a:endParaRPr lang="en-US" altLang="ja-JP" b="1" dirty="0">
              <a:latin typeface="メイリオ" panose="020B0604030504040204" pitchFamily="50" charset="-128"/>
              <a:ea typeface="メイリオ" panose="020B0604030504040204" pitchFamily="50" charset="-128"/>
            </a:endParaRPr>
          </a:p>
        </p:txBody>
      </p:sp>
      <p:sp>
        <p:nvSpPr>
          <p:cNvPr id="23" name="テキスト ボックス 22">
            <a:extLst>
              <a:ext uri="{FF2B5EF4-FFF2-40B4-BE49-F238E27FC236}">
                <a16:creationId xmlns:a16="http://schemas.microsoft.com/office/drawing/2014/main" id="{61E827CB-1620-9DD4-3D41-267FBD5B88B6}"/>
              </a:ext>
            </a:extLst>
          </p:cNvPr>
          <p:cNvSpPr txBox="1"/>
          <p:nvPr/>
        </p:nvSpPr>
        <p:spPr>
          <a:xfrm>
            <a:off x="6423707" y="2147961"/>
            <a:ext cx="1145309" cy="369332"/>
          </a:xfrm>
          <a:prstGeom prst="rect">
            <a:avLst/>
          </a:prstGeom>
          <a:solidFill>
            <a:srgbClr val="D62728"/>
          </a:solidFill>
          <a:ln>
            <a:solidFill>
              <a:srgbClr val="FF0000"/>
            </a:solidFill>
          </a:ln>
        </p:spPr>
        <p:txBody>
          <a:bodyPr wrap="square" rtlCol="0">
            <a:spAutoFit/>
          </a:bodyPr>
          <a:lstStyle/>
          <a:p>
            <a:r>
              <a:rPr kumimoji="1" lang="ja-JP" altLang="en-US" b="1">
                <a:solidFill>
                  <a:schemeClr val="bg1"/>
                </a:solidFill>
              </a:rPr>
              <a:t>高性能層</a:t>
            </a:r>
          </a:p>
        </p:txBody>
      </p:sp>
      <p:sp>
        <p:nvSpPr>
          <p:cNvPr id="24" name="テキスト ボックス 23">
            <a:extLst>
              <a:ext uri="{FF2B5EF4-FFF2-40B4-BE49-F238E27FC236}">
                <a16:creationId xmlns:a16="http://schemas.microsoft.com/office/drawing/2014/main" id="{25A504FA-13F6-CA23-8170-C9A20D3DA684}"/>
              </a:ext>
            </a:extLst>
          </p:cNvPr>
          <p:cNvSpPr txBox="1"/>
          <p:nvPr/>
        </p:nvSpPr>
        <p:spPr>
          <a:xfrm>
            <a:off x="6423707" y="2517293"/>
            <a:ext cx="1145309" cy="369332"/>
          </a:xfrm>
          <a:prstGeom prst="rect">
            <a:avLst/>
          </a:prstGeom>
          <a:solidFill>
            <a:srgbClr val="FE8D03"/>
          </a:solidFill>
          <a:ln>
            <a:solidFill>
              <a:srgbClr val="FE8D03"/>
            </a:solidFill>
          </a:ln>
        </p:spPr>
        <p:txBody>
          <a:bodyPr wrap="square" rtlCol="0">
            <a:spAutoFit/>
          </a:bodyPr>
          <a:lstStyle/>
          <a:p>
            <a:r>
              <a:rPr lang="ja-JP" altLang="en-US" b="1">
                <a:solidFill>
                  <a:schemeClr val="bg1"/>
                </a:solidFill>
              </a:rPr>
              <a:t>中</a:t>
            </a:r>
            <a:r>
              <a:rPr kumimoji="1" lang="ja-JP" altLang="en-US" b="1">
                <a:solidFill>
                  <a:schemeClr val="bg1"/>
                </a:solidFill>
              </a:rPr>
              <a:t>性能層</a:t>
            </a:r>
          </a:p>
        </p:txBody>
      </p:sp>
      <p:sp>
        <p:nvSpPr>
          <p:cNvPr id="25" name="テキスト ボックス 24">
            <a:extLst>
              <a:ext uri="{FF2B5EF4-FFF2-40B4-BE49-F238E27FC236}">
                <a16:creationId xmlns:a16="http://schemas.microsoft.com/office/drawing/2014/main" id="{96826CA5-0E0C-2930-10AC-50B3C9ED44E4}"/>
              </a:ext>
            </a:extLst>
          </p:cNvPr>
          <p:cNvSpPr txBox="1"/>
          <p:nvPr/>
        </p:nvSpPr>
        <p:spPr>
          <a:xfrm>
            <a:off x="6426075" y="2886625"/>
            <a:ext cx="1145309" cy="369332"/>
          </a:xfrm>
          <a:prstGeom prst="rect">
            <a:avLst/>
          </a:prstGeom>
          <a:solidFill>
            <a:srgbClr val="0D47A1"/>
          </a:solidFill>
          <a:ln>
            <a:solidFill>
              <a:srgbClr val="0D47A1"/>
            </a:solidFill>
          </a:ln>
        </p:spPr>
        <p:txBody>
          <a:bodyPr wrap="square" rtlCol="0">
            <a:spAutoFit/>
          </a:bodyPr>
          <a:lstStyle/>
          <a:p>
            <a:r>
              <a:rPr lang="ja-JP" altLang="en-US" b="1">
                <a:solidFill>
                  <a:schemeClr val="bg1"/>
                </a:solidFill>
              </a:rPr>
              <a:t>低</a:t>
            </a:r>
            <a:r>
              <a:rPr kumimoji="1" lang="ja-JP" altLang="en-US" b="1">
                <a:solidFill>
                  <a:schemeClr val="bg1"/>
                </a:solidFill>
              </a:rPr>
              <a:t>性能層</a:t>
            </a:r>
          </a:p>
        </p:txBody>
      </p:sp>
    </p:spTree>
    <p:extLst>
      <p:ext uri="{BB962C8B-B14F-4D97-AF65-F5344CB8AC3E}">
        <p14:creationId xmlns:p14="http://schemas.microsoft.com/office/powerpoint/2010/main" val="8140912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2D5098D-3B26-965B-C14D-E174173A898C}"/>
              </a:ext>
            </a:extLst>
          </p:cNvPr>
          <p:cNvSpPr>
            <a:spLocks noGrp="1"/>
          </p:cNvSpPr>
          <p:nvPr>
            <p:ph type="title"/>
          </p:nvPr>
        </p:nvSpPr>
        <p:spPr/>
        <p:txBody>
          <a:bodyPr/>
          <a:lstStyle/>
          <a:p>
            <a:r>
              <a:rPr kumimoji="1" lang="ja-JP" altLang="en-US" b="1"/>
              <a:t>負荷率にともなう各シナリオ最終参加者数</a:t>
            </a:r>
          </a:p>
        </p:txBody>
      </p:sp>
      <p:pic>
        <p:nvPicPr>
          <p:cNvPr id="6" name="コンテンツ プレースホルダー 5" descr="グラフ, 折れ線グラフ&#10;&#10;AI 生成コンテンツは誤りを含む可能性があります。">
            <a:extLst>
              <a:ext uri="{FF2B5EF4-FFF2-40B4-BE49-F238E27FC236}">
                <a16:creationId xmlns:a16="http://schemas.microsoft.com/office/drawing/2014/main" id="{6A2D2695-A71D-75A7-39A5-7820ADA841CF}"/>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620111" y="1252538"/>
            <a:ext cx="8951778" cy="5327650"/>
          </a:xfrm>
        </p:spPr>
      </p:pic>
      <p:sp>
        <p:nvSpPr>
          <p:cNvPr id="4" name="スライド番号プレースホルダー 3">
            <a:extLst>
              <a:ext uri="{FF2B5EF4-FFF2-40B4-BE49-F238E27FC236}">
                <a16:creationId xmlns:a16="http://schemas.microsoft.com/office/drawing/2014/main" id="{FF65DBDE-5313-5623-E437-038C04898F59}"/>
              </a:ext>
            </a:extLst>
          </p:cNvPr>
          <p:cNvSpPr>
            <a:spLocks noGrp="1"/>
          </p:cNvSpPr>
          <p:nvPr>
            <p:ph type="sldNum" sz="quarter" idx="12"/>
          </p:nvPr>
        </p:nvSpPr>
        <p:spPr/>
        <p:txBody>
          <a:bodyPr/>
          <a:lstStyle/>
          <a:p>
            <a:fld id="{8D1BC46D-89B1-41A3-BBA1-F56BEABD0A90}" type="slidenum">
              <a:rPr lang="ja-JP" altLang="en-US" smtClean="0"/>
              <a:pPr/>
              <a:t>13</a:t>
            </a:fld>
            <a:endParaRPr lang="ja-JP" altLang="en-US"/>
          </a:p>
        </p:txBody>
      </p:sp>
      <p:sp>
        <p:nvSpPr>
          <p:cNvPr id="7" name="吹き出し: 角を丸めた四角形 6">
            <a:extLst>
              <a:ext uri="{FF2B5EF4-FFF2-40B4-BE49-F238E27FC236}">
                <a16:creationId xmlns:a16="http://schemas.microsoft.com/office/drawing/2014/main" id="{6CB2187F-23D1-A9A5-0590-46AB86D88CA7}"/>
              </a:ext>
            </a:extLst>
          </p:cNvPr>
          <p:cNvSpPr/>
          <p:nvPr/>
        </p:nvSpPr>
        <p:spPr>
          <a:xfrm>
            <a:off x="7837666" y="1898469"/>
            <a:ext cx="3864428" cy="1426028"/>
          </a:xfrm>
          <a:prstGeom prst="wedgeRoundRectCallout">
            <a:avLst>
              <a:gd name="adj1" fmla="val -91054"/>
              <a:gd name="adj2" fmla="val -64218"/>
              <a:gd name="adj3" fmla="val 16667"/>
            </a:avLst>
          </a:prstGeom>
          <a:solidFill>
            <a:schemeClr val="bg2">
              <a:alpha val="51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a:solidFill>
                  <a:schemeClr val="tx1"/>
                </a:solidFill>
              </a:rPr>
              <a:t>全負荷率において高い</a:t>
            </a:r>
            <a:endParaRPr kumimoji="1" lang="en-US" altLang="ja-JP" sz="2400" b="1">
              <a:solidFill>
                <a:schemeClr val="tx1"/>
              </a:solidFill>
            </a:endParaRPr>
          </a:p>
          <a:p>
            <a:pPr algn="ctr"/>
            <a:r>
              <a:rPr kumimoji="1" lang="ja-JP" altLang="en-US" sz="2400" b="1">
                <a:solidFill>
                  <a:schemeClr val="tx1"/>
                </a:solidFill>
              </a:rPr>
              <a:t>参加者数を維持している</a:t>
            </a:r>
          </a:p>
        </p:txBody>
      </p:sp>
      <p:pic>
        <p:nvPicPr>
          <p:cNvPr id="5" name="図 4">
            <a:extLst>
              <a:ext uri="{FF2B5EF4-FFF2-40B4-BE49-F238E27FC236}">
                <a16:creationId xmlns:a16="http://schemas.microsoft.com/office/drawing/2014/main" id="{61D0D56B-5BB9-03FF-FB0F-52061C9E7BB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346559" y="3272970"/>
            <a:ext cx="2100491" cy="703948"/>
          </a:xfrm>
          <a:prstGeom prst="rect">
            <a:avLst/>
          </a:prstGeom>
        </p:spPr>
      </p:pic>
      <p:sp>
        <p:nvSpPr>
          <p:cNvPr id="8" name="テキスト ボックス 7">
            <a:extLst>
              <a:ext uri="{FF2B5EF4-FFF2-40B4-BE49-F238E27FC236}">
                <a16:creationId xmlns:a16="http://schemas.microsoft.com/office/drawing/2014/main" id="{12E14159-B9E4-1A95-A262-54A852C5842A}"/>
              </a:ext>
            </a:extLst>
          </p:cNvPr>
          <p:cNvSpPr txBox="1"/>
          <p:nvPr/>
        </p:nvSpPr>
        <p:spPr>
          <a:xfrm>
            <a:off x="2427226" y="3796854"/>
            <a:ext cx="1939155" cy="369332"/>
          </a:xfrm>
          <a:prstGeom prst="rect">
            <a:avLst/>
          </a:prstGeom>
          <a:solidFill>
            <a:srgbClr val="FF7F0E"/>
          </a:solidFill>
        </p:spPr>
        <p:txBody>
          <a:bodyPr wrap="square" rtlCol="0">
            <a:spAutoFit/>
          </a:bodyPr>
          <a:lstStyle/>
          <a:p>
            <a:r>
              <a:rPr kumimoji="1" lang="ja-JP" altLang="en-US" b="1" dirty="0">
                <a:solidFill>
                  <a:schemeClr val="bg1"/>
                </a:solidFill>
              </a:rPr>
              <a:t>所有者優先方式</a:t>
            </a:r>
          </a:p>
        </p:txBody>
      </p:sp>
      <p:sp>
        <p:nvSpPr>
          <p:cNvPr id="9" name="テキスト ボックス 8">
            <a:extLst>
              <a:ext uri="{FF2B5EF4-FFF2-40B4-BE49-F238E27FC236}">
                <a16:creationId xmlns:a16="http://schemas.microsoft.com/office/drawing/2014/main" id="{92E1FE76-C026-EA0E-4EE4-05A36FA057A5}"/>
              </a:ext>
            </a:extLst>
          </p:cNvPr>
          <p:cNvSpPr txBox="1"/>
          <p:nvPr/>
        </p:nvSpPr>
        <p:spPr>
          <a:xfrm>
            <a:off x="4533375" y="4772782"/>
            <a:ext cx="1248359" cy="369332"/>
          </a:xfrm>
          <a:prstGeom prst="rect">
            <a:avLst/>
          </a:prstGeom>
          <a:solidFill>
            <a:srgbClr val="1F77B4"/>
          </a:solidFill>
        </p:spPr>
        <p:txBody>
          <a:bodyPr wrap="square" rtlCol="0">
            <a:spAutoFit/>
          </a:bodyPr>
          <a:lstStyle/>
          <a:p>
            <a:r>
              <a:rPr lang="en-US" altLang="ja-JP" b="1" dirty="0">
                <a:solidFill>
                  <a:schemeClr val="bg1"/>
                </a:solidFill>
              </a:rPr>
              <a:t>FCFS</a:t>
            </a:r>
            <a:r>
              <a:rPr kumimoji="1" lang="ja-JP" altLang="en-US" b="1" dirty="0">
                <a:solidFill>
                  <a:schemeClr val="bg1"/>
                </a:solidFill>
              </a:rPr>
              <a:t>方式</a:t>
            </a:r>
          </a:p>
        </p:txBody>
      </p:sp>
      <p:sp>
        <p:nvSpPr>
          <p:cNvPr id="10" name="テキスト ボックス 9">
            <a:extLst>
              <a:ext uri="{FF2B5EF4-FFF2-40B4-BE49-F238E27FC236}">
                <a16:creationId xmlns:a16="http://schemas.microsoft.com/office/drawing/2014/main" id="{6425F991-B234-6243-7105-5322C17E693B}"/>
              </a:ext>
            </a:extLst>
          </p:cNvPr>
          <p:cNvSpPr txBox="1"/>
          <p:nvPr/>
        </p:nvSpPr>
        <p:spPr>
          <a:xfrm>
            <a:off x="4885504" y="2335377"/>
            <a:ext cx="2509209" cy="369332"/>
          </a:xfrm>
          <a:prstGeom prst="rect">
            <a:avLst/>
          </a:prstGeom>
          <a:solidFill>
            <a:srgbClr val="2CA02C"/>
          </a:solidFill>
        </p:spPr>
        <p:txBody>
          <a:bodyPr wrap="square" rtlCol="0">
            <a:spAutoFit/>
          </a:bodyPr>
          <a:lstStyle/>
          <a:p>
            <a:r>
              <a:rPr lang="ja-JP" altLang="en-US" b="1" dirty="0">
                <a:solidFill>
                  <a:schemeClr val="bg1"/>
                </a:solidFill>
              </a:rPr>
              <a:t>プリエンプティブ</a:t>
            </a:r>
            <a:r>
              <a:rPr kumimoji="1" lang="ja-JP" altLang="en-US" b="1" dirty="0">
                <a:solidFill>
                  <a:schemeClr val="bg1"/>
                </a:solidFill>
              </a:rPr>
              <a:t>方式</a:t>
            </a:r>
          </a:p>
        </p:txBody>
      </p:sp>
    </p:spTree>
    <p:extLst>
      <p:ext uri="{BB962C8B-B14F-4D97-AF65-F5344CB8AC3E}">
        <p14:creationId xmlns:p14="http://schemas.microsoft.com/office/powerpoint/2010/main" val="24984038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EFC2CDA-0986-B2B7-C320-6B8DE47B33BA}"/>
              </a:ext>
            </a:extLst>
          </p:cNvPr>
          <p:cNvSpPr>
            <a:spLocks noGrp="1"/>
          </p:cNvSpPr>
          <p:nvPr>
            <p:ph type="title"/>
          </p:nvPr>
        </p:nvSpPr>
        <p:spPr/>
        <p:txBody>
          <a:bodyPr/>
          <a:lstStyle/>
          <a:p>
            <a:r>
              <a:rPr kumimoji="1" lang="ja-JP" altLang="en-US"/>
              <a:t>まとめと今後の</a:t>
            </a:r>
            <a:r>
              <a:rPr lang="ja-JP" altLang="en-US"/>
              <a:t>展望</a:t>
            </a:r>
            <a:endParaRPr kumimoji="1" lang="ja-JP" altLang="en-US"/>
          </a:p>
        </p:txBody>
      </p:sp>
      <p:sp>
        <p:nvSpPr>
          <p:cNvPr id="3" name="コンテンツ プレースホルダー 2">
            <a:extLst>
              <a:ext uri="{FF2B5EF4-FFF2-40B4-BE49-F238E27FC236}">
                <a16:creationId xmlns:a16="http://schemas.microsoft.com/office/drawing/2014/main" id="{C25B94AA-472C-E1A1-1C84-B63E0A8F320E}"/>
              </a:ext>
            </a:extLst>
          </p:cNvPr>
          <p:cNvSpPr>
            <a:spLocks noGrp="1"/>
          </p:cNvSpPr>
          <p:nvPr>
            <p:ph idx="1"/>
          </p:nvPr>
        </p:nvSpPr>
        <p:spPr/>
        <p:txBody>
          <a:bodyPr>
            <a:normAutofit fontScale="70000" lnSpcReduction="20000"/>
          </a:bodyPr>
          <a:lstStyle/>
          <a:p>
            <a:pPr marL="0" indent="0">
              <a:lnSpc>
                <a:spcPct val="150000"/>
              </a:lnSpc>
              <a:buNone/>
            </a:pPr>
            <a:r>
              <a:rPr kumimoji="1" lang="ja-JP" altLang="en-US" sz="4000" b="1">
                <a:solidFill>
                  <a:schemeClr val="accent3">
                    <a:lumMod val="75000"/>
                  </a:schemeClr>
                </a:solidFill>
              </a:rPr>
              <a:t>研究の成果</a:t>
            </a:r>
            <a:endParaRPr kumimoji="1" lang="en-US" altLang="ja-JP" sz="4000" b="1">
              <a:solidFill>
                <a:schemeClr val="accent3">
                  <a:lumMod val="75000"/>
                </a:schemeClr>
              </a:solidFill>
            </a:endParaRPr>
          </a:p>
          <a:p>
            <a:pPr>
              <a:lnSpc>
                <a:spcPct val="150000"/>
              </a:lnSpc>
            </a:pPr>
            <a:r>
              <a:rPr lang="en-US" altLang="ja-JP"/>
              <a:t>ACP</a:t>
            </a:r>
            <a:r>
              <a:rPr lang="ja-JP" altLang="en-US"/>
              <a:t>を導入することで、全体のターンアラウンドタイムは</a:t>
            </a:r>
            <a:r>
              <a:rPr lang="ja-JP" altLang="en-US" b="1"/>
              <a:t>大幅に減少</a:t>
            </a:r>
            <a:endParaRPr lang="en-US" altLang="ja-JP" b="1"/>
          </a:p>
          <a:p>
            <a:pPr>
              <a:lnSpc>
                <a:spcPct val="150000"/>
              </a:lnSpc>
            </a:pPr>
            <a:r>
              <a:rPr lang="ja-JP" altLang="en-US"/>
              <a:t>高性能ユーザは、プリエンプティブ方式のみ自</a:t>
            </a:r>
            <a:r>
              <a:rPr lang="en-US" altLang="ja-JP"/>
              <a:t>GPU</a:t>
            </a:r>
            <a:r>
              <a:rPr lang="ja-JP" altLang="en-US"/>
              <a:t>の優先権を保ちつつ、他</a:t>
            </a:r>
            <a:r>
              <a:rPr lang="en-US" altLang="ja-JP"/>
              <a:t>GPU</a:t>
            </a:r>
            <a:r>
              <a:rPr lang="ja-JP" altLang="en-US"/>
              <a:t>も利用することで</a:t>
            </a:r>
            <a:r>
              <a:rPr lang="en-US" altLang="ja-JP"/>
              <a:t>TAT</a:t>
            </a:r>
            <a:r>
              <a:rPr lang="ja-JP" altLang="en-US"/>
              <a:t>が減少</a:t>
            </a:r>
            <a:endParaRPr lang="en-US" altLang="ja-JP"/>
          </a:p>
          <a:p>
            <a:pPr>
              <a:lnSpc>
                <a:spcPct val="150000"/>
              </a:lnSpc>
            </a:pPr>
            <a:r>
              <a:rPr lang="ja-JP" altLang="en-US"/>
              <a:t>プリエンプティブ方式という</a:t>
            </a:r>
            <a:r>
              <a:rPr lang="ja-JP" altLang="en-US" b="1"/>
              <a:t>技術的なアプローチのみ</a:t>
            </a:r>
            <a:r>
              <a:rPr lang="ja-JP" altLang="en-US"/>
              <a:t>によって，タスクの処理効率が上がり、ユーザの参加インセンティブにつながった</a:t>
            </a:r>
            <a:endParaRPr lang="en-US" altLang="ja-JP" b="1">
              <a:solidFill>
                <a:schemeClr val="accent3">
                  <a:lumMod val="75000"/>
                </a:schemeClr>
              </a:solidFill>
            </a:endParaRPr>
          </a:p>
          <a:p>
            <a:pPr marL="0" indent="0">
              <a:lnSpc>
                <a:spcPct val="150000"/>
              </a:lnSpc>
              <a:buNone/>
            </a:pPr>
            <a:r>
              <a:rPr lang="ja-JP" altLang="en-US" sz="4000" b="1">
                <a:solidFill>
                  <a:schemeClr val="accent3">
                    <a:lumMod val="75000"/>
                  </a:schemeClr>
                </a:solidFill>
              </a:rPr>
              <a:t>今後の展望</a:t>
            </a:r>
            <a:endParaRPr lang="en-US" altLang="ja-JP" sz="4000" b="1">
              <a:solidFill>
                <a:schemeClr val="accent3">
                  <a:lumMod val="75000"/>
                </a:schemeClr>
              </a:solidFill>
            </a:endParaRPr>
          </a:p>
          <a:p>
            <a:pPr>
              <a:lnSpc>
                <a:spcPct val="150000"/>
              </a:lnSpc>
            </a:pPr>
            <a:r>
              <a:rPr lang="ja-JP" altLang="en-US"/>
              <a:t>タスクの与え方や複数台</a:t>
            </a:r>
            <a:r>
              <a:rPr lang="en-US" altLang="ja-JP"/>
              <a:t>GPU</a:t>
            </a:r>
            <a:r>
              <a:rPr lang="ja-JP" altLang="en-US"/>
              <a:t>などのより研究室の環境を再現して</a:t>
            </a:r>
            <a:r>
              <a:rPr lang="ja-JP" altLang="en-US" b="1"/>
              <a:t>現実的なモデルの構築</a:t>
            </a:r>
            <a:endParaRPr lang="en-US" altLang="ja-JP" b="1"/>
          </a:p>
          <a:p>
            <a:pPr>
              <a:lnSpc>
                <a:spcPct val="150000"/>
              </a:lnSpc>
            </a:pPr>
            <a:r>
              <a:rPr lang="ja-JP" altLang="en-US"/>
              <a:t>タスク集中による電力コストやフリーライダー問題を考慮に入れ、ポイント制などの</a:t>
            </a:r>
            <a:endParaRPr lang="en-US" altLang="ja-JP"/>
          </a:p>
          <a:p>
            <a:pPr marL="0" indent="0">
              <a:lnSpc>
                <a:spcPct val="150000"/>
              </a:lnSpc>
              <a:buNone/>
            </a:pPr>
            <a:r>
              <a:rPr lang="ja-JP" altLang="en-US" b="1"/>
              <a:t>　経済的なインセンティブの導入</a:t>
            </a:r>
            <a:endParaRPr lang="en-US" altLang="ja-JP" b="1"/>
          </a:p>
          <a:p>
            <a:endParaRPr kumimoji="1" lang="ja-JP" altLang="en-US"/>
          </a:p>
        </p:txBody>
      </p:sp>
      <p:sp>
        <p:nvSpPr>
          <p:cNvPr id="4" name="スライド番号プレースホルダー 3">
            <a:extLst>
              <a:ext uri="{FF2B5EF4-FFF2-40B4-BE49-F238E27FC236}">
                <a16:creationId xmlns:a16="http://schemas.microsoft.com/office/drawing/2014/main" id="{D4E70AE2-5A54-1804-45EC-B0458865945C}"/>
              </a:ext>
            </a:extLst>
          </p:cNvPr>
          <p:cNvSpPr>
            <a:spLocks noGrp="1"/>
          </p:cNvSpPr>
          <p:nvPr>
            <p:ph type="sldNum" sz="quarter" idx="12"/>
          </p:nvPr>
        </p:nvSpPr>
        <p:spPr/>
        <p:txBody>
          <a:bodyPr/>
          <a:lstStyle/>
          <a:p>
            <a:fld id="{8D1BC46D-89B1-41A3-BBA1-F56BEABD0A90}" type="slidenum">
              <a:rPr lang="ja-JP" altLang="en-US" smtClean="0"/>
              <a:pPr/>
              <a:t>14</a:t>
            </a:fld>
            <a:endParaRPr lang="ja-JP" altLang="en-US"/>
          </a:p>
        </p:txBody>
      </p:sp>
    </p:spTree>
    <p:extLst>
      <p:ext uri="{BB962C8B-B14F-4D97-AF65-F5344CB8AC3E}">
        <p14:creationId xmlns:p14="http://schemas.microsoft.com/office/powerpoint/2010/main" val="1108715131"/>
      </p:ext>
    </p:extLst>
  </p:cSld>
  <p:clrMapOvr>
    <a:masterClrMapping/>
  </p:clrMapOvr>
</p:sld>
</file>

<file path=ppt/theme/theme1.xml><?xml version="1.0" encoding="utf-8"?>
<a:theme xmlns:a="http://schemas.openxmlformats.org/drawingml/2006/main" name="Office テーマ">
  <a:themeElements>
    <a:clrScheme name="インディゴブルー基調のクール系テー">
      <a:dk1>
        <a:srgbClr val="212121"/>
      </a:dk1>
      <a:lt1>
        <a:srgbClr val="FFFFFF"/>
      </a:lt1>
      <a:dk2>
        <a:srgbClr val="607D8B"/>
      </a:dk2>
      <a:lt2>
        <a:srgbClr val="ECEFF1"/>
      </a:lt2>
      <a:accent1>
        <a:srgbClr val="3F51B5"/>
      </a:accent1>
      <a:accent2>
        <a:srgbClr val="303F9F"/>
      </a:accent2>
      <a:accent3>
        <a:srgbClr val="5C6BC0"/>
      </a:accent3>
      <a:accent4>
        <a:srgbClr val="009688"/>
      </a:accent4>
      <a:accent5>
        <a:srgbClr val="4FC3F7"/>
      </a:accent5>
      <a:accent6>
        <a:srgbClr val="455A64"/>
      </a:accent6>
      <a:hlink>
        <a:srgbClr val="0000EE"/>
      </a:hlink>
      <a:folHlink>
        <a:srgbClr val="96607D"/>
      </a:folHlink>
    </a:clrScheme>
    <a:fontScheme name="ユーザー定義 1">
      <a:majorFont>
        <a:latin typeface="Noto Sans JP"/>
        <a:ea typeface="Noto Sans JP"/>
        <a:cs typeface=""/>
      </a:majorFont>
      <a:minorFont>
        <a:latin typeface="游ゴシック"/>
        <a:ea typeface="游ゴシック"/>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プレゼンテーション1" id="{65AFA794-E6FD-4BC8-8CFF-2ACA4EEC3323}" vid="{716FEA5D-2661-4998-9B5F-A308CE9A8E7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b034c360-b5dc-49e4-921e-4ae488fbe071" xsi:nil="true"/>
    <_x5099__x8003_ xmlns="b903afa0-f4f8-44ee-9336-5e6f46981d16" xsi:nil="true"/>
    <UploadedBy xmlns="b903afa0-f4f8-44ee-9336-5e6f46981d16">
      <UserInfo>
        <DisplayName/>
        <AccountId xsi:nil="true"/>
        <AccountType/>
      </UserInfo>
    </UploadedBy>
    <lcf76f155ced4ddcb4097134ff3c332f xmlns="b903afa0-f4f8-44ee-9336-5e6f46981d16">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ドキュメント" ma:contentTypeID="0x01010012C95878E7AC6744ABA06CC0F4B39D73" ma:contentTypeVersion="21" ma:contentTypeDescription="新しいドキュメントを作成します。" ma:contentTypeScope="" ma:versionID="4464fdfdaf7015c726917969e1aaf2b7">
  <xsd:schema xmlns:xsd="http://www.w3.org/2001/XMLSchema" xmlns:xs="http://www.w3.org/2001/XMLSchema" xmlns:p="http://schemas.microsoft.com/office/2006/metadata/properties" xmlns:ns2="b903afa0-f4f8-44ee-9336-5e6f46981d16" xmlns:ns3="b034c360-b5dc-49e4-921e-4ae488fbe071" targetNamespace="http://schemas.microsoft.com/office/2006/metadata/properties" ma:root="true" ma:fieldsID="8e2ab57beba6a84e91ff12a2ec8c660c" ns2:_="" ns3:_="">
    <xsd:import namespace="b903afa0-f4f8-44ee-9336-5e6f46981d16"/>
    <xsd:import namespace="b034c360-b5dc-49e4-921e-4ae488fbe071"/>
    <xsd:element name="properties">
      <xsd:complexType>
        <xsd:sequence>
          <xsd:element name="documentManagement">
            <xsd:complexType>
              <xsd:all>
                <xsd:element ref="ns2:MediaServiceMetadata" minOccurs="0"/>
                <xsd:element ref="ns2:MediaServiceFastMetadata"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DateTaken" minOccurs="0"/>
                <xsd:element ref="ns2:MediaServiceLocation" minOccurs="0"/>
                <xsd:element ref="ns2:MediaLengthInSeconds" minOccurs="0"/>
                <xsd:element ref="ns2:UploadedBy" minOccurs="0"/>
                <xsd:element ref="ns2:MediaServiceObjectDetectorVersions" minOccurs="0"/>
                <xsd:element ref="ns2:MediaServiceSearchProperties" minOccurs="0"/>
                <xsd:element ref="ns2:_x5099__x8003_"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903afa0-f4f8-44ee-9336-5e6f46981d1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lcf76f155ced4ddcb4097134ff3c332f" ma:index="11" nillable="true" ma:taxonomy="true" ma:internalName="lcf76f155ced4ddcb4097134ff3c332f" ma:taxonomyFieldName="MediaServiceImageTags" ma:displayName="画像タグ" ma:readOnly="false" ma:fieldId="{5cf76f15-5ced-4ddc-b409-7134ff3c332f}" ma:taxonomyMulti="true" ma:sspId="39f9f978-9d4d-4624-9aa1-cca461804d0c" ma:termSetId="09814cd3-568e-fe90-9814-8d621ff8fb84" ma:anchorId="fba54fb3-c3e1-fe81-a776-ca4b69148c4d" ma:open="true" ma:isKeyword="false">
      <xsd:complexType>
        <xsd:sequence>
          <xsd:element ref="pc:Terms" minOccurs="0" maxOccurs="1"/>
        </xsd:sequence>
      </xsd:complex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DateTaken" ma:index="20" nillable="true" ma:displayName="MediaServiceDateTaken" ma:hidden="true" ma:internalName="MediaServiceDateTaken" ma:readOnly="true">
      <xsd:simpleType>
        <xsd:restriction base="dms:Text"/>
      </xsd:simpleType>
    </xsd:element>
    <xsd:element name="MediaServiceLocation" ma:index="21" nillable="true" ma:displayName="Location"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UploadedBy" ma:index="23" nillable="true" ma:displayName="Uploaded By" ma:format="Dropdown" ma:list="UserInfo" ma:SharePointGroup="0" ma:internalName="UploadedBy">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_x5099__x8003_" ma:index="26" nillable="true" ma:displayName="備考" ma:format="Dropdown" ma:internalName="_x5099__x8003_">
      <xsd:simpleType>
        <xsd:restriction base="dms:Note">
          <xsd:maxLength value="255"/>
        </xsd:restriction>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b034c360-b5dc-49e4-921e-4ae488fbe071" elementFormDefault="qualified">
    <xsd:import namespace="http://schemas.microsoft.com/office/2006/documentManagement/types"/>
    <xsd:import namespace="http://schemas.microsoft.com/office/infopath/2007/PartnerControls"/>
    <xsd:element name="TaxCatchAll" ma:index="12" nillable="true" ma:displayName="Taxonomy Catch All Column" ma:hidden="true" ma:list="{91f61c2b-9988-4ce4-ba06-ab6354e3a9be}" ma:internalName="TaxCatchAll" ma:showField="CatchAllData" ma:web="b034c360-b5dc-49e4-921e-4ae488fbe071">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共有相手の詳細情報"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EAF8C15-15C8-4B84-B30D-B36ABFD6BBEC}">
  <ds:schemaRefs>
    <ds:schemaRef ds:uri="http://schemas.microsoft.com/sharepoint/v3/contenttype/forms"/>
  </ds:schemaRefs>
</ds:datastoreItem>
</file>

<file path=customXml/itemProps2.xml><?xml version="1.0" encoding="utf-8"?>
<ds:datastoreItem xmlns:ds="http://schemas.openxmlformats.org/officeDocument/2006/customXml" ds:itemID="{3E828904-8F7D-4B81-9CCE-432514A83640}">
  <ds:schemaRefs>
    <ds:schemaRef ds:uri="http://purl.org/dc/terms/"/>
    <ds:schemaRef ds:uri="http://purl.org/dc/elements/1.1/"/>
    <ds:schemaRef ds:uri="http://schemas.microsoft.com/office/infopath/2007/PartnerControls"/>
    <ds:schemaRef ds:uri="http://www.w3.org/XML/1998/namespace"/>
    <ds:schemaRef ds:uri="http://schemas.microsoft.com/office/2006/documentManagement/types"/>
    <ds:schemaRef ds:uri="b903afa0-f4f8-44ee-9336-5e6f46981d16"/>
    <ds:schemaRef ds:uri="http://schemas.openxmlformats.org/package/2006/metadata/core-properties"/>
    <ds:schemaRef ds:uri="b034c360-b5dc-49e4-921e-4ae488fbe071"/>
    <ds:schemaRef ds:uri="http://schemas.microsoft.com/office/2006/metadata/properties"/>
    <ds:schemaRef ds:uri="http://purl.org/dc/dcmitype/"/>
  </ds:schemaRefs>
</ds:datastoreItem>
</file>

<file path=customXml/itemProps3.xml><?xml version="1.0" encoding="utf-8"?>
<ds:datastoreItem xmlns:ds="http://schemas.openxmlformats.org/officeDocument/2006/customXml" ds:itemID="{06B9729E-66AA-48AA-91EF-FA5F60CB2B26}">
  <ds:schemaRefs>
    <ds:schemaRef ds:uri="b034c360-b5dc-49e4-921e-4ae488fbe071"/>
    <ds:schemaRef ds:uri="b903afa0-f4f8-44ee-9336-5e6f46981d1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template</Template>
  <TotalTime>1232</TotalTime>
  <Words>4703</Words>
  <Application>Microsoft Office PowerPoint</Application>
  <PresentationFormat>ワイド画面</PresentationFormat>
  <Paragraphs>206</Paragraphs>
  <Slides>14</Slides>
  <Notes>14</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14</vt:i4>
      </vt:variant>
    </vt:vector>
  </HeadingPairs>
  <TitlesOfParts>
    <vt:vector size="20" baseType="lpstr">
      <vt:lpstr>Noto Sans JP</vt:lpstr>
      <vt:lpstr>メイリオ</vt:lpstr>
      <vt:lpstr>游ゴシック</vt:lpstr>
      <vt:lpstr>Arial</vt:lpstr>
      <vt:lpstr>Edwardian Script ITC</vt:lpstr>
      <vt:lpstr>Office テーマ</vt:lpstr>
      <vt:lpstr>所有者優先権を保証する プリエンプティブ方式を用いた 学内GPU共有基盤の提案とユーザ参加行動の評価</vt:lpstr>
      <vt:lpstr>背景</vt:lpstr>
      <vt:lpstr>“Air Computing Pool”とは</vt:lpstr>
      <vt:lpstr>研究目的</vt:lpstr>
      <vt:lpstr>課題</vt:lpstr>
      <vt:lpstr>提案基盤</vt:lpstr>
      <vt:lpstr>割り込み機能がタスクの完了時間に与える影響</vt:lpstr>
      <vt:lpstr>シミュレーション環境</vt:lpstr>
      <vt:lpstr>シミュレーション結果：シナリオ別全体平均TAT</vt:lpstr>
      <vt:lpstr>シナリオ別高性能平均TAT</vt:lpstr>
      <vt:lpstr>性能別ユーザー行動によるACP参加評価</vt:lpstr>
      <vt:lpstr>シミュレーション結果 : 参加者数推移</vt:lpstr>
      <vt:lpstr>負荷率にともなう各シナリオ最終参加者数</vt:lpstr>
      <vt:lpstr>まとめと今後の展望</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翔琉 櫻井</dc:creator>
  <cp:lastModifiedBy>翔琉 櫻井</cp:lastModifiedBy>
  <cp:revision>3</cp:revision>
  <cp:lastPrinted>2026-03-02T05:04:26Z</cp:lastPrinted>
  <dcterms:created xsi:type="dcterms:W3CDTF">2026-01-19T19:15:30Z</dcterms:created>
  <dcterms:modified xsi:type="dcterms:W3CDTF">2026-03-04T02:22:32Z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0x01010012C95878E7AC6744ABA06CC0F4B39D73</vt:lpwstr>
  </property>
</Properties>
</file>