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58" r:id="rId5"/>
    <p:sldId id="257" r:id="rId6"/>
    <p:sldId id="259" r:id="rId7"/>
    <p:sldId id="260" r:id="rId8"/>
    <p:sldId id="272" r:id="rId9"/>
    <p:sldId id="261" r:id="rId10"/>
    <p:sldId id="262" r:id="rId11"/>
    <p:sldId id="265" r:id="rId12"/>
    <p:sldId id="266" r:id="rId13"/>
    <p:sldId id="273" r:id="rId14"/>
    <p:sldId id="263" r:id="rId15"/>
    <p:sldId id="268" r:id="rId16"/>
    <p:sldId id="274" r:id="rId17"/>
    <p:sldId id="269"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77B4"/>
    <a:srgbClr val="2CA02C"/>
    <a:srgbClr val="FF7F0E"/>
    <a:srgbClr val="0D47A1"/>
    <a:srgbClr val="FE8D03"/>
    <a:srgbClr val="D62728"/>
    <a:srgbClr val="FFFFFF"/>
    <a:srgbClr val="9467BD"/>
    <a:srgbClr val="1672B1"/>
    <a:srgbClr val="9790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99D97A-AA6C-4187-813D-842CD1831FAF}" v="26" dt="2026-03-02T09:14:09.7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34276" autoAdjust="0"/>
  </p:normalViewPr>
  <p:slideViewPr>
    <p:cSldViewPr snapToGrid="0">
      <p:cViewPr varScale="1">
        <p:scale>
          <a:sx n="35" d="100"/>
          <a:sy n="35" d="100"/>
        </p:scale>
        <p:origin x="2652" y="15"/>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翔琉 櫻井" userId="9696856e3d08c427" providerId="LiveId" clId="{BF7D5C21-6C97-478A-B4E9-E9BDC868F1D2}"/>
    <pc:docChg chg="undo custSel addSld delSld modSld">
      <pc:chgData name="翔琉 櫻井" userId="9696856e3d08c427" providerId="LiveId" clId="{BF7D5C21-6C97-478A-B4E9-E9BDC868F1D2}" dt="2026-03-02T09:15:03.024" v="2079" actId="20577"/>
      <pc:docMkLst>
        <pc:docMk/>
      </pc:docMkLst>
      <pc:sldChg chg="addSp delSp modSp mod modNotesTx">
        <pc:chgData name="翔琉 櫻井" userId="9696856e3d08c427" providerId="LiveId" clId="{BF7D5C21-6C97-478A-B4E9-E9BDC868F1D2}" dt="2026-03-02T09:10:01.878" v="2058"/>
        <pc:sldMkLst>
          <pc:docMk/>
          <pc:sldMk cId="71332995" sldId="257"/>
        </pc:sldMkLst>
        <pc:spChg chg="mod">
          <ac:chgData name="翔琉 櫻井" userId="9696856e3d08c427" providerId="LiveId" clId="{BF7D5C21-6C97-478A-B4E9-E9BDC868F1D2}" dt="2026-03-02T09:09:25.605" v="2057" actId="20577"/>
          <ac:spMkLst>
            <pc:docMk/>
            <pc:sldMk cId="71332995" sldId="257"/>
            <ac:spMk id="3" creationId="{AFE4376B-0BE6-DC44-9A92-9FB4E9E793D6}"/>
          </ac:spMkLst>
        </pc:spChg>
        <pc:spChg chg="add mod">
          <ac:chgData name="翔琉 櫻井" userId="9696856e3d08c427" providerId="LiveId" clId="{BF7D5C21-6C97-478A-B4E9-E9BDC868F1D2}" dt="2026-03-02T09:10:01.878" v="2058"/>
          <ac:spMkLst>
            <pc:docMk/>
            <pc:sldMk cId="71332995" sldId="257"/>
            <ac:spMk id="5" creationId="{51FA538A-6348-9BB4-2E2A-E78969F497A9}"/>
          </ac:spMkLst>
        </pc:spChg>
        <pc:spChg chg="add mod">
          <ac:chgData name="翔琉 櫻井" userId="9696856e3d08c427" providerId="LiveId" clId="{BF7D5C21-6C97-478A-B4E9-E9BDC868F1D2}" dt="2026-03-02T09:10:01.878" v="2058"/>
          <ac:spMkLst>
            <pc:docMk/>
            <pc:sldMk cId="71332995" sldId="257"/>
            <ac:spMk id="6" creationId="{96E70598-9FED-356E-DDDE-530E0D867D47}"/>
          </ac:spMkLst>
        </pc:spChg>
        <pc:spChg chg="add mod">
          <ac:chgData name="翔琉 櫻井" userId="9696856e3d08c427" providerId="LiveId" clId="{BF7D5C21-6C97-478A-B4E9-E9BDC868F1D2}" dt="2026-03-02T09:10:01.878" v="2058"/>
          <ac:spMkLst>
            <pc:docMk/>
            <pc:sldMk cId="71332995" sldId="257"/>
            <ac:spMk id="7" creationId="{21A731A3-5876-7CD9-AD8C-2EF1AD31AA8E}"/>
          </ac:spMkLst>
        </pc:spChg>
        <pc:spChg chg="del">
          <ac:chgData name="翔琉 櫻井" userId="9696856e3d08c427" providerId="LiveId" clId="{BF7D5C21-6C97-478A-B4E9-E9BDC868F1D2}" dt="2026-03-02T09:08:51.292" v="2043" actId="21"/>
          <ac:spMkLst>
            <pc:docMk/>
            <pc:sldMk cId="71332995" sldId="257"/>
            <ac:spMk id="9" creationId="{21A731A3-5876-7CD9-AD8C-2EF1AD31AA8E}"/>
          </ac:spMkLst>
        </pc:spChg>
        <pc:spChg chg="del">
          <ac:chgData name="翔琉 櫻井" userId="9696856e3d08c427" providerId="LiveId" clId="{BF7D5C21-6C97-478A-B4E9-E9BDC868F1D2}" dt="2026-03-02T09:08:51.292" v="2043" actId="21"/>
          <ac:spMkLst>
            <pc:docMk/>
            <pc:sldMk cId="71332995" sldId="257"/>
            <ac:spMk id="21" creationId="{51FA538A-6348-9BB4-2E2A-E78969F497A9}"/>
          </ac:spMkLst>
        </pc:spChg>
        <pc:spChg chg="del">
          <ac:chgData name="翔琉 櫻井" userId="9696856e3d08c427" providerId="LiveId" clId="{BF7D5C21-6C97-478A-B4E9-E9BDC868F1D2}" dt="2026-03-02T09:08:51.292" v="2043" actId="21"/>
          <ac:spMkLst>
            <pc:docMk/>
            <pc:sldMk cId="71332995" sldId="257"/>
            <ac:spMk id="22" creationId="{96E70598-9FED-356E-DDDE-530E0D867D47}"/>
          </ac:spMkLst>
        </pc:spChg>
      </pc:sldChg>
      <pc:sldChg chg="modSp mod">
        <pc:chgData name="翔琉 櫻井" userId="9696856e3d08c427" providerId="LiveId" clId="{BF7D5C21-6C97-478A-B4E9-E9BDC868F1D2}" dt="2026-03-02T04:44:37.687" v="1487" actId="1076"/>
        <pc:sldMkLst>
          <pc:docMk/>
          <pc:sldMk cId="3681276924" sldId="258"/>
        </pc:sldMkLst>
        <pc:spChg chg="mod">
          <ac:chgData name="翔琉 櫻井" userId="9696856e3d08c427" providerId="LiveId" clId="{BF7D5C21-6C97-478A-B4E9-E9BDC868F1D2}" dt="2026-03-02T04:44:37.687" v="1487" actId="1076"/>
          <ac:spMkLst>
            <pc:docMk/>
            <pc:sldMk cId="3681276924" sldId="258"/>
            <ac:spMk id="5" creationId="{4E775116-9EEA-8BC4-FFDD-34C04598AA01}"/>
          </ac:spMkLst>
        </pc:spChg>
        <pc:spChg chg="mod">
          <ac:chgData name="翔琉 櫻井" userId="9696856e3d08c427" providerId="LiveId" clId="{BF7D5C21-6C97-478A-B4E9-E9BDC868F1D2}" dt="2026-03-02T04:44:30.267" v="1486" actId="1076"/>
          <ac:spMkLst>
            <pc:docMk/>
            <pc:sldMk cId="3681276924" sldId="258"/>
            <ac:spMk id="8" creationId="{346AAB66-6418-444C-B52B-AEB5CBA8D08A}"/>
          </ac:spMkLst>
        </pc:spChg>
      </pc:sldChg>
      <pc:sldChg chg="modNotesTx">
        <pc:chgData name="翔琉 櫻井" userId="9696856e3d08c427" providerId="LiveId" clId="{BF7D5C21-6C97-478A-B4E9-E9BDC868F1D2}" dt="2026-03-02T04:51:11.384" v="1525" actId="20577"/>
        <pc:sldMkLst>
          <pc:docMk/>
          <pc:sldMk cId="1560374770" sldId="259"/>
        </pc:sldMkLst>
      </pc:sldChg>
      <pc:sldChg chg="modNotesTx">
        <pc:chgData name="翔琉 櫻井" userId="9696856e3d08c427" providerId="LiveId" clId="{BF7D5C21-6C97-478A-B4E9-E9BDC868F1D2}" dt="2026-03-02T04:20:29.215" v="1312" actId="20577"/>
        <pc:sldMkLst>
          <pc:docMk/>
          <pc:sldMk cId="2634224573" sldId="260"/>
        </pc:sldMkLst>
      </pc:sldChg>
      <pc:sldChg chg="modNotesTx">
        <pc:chgData name="翔琉 櫻井" userId="9696856e3d08c427" providerId="LiveId" clId="{BF7D5C21-6C97-478A-B4E9-E9BDC868F1D2}" dt="2026-03-02T04:22:55.978" v="1368" actId="20577"/>
        <pc:sldMkLst>
          <pc:docMk/>
          <pc:sldMk cId="1912879306" sldId="261"/>
        </pc:sldMkLst>
      </pc:sldChg>
      <pc:sldChg chg="modNotesTx">
        <pc:chgData name="翔琉 櫻井" userId="9696856e3d08c427" providerId="LiveId" clId="{BF7D5C21-6C97-478A-B4E9-E9BDC868F1D2}" dt="2026-03-02T04:08:04.921" v="1205" actId="20577"/>
        <pc:sldMkLst>
          <pc:docMk/>
          <pc:sldMk cId="1416790845" sldId="262"/>
        </pc:sldMkLst>
      </pc:sldChg>
      <pc:sldChg chg="modNotesTx">
        <pc:chgData name="翔琉 櫻井" userId="9696856e3d08c427" providerId="LiveId" clId="{BF7D5C21-6C97-478A-B4E9-E9BDC868F1D2}" dt="2026-03-02T05:01:53.731" v="1572" actId="20577"/>
        <pc:sldMkLst>
          <pc:docMk/>
          <pc:sldMk cId="2103166186" sldId="266"/>
        </pc:sldMkLst>
      </pc:sldChg>
      <pc:sldChg chg="modNotesTx">
        <pc:chgData name="翔琉 櫻井" userId="9696856e3d08c427" providerId="LiveId" clId="{BF7D5C21-6C97-478A-B4E9-E9BDC868F1D2}" dt="2026-03-02T09:15:03.024" v="2079" actId="20577"/>
        <pc:sldMkLst>
          <pc:docMk/>
          <pc:sldMk cId="3266535694" sldId="272"/>
        </pc:sldMkLst>
      </pc:sldChg>
      <pc:sldChg chg="modNotesTx">
        <pc:chgData name="翔琉 櫻井" userId="9696856e3d08c427" providerId="LiveId" clId="{BF7D5C21-6C97-478A-B4E9-E9BDC868F1D2}" dt="2026-03-02T05:40:32.251" v="2042" actId="20577"/>
        <pc:sldMkLst>
          <pc:docMk/>
          <pc:sldMk cId="274282053" sldId="273"/>
        </pc:sldMkLst>
      </pc:sldChg>
      <pc:sldChg chg="addSp modSp mod modShow modNotesTx">
        <pc:chgData name="翔琉 櫻井" userId="9696856e3d08c427" providerId="LiveId" clId="{BF7D5C21-6C97-478A-B4E9-E9BDC868F1D2}" dt="2026-03-02T03:42:01.129" v="1141" actId="20577"/>
        <pc:sldMkLst>
          <pc:docMk/>
          <pc:sldMk cId="2498403875" sldId="274"/>
        </pc:sldMkLst>
        <pc:spChg chg="mod">
          <ac:chgData name="翔琉 櫻井" userId="9696856e3d08c427" providerId="LiveId" clId="{BF7D5C21-6C97-478A-B4E9-E9BDC868F1D2}" dt="2026-03-02T02:52:28.826" v="49" actId="207"/>
          <ac:spMkLst>
            <pc:docMk/>
            <pc:sldMk cId="2498403875" sldId="274"/>
            <ac:spMk id="7" creationId="{6CB2187F-23D1-A9A5-0590-46AB86D88CA7}"/>
          </ac:spMkLst>
        </pc:spChg>
        <pc:spChg chg="add mod">
          <ac:chgData name="翔琉 櫻井" userId="9696856e3d08c427" providerId="LiveId" clId="{BF7D5C21-6C97-478A-B4E9-E9BDC868F1D2}" dt="2026-03-02T02:58:00.229" v="68" actId="207"/>
          <ac:spMkLst>
            <pc:docMk/>
            <pc:sldMk cId="2498403875" sldId="274"/>
            <ac:spMk id="8" creationId="{12E14159-B9E4-1A95-A262-54A852C5842A}"/>
          </ac:spMkLst>
        </pc:spChg>
        <pc:spChg chg="add mod">
          <ac:chgData name="翔琉 櫻井" userId="9696856e3d08c427" providerId="LiveId" clId="{BF7D5C21-6C97-478A-B4E9-E9BDC868F1D2}" dt="2026-03-02T02:59:21.637" v="116" actId="207"/>
          <ac:spMkLst>
            <pc:docMk/>
            <pc:sldMk cId="2498403875" sldId="274"/>
            <ac:spMk id="9" creationId="{92E1FE76-C026-EA0E-4EE4-05A36FA057A5}"/>
          </ac:spMkLst>
        </pc:spChg>
        <pc:spChg chg="add mod">
          <ac:chgData name="翔琉 櫻井" userId="9696856e3d08c427" providerId="LiveId" clId="{BF7D5C21-6C97-478A-B4E9-E9BDC868F1D2}" dt="2026-03-02T02:59:04.119" v="115" actId="207"/>
          <ac:spMkLst>
            <pc:docMk/>
            <pc:sldMk cId="2498403875" sldId="274"/>
            <ac:spMk id="10" creationId="{6425F991-B234-6243-7105-5322C17E693B}"/>
          </ac:spMkLst>
        </pc:spChg>
        <pc:picChg chg="add mod">
          <ac:chgData name="翔琉 櫻井" userId="9696856e3d08c427" providerId="LiveId" clId="{BF7D5C21-6C97-478A-B4E9-E9BDC868F1D2}" dt="2026-03-02T02:56:21.649" v="62" actId="1076"/>
          <ac:picMkLst>
            <pc:docMk/>
            <pc:sldMk cId="2498403875" sldId="274"/>
            <ac:picMk id="5" creationId="{61D0D56B-5BB9-03FF-FB0F-52061C9E7BB7}"/>
          </ac:picMkLst>
        </pc:picChg>
        <pc:picChg chg="mod">
          <ac:chgData name="翔琉 櫻井" userId="9696856e3d08c427" providerId="LiveId" clId="{BF7D5C21-6C97-478A-B4E9-E9BDC868F1D2}" dt="2026-03-02T02:58:53.448" v="114" actId="1076"/>
          <ac:picMkLst>
            <pc:docMk/>
            <pc:sldMk cId="2498403875" sldId="274"/>
            <ac:picMk id="6" creationId="{6A2D2695-A71D-75A7-39A5-7820ADA841CF}"/>
          </ac:picMkLst>
        </pc:picChg>
      </pc:sldChg>
      <pc:sldChg chg="add del">
        <pc:chgData name="翔琉 櫻井" userId="9696856e3d08c427" providerId="LiveId" clId="{BF7D5C21-6C97-478A-B4E9-E9BDC868F1D2}" dt="2026-03-02T02:57:22.502" v="64"/>
        <pc:sldMkLst>
          <pc:docMk/>
          <pc:sldMk cId="313008288" sldId="275"/>
        </pc:sldMkLst>
      </pc:sldChg>
      <pc:sldChg chg="modSp new">
        <pc:chgData name="翔琉 櫻井" userId="9696856e3d08c427" providerId="LiveId" clId="{BF7D5C21-6C97-478A-B4E9-E9BDC868F1D2}" dt="2026-03-02T09:13:47.857" v="2060"/>
        <pc:sldMkLst>
          <pc:docMk/>
          <pc:sldMk cId="1487067971" sldId="275"/>
        </pc:sldMkLst>
        <pc:spChg chg="mod">
          <ac:chgData name="翔琉 櫻井" userId="9696856e3d08c427" providerId="LiveId" clId="{BF7D5C21-6C97-478A-B4E9-E9BDC868F1D2}" dt="2026-03-02T09:13:47.857" v="2060"/>
          <ac:spMkLst>
            <pc:docMk/>
            <pc:sldMk cId="1487067971" sldId="275"/>
            <ac:spMk id="2" creationId="{2B17C672-244A-7BF7-97B0-0A231E18B54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6D9647-ECF1-4A86-B476-A023641EC6F8}" type="datetimeFigureOut">
              <a:rPr kumimoji="1" lang="ja-JP" altLang="en-US" smtClean="0"/>
              <a:t>2026/3/3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C1465-738F-4BB6-B6E4-EBA8CE2D4CD8}" type="slidenum">
              <a:rPr kumimoji="1" lang="ja-JP" altLang="en-US" smtClean="0"/>
              <a:t>‹#›</a:t>
            </a:fld>
            <a:endParaRPr kumimoji="1" lang="ja-JP" altLang="en-US"/>
          </a:p>
        </p:txBody>
      </p:sp>
    </p:spTree>
    <p:extLst>
      <p:ext uri="{BB962C8B-B14F-4D97-AF65-F5344CB8AC3E}">
        <p14:creationId xmlns:p14="http://schemas.microsoft.com/office/powerpoint/2010/main" val="5182697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それでは発表を始めます。大阪大学の櫻井です。よろしくお願いします。タイトルいう</a:t>
            </a:r>
          </a:p>
          <a:p>
            <a:r>
              <a:rPr lang="ja-JP" altLang="en-US" dirty="0"/>
              <a:t>簡単に、本研究では、大学内に分散している</a:t>
            </a:r>
            <a:r>
              <a:rPr lang="en-US" altLang="ja-JP" dirty="0"/>
              <a:t>GPU</a:t>
            </a:r>
            <a:r>
              <a:rPr lang="ja-JP" altLang="en-US" dirty="0"/>
              <a:t>を共有するシステムを対象として、</a:t>
            </a:r>
            <a:br>
              <a:rPr lang="ja-JP" altLang="en-US" dirty="0"/>
            </a:br>
            <a:r>
              <a:rPr lang="ja-JP" altLang="en-US" dirty="0"/>
              <a:t> </a:t>
            </a:r>
            <a:r>
              <a:rPr lang="ja-JP" altLang="en-US" b="1" dirty="0"/>
              <a:t>資源提供者の参加インセンティブ</a:t>
            </a:r>
            <a:r>
              <a:rPr lang="ja-JP" altLang="en-US" dirty="0"/>
              <a:t> に着目しています。</a:t>
            </a:r>
          </a:p>
          <a:p>
            <a:r>
              <a:rPr lang="en-US" altLang="ja-JP" dirty="0"/>
              <a:t>GPU</a:t>
            </a:r>
            <a:r>
              <a:rPr lang="ja-JP" altLang="en-US" dirty="0"/>
              <a:t>共有基盤では、単に資源を共有するだけではなく、</a:t>
            </a:r>
            <a:br>
              <a:rPr lang="ja-JP" altLang="en-US" dirty="0"/>
            </a:br>
            <a:r>
              <a:rPr lang="ja-JP" altLang="en-US" dirty="0"/>
              <a:t>ユーザーが </a:t>
            </a:r>
            <a:r>
              <a:rPr lang="ja-JP" altLang="en-US" b="1" dirty="0"/>
              <a:t>自発的に</a:t>
            </a:r>
            <a:r>
              <a:rPr lang="en-US" altLang="ja-JP" b="1" dirty="0"/>
              <a:t>GPU</a:t>
            </a:r>
            <a:r>
              <a:rPr lang="ja-JP" altLang="en-US" b="1" dirty="0"/>
              <a:t>を提供し続ける仕組み</a:t>
            </a:r>
            <a:r>
              <a:rPr lang="ja-JP" altLang="en-US" dirty="0"/>
              <a:t> を設計することが重要になります。</a:t>
            </a:r>
          </a:p>
          <a:p>
            <a:r>
              <a:rPr lang="ja-JP" altLang="en-US" dirty="0"/>
              <a:t>そこで、</a:t>
            </a:r>
            <a:r>
              <a:rPr lang="ja-JP" altLang="en-US" b="1" dirty="0"/>
              <a:t>所有者優先権を保証するプリエンプティブ方式</a:t>
            </a:r>
            <a:r>
              <a:rPr lang="ja-JP" altLang="en-US" dirty="0"/>
              <a:t>を提案し、</a:t>
            </a:r>
            <a:br>
              <a:rPr lang="ja-JP" altLang="en-US" dirty="0"/>
            </a:br>
            <a:r>
              <a:rPr lang="ja-JP" altLang="en-US" dirty="0"/>
              <a:t>この方式がシステム性能とユーザー参加行動に与える影響を評価します。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a:t>
            </a:fld>
            <a:endParaRPr kumimoji="1" lang="ja-JP" altLang="en-US"/>
          </a:p>
        </p:txBody>
      </p:sp>
    </p:spTree>
    <p:extLst>
      <p:ext uri="{BB962C8B-B14F-4D97-AF65-F5344CB8AC3E}">
        <p14:creationId xmlns:p14="http://schemas.microsoft.com/office/powerpoint/2010/main" val="643640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まず背景について説明します。</a:t>
            </a:r>
          </a:p>
          <a:p>
            <a:r>
              <a:rPr lang="ja-JP" altLang="en-US" dirty="0"/>
              <a:t>近年、</a:t>
            </a:r>
            <a:r>
              <a:rPr lang="en-US" altLang="ja-JP" dirty="0"/>
              <a:t>AI</a:t>
            </a:r>
            <a:r>
              <a:rPr lang="ja-JP" altLang="en-US" dirty="0"/>
              <a:t>・データサイエンス分野の急速な発展に伴って、</a:t>
            </a:r>
            <a:r>
              <a:rPr lang="en-US" altLang="ja-JP" dirty="0"/>
              <a:t>GPU</a:t>
            </a:r>
            <a:r>
              <a:rPr lang="ja-JP" altLang="en-US" dirty="0"/>
              <a:t>の需要は大きく増加しています。特に深層学習の研究では、</a:t>
            </a:r>
            <a:r>
              <a:rPr lang="en-US" altLang="ja-JP" dirty="0"/>
              <a:t>GPU</a:t>
            </a:r>
            <a:r>
              <a:rPr lang="ja-JP" altLang="en-US" dirty="0"/>
              <a:t>の計算能力がそのまま研究のスピードに直結することも多く、研究開発において</a:t>
            </a:r>
            <a:r>
              <a:rPr lang="en-US" altLang="ja-JP" dirty="0"/>
              <a:t>GPU</a:t>
            </a:r>
            <a:r>
              <a:rPr lang="ja-JP" altLang="en-US" dirty="0"/>
              <a:t>は非常に重要な計算資源となっています。</a:t>
            </a:r>
          </a:p>
          <a:p>
            <a:r>
              <a:rPr lang="ja-JP" altLang="en-US" dirty="0"/>
              <a:t>一方で、</a:t>
            </a:r>
            <a:r>
              <a:rPr lang="en-US" altLang="ja-JP" dirty="0"/>
              <a:t>GPU</a:t>
            </a:r>
            <a:r>
              <a:rPr lang="ja-JP" altLang="en-US" dirty="0"/>
              <a:t>は非常に高価なハードウェアであり、さらに近年は</a:t>
            </a:r>
            <a:r>
              <a:rPr lang="en-US" altLang="ja-JP" dirty="0"/>
              <a:t>AI</a:t>
            </a:r>
            <a:r>
              <a:rPr lang="ja-JP" altLang="en-US" dirty="0"/>
              <a:t>用途の需要が急激に増加していることから、世界的な供給不足も発生しています。そのため大学などの研究機関においても、必要なタイミングで十分な</a:t>
            </a:r>
            <a:r>
              <a:rPr lang="en-US" altLang="ja-JP" dirty="0"/>
              <a:t>GPU</a:t>
            </a:r>
            <a:r>
              <a:rPr lang="ja-JP" altLang="en-US" dirty="0"/>
              <a:t>資源を確保することが難しくなってきています。</a:t>
            </a:r>
          </a:p>
          <a:p>
            <a:r>
              <a:rPr lang="ja-JP" altLang="en-US" dirty="0"/>
              <a:t>しかし学内全体を見てみると、</a:t>
            </a:r>
            <a:r>
              <a:rPr lang="en-US" altLang="ja-JP" dirty="0"/>
              <a:t>GPU</a:t>
            </a:r>
            <a:r>
              <a:rPr lang="ja-JP" altLang="en-US" dirty="0"/>
              <a:t>が常にフル稼働しているわけではありません。研究室ごとに研究テーマや利用状況が異なるため、ある研究室では</a:t>
            </a:r>
            <a:r>
              <a:rPr lang="en-US" altLang="ja-JP" dirty="0"/>
              <a:t>GPU</a:t>
            </a:r>
            <a:r>
              <a:rPr lang="ja-JP" altLang="en-US" dirty="0"/>
              <a:t>が不足している一方で、別の研究室では</a:t>
            </a:r>
            <a:r>
              <a:rPr lang="en-US" altLang="ja-JP" dirty="0"/>
              <a:t>GPU</a:t>
            </a:r>
            <a:r>
              <a:rPr lang="ja-JP" altLang="en-US" dirty="0"/>
              <a:t>が使われていない時間帯、いわゆる遊休時間が存在しています。</a:t>
            </a:r>
          </a:p>
          <a:p>
            <a:r>
              <a:rPr lang="ja-JP" altLang="en-US" dirty="0"/>
              <a:t>そこで本研究では、学内に分散して存在する</a:t>
            </a:r>
            <a:r>
              <a:rPr lang="en-US" altLang="ja-JP" dirty="0"/>
              <a:t>GPU</a:t>
            </a:r>
            <a:r>
              <a:rPr lang="ja-JP" altLang="en-US" dirty="0"/>
              <a:t>資源をネットワークを通じて統合し、組織全体で効率的に相互利用するための基盤として、</a:t>
            </a:r>
            <a:r>
              <a:rPr lang="en-US" altLang="ja-JP" b="1" dirty="0"/>
              <a:t>Air Computing Pool</a:t>
            </a:r>
            <a:r>
              <a:rPr lang="ja-JP" altLang="en-US" b="1" dirty="0"/>
              <a:t>、略して</a:t>
            </a:r>
            <a:r>
              <a:rPr lang="en-US" altLang="ja-JP" b="1" dirty="0"/>
              <a:t>ACP</a:t>
            </a:r>
            <a:r>
              <a:rPr lang="ja-JP" altLang="en-US" dirty="0"/>
              <a:t>という学内</a:t>
            </a:r>
            <a:r>
              <a:rPr lang="en-US" altLang="ja-JP" dirty="0"/>
              <a:t>GPU</a:t>
            </a:r>
            <a:r>
              <a:rPr lang="ja-JP" altLang="en-US" dirty="0"/>
              <a:t>共有基盤を検討しています。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2</a:t>
            </a:fld>
            <a:endParaRPr kumimoji="1" lang="ja-JP" altLang="en-US"/>
          </a:p>
        </p:txBody>
      </p:sp>
    </p:spTree>
    <p:extLst>
      <p:ext uri="{BB962C8B-B14F-4D97-AF65-F5344CB8AC3E}">
        <p14:creationId xmlns:p14="http://schemas.microsoft.com/office/powerpoint/2010/main" val="2349992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では、</a:t>
            </a:r>
            <a:r>
              <a:rPr lang="en-US" altLang="ja-JP" dirty="0"/>
              <a:t>AIR Computing Pool</a:t>
            </a:r>
            <a:r>
              <a:rPr lang="ja-JP" altLang="en-US" dirty="0"/>
              <a:t>（</a:t>
            </a:r>
            <a:r>
              <a:rPr lang="en-US" altLang="ja-JP" dirty="0"/>
              <a:t>ACP</a:t>
            </a:r>
            <a:r>
              <a:rPr lang="ja-JP" altLang="en-US" dirty="0"/>
              <a:t>）とはどのようなものかについて説明します。</a:t>
            </a:r>
          </a:p>
          <a:p>
            <a:r>
              <a:rPr lang="ja-JP" altLang="en-US" dirty="0"/>
              <a:t>従来の研究機関では、スライドの下部に示す</a:t>
            </a:r>
            <a:r>
              <a:rPr lang="en-US" altLang="ja-JP" dirty="0"/>
              <a:t>4</a:t>
            </a:r>
            <a:r>
              <a:rPr lang="ja-JP" altLang="en-US" dirty="0"/>
              <a:t>つの研究室がそれぞれ個別に</a:t>
            </a:r>
            <a:r>
              <a:rPr lang="en-US" altLang="ja-JP" dirty="0"/>
              <a:t>GPU</a:t>
            </a:r>
            <a:r>
              <a:rPr lang="ja-JP" altLang="en-US" dirty="0"/>
              <a:t>を所有しており、各研究室は自分たちの</a:t>
            </a:r>
            <a:r>
              <a:rPr lang="en-US" altLang="ja-JP" dirty="0"/>
              <a:t>GPU</a:t>
            </a:r>
            <a:r>
              <a:rPr lang="ja-JP" altLang="en-US" dirty="0"/>
              <a:t>のみを用いてタスクを処理しています。このような構成では、研究室ごとに</a:t>
            </a:r>
            <a:r>
              <a:rPr lang="en-US" altLang="ja-JP" dirty="0"/>
              <a:t>GPU</a:t>
            </a:r>
            <a:r>
              <a:rPr lang="ja-JP" altLang="en-US" dirty="0"/>
              <a:t>の利用状況が異なり、繁忙期には</a:t>
            </a:r>
            <a:r>
              <a:rPr lang="en-US" altLang="ja-JP" dirty="0"/>
              <a:t>GPU</a:t>
            </a:r>
            <a:r>
              <a:rPr lang="ja-JP" altLang="en-US" dirty="0"/>
              <a:t>が不足する一方で、別の研究室では</a:t>
            </a:r>
            <a:r>
              <a:rPr lang="en-US" altLang="ja-JP" dirty="0"/>
              <a:t>GPU</a:t>
            </a:r>
            <a:r>
              <a:rPr lang="ja-JP" altLang="en-US" dirty="0"/>
              <a:t>が遊休状態になっている場合があります。つまり、学内全体で見ると資源が十分に存在していても、局所的な偏りによって効率的に活用できていないという課題があります。</a:t>
            </a:r>
          </a:p>
          <a:p>
            <a:r>
              <a:rPr lang="ja-JP" altLang="en-US" dirty="0"/>
              <a:t>そこで、このような状況に</a:t>
            </a:r>
            <a:r>
              <a:rPr lang="en-US" altLang="ja-JP" dirty="0"/>
              <a:t>ACP</a:t>
            </a:r>
            <a:r>
              <a:rPr lang="ja-JP" altLang="en-US" dirty="0"/>
              <a:t>を導入します。</a:t>
            </a:r>
            <a:r>
              <a:rPr lang="en-US" altLang="ja-JP" dirty="0"/>
              <a:t>ACP</a:t>
            </a:r>
            <a:r>
              <a:rPr lang="ja-JP" altLang="en-US" dirty="0"/>
              <a:t>を導入することで、各研究室が所有する</a:t>
            </a:r>
            <a:r>
              <a:rPr lang="en-US" altLang="ja-JP" dirty="0"/>
              <a:t>GPU</a:t>
            </a:r>
            <a:r>
              <a:rPr lang="ja-JP" altLang="en-US" dirty="0"/>
              <a:t>をネットワークを介して接続し、一つの共有基盤として統合します。</a:t>
            </a:r>
            <a:r>
              <a:rPr lang="en-US" altLang="ja-JP" dirty="0"/>
              <a:t>GPU</a:t>
            </a:r>
            <a:r>
              <a:rPr lang="ja-JP" altLang="en-US" dirty="0"/>
              <a:t>に余裕があったり、あるいは利用していない時間帯がある研究室は、その</a:t>
            </a:r>
            <a:r>
              <a:rPr lang="en-US" altLang="ja-JP" dirty="0"/>
              <a:t>GPU</a:t>
            </a:r>
            <a:r>
              <a:rPr lang="ja-JP" altLang="en-US" dirty="0"/>
              <a:t>資源を</a:t>
            </a:r>
            <a:r>
              <a:rPr lang="en-US" altLang="ja-JP" dirty="0"/>
              <a:t>ACP</a:t>
            </a:r>
            <a:r>
              <a:rPr lang="ja-JP" altLang="en-US" dirty="0"/>
              <a:t>上に提供します。</a:t>
            </a:r>
          </a:p>
          <a:p>
            <a:r>
              <a:rPr lang="ja-JP" altLang="en-US" dirty="0"/>
              <a:t>一方で、</a:t>
            </a:r>
            <a:r>
              <a:rPr lang="en-US" altLang="ja-JP" dirty="0"/>
              <a:t>GPU</a:t>
            </a:r>
            <a:r>
              <a:rPr lang="ja-JP" altLang="en-US" dirty="0"/>
              <a:t>が不足している研究室は、</a:t>
            </a:r>
            <a:r>
              <a:rPr lang="en-US" altLang="ja-JP" dirty="0"/>
              <a:t>ACP</a:t>
            </a:r>
            <a:r>
              <a:rPr lang="ja-JP" altLang="en-US" dirty="0"/>
              <a:t>上に登録された他研究室の</a:t>
            </a:r>
            <a:r>
              <a:rPr lang="en-US" altLang="ja-JP" dirty="0"/>
              <a:t>GPU</a:t>
            </a:r>
            <a:r>
              <a:rPr lang="ja-JP" altLang="en-US" dirty="0"/>
              <a:t>を利用してタスクを処理することが可能になります。この仕組みにより、学内全体の遊休資源を有効活用し、リソースの偏在を緩和することができます。</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3</a:t>
            </a:fld>
            <a:endParaRPr kumimoji="1" lang="ja-JP" altLang="en-US"/>
          </a:p>
        </p:txBody>
      </p:sp>
    </p:spTree>
    <p:extLst>
      <p:ext uri="{BB962C8B-B14F-4D97-AF65-F5344CB8AC3E}">
        <p14:creationId xmlns:p14="http://schemas.microsoft.com/office/powerpoint/2010/main" val="334831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ただ、計算資源の共有という考え方自体は新しいものではありません。</a:t>
            </a:r>
            <a:r>
              <a:rPr lang="en-US" altLang="ja-JP" dirty="0"/>
              <a:t>2000</a:t>
            </a:r>
            <a:r>
              <a:rPr lang="ja-JP" altLang="en-US" dirty="0"/>
              <a:t>年代には、グリッドコンピューティングとして、複数組織に分散する計算資源をネットワーク越しに統合し、仮想的に一つの大規模基盤として利用する取り組みが行われてきました。</a:t>
            </a:r>
          </a:p>
          <a:p>
            <a:pPr>
              <a:lnSpc>
                <a:spcPct val="150000"/>
              </a:lnSpc>
            </a:pPr>
            <a:r>
              <a:rPr lang="ja-JP" altLang="en-US" dirty="0"/>
              <a:t>しかし、</a:t>
            </a:r>
            <a:r>
              <a:rPr lang="ja-JP" altLang="en-US" sz="1200" dirty="0"/>
              <a:t>資源提供はボランティアであり、資源提供者の権利保護が十分に設計されていなかった　</a:t>
            </a:r>
            <a:r>
              <a:rPr lang="ja-JP" altLang="en-US" sz="1200" b="1" dirty="0">
                <a:solidFill>
                  <a:schemeClr val="accent3">
                    <a:lumMod val="75000"/>
                  </a:schemeClr>
                </a:solidFill>
              </a:rPr>
              <a:t>→　</a:t>
            </a:r>
            <a:r>
              <a:rPr lang="ja-JP" altLang="en-US" sz="1200" dirty="0"/>
              <a:t>持続的な運用が</a:t>
            </a:r>
            <a:r>
              <a:rPr lang="ja-JP" altLang="en-US" sz="1200" b="1" dirty="0">
                <a:solidFill>
                  <a:schemeClr val="accent3">
                    <a:lumMod val="75000"/>
                  </a:schemeClr>
                </a:solidFill>
              </a:rPr>
              <a:t>困難</a:t>
            </a:r>
            <a:endParaRPr lang="en-US" altLang="ja-JP" sz="1200" b="1" dirty="0">
              <a:solidFill>
                <a:schemeClr val="accent3">
                  <a:lumMod val="75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そのため本研究の目的として、「</a:t>
            </a:r>
            <a:r>
              <a:rPr lang="ja-JP" altLang="en-US" sz="1200" dirty="0"/>
              <a:t>各研究室が保有する</a:t>
            </a:r>
            <a:r>
              <a:rPr lang="en-US" altLang="ja-JP" sz="1200" dirty="0"/>
              <a:t>GPU</a:t>
            </a:r>
            <a:r>
              <a:rPr lang="ja-JP" altLang="en-US" sz="1200" dirty="0"/>
              <a:t>をより多く提供してもらえて、持続的な運用が可能となる制度設計を構築することとしました。</a:t>
            </a:r>
            <a:r>
              <a:rPr lang="ja-JP" altLang="en-US" dirty="0"/>
              <a:t>一般に共有促進には金銭的報酬が有効とされますが、研究室間で直接的な金銭のやり取りや予算の付け替えを行うことは制度的に困難です。したがって、本研究では金銭による経済的インセンティブは採用せず、所有者が「自発的に自分の</a:t>
            </a:r>
            <a:r>
              <a:rPr lang="en-US" altLang="ja-JP" dirty="0"/>
              <a:t>GPU</a:t>
            </a:r>
            <a:r>
              <a:rPr lang="ja-JP" altLang="en-US" dirty="0"/>
              <a:t>を貸し出したくなる」制度設計を行うことを目指しています</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4</a:t>
            </a:fld>
            <a:endParaRPr kumimoji="1" lang="ja-JP" altLang="en-US"/>
          </a:p>
        </p:txBody>
      </p:sp>
    </p:spTree>
    <p:extLst>
      <p:ext uri="{BB962C8B-B14F-4D97-AF65-F5344CB8AC3E}">
        <p14:creationId xmlns:p14="http://schemas.microsoft.com/office/powerpoint/2010/main" val="3013384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では、従来の共有基盤における課題について詳しく説明します。仮に明確な運用ルールを設けず、単純な共有システムを構築した場合、高性能な</a:t>
            </a:r>
            <a:r>
              <a:rPr lang="en-US" altLang="ja-JP" dirty="0"/>
              <a:t>GPU</a:t>
            </a:r>
            <a:r>
              <a:rPr lang="ja-JP" altLang="en-US" dirty="0"/>
              <a:t>には他ユーザーからのタスクが集中することが想定されます。その結果、資源の所有者が自分で利用したいタイミングで</a:t>
            </a:r>
            <a:r>
              <a:rPr lang="en-US" altLang="ja-JP" dirty="0"/>
              <a:t>GPU</a:t>
            </a:r>
            <a:r>
              <a:rPr lang="ja-JP" altLang="en-US" dirty="0"/>
              <a:t>を使用できない状況が生じ、こうした状況が続けば、所有者は自らの</a:t>
            </a:r>
            <a:r>
              <a:rPr lang="en-US" altLang="ja-JP" dirty="0"/>
              <a:t>GPU</a:t>
            </a:r>
            <a:r>
              <a:rPr lang="ja-JP" altLang="en-US" dirty="0"/>
              <a:t>を共有基盤に提供しなくなってしまいます。</a:t>
            </a:r>
          </a:p>
          <a:p>
            <a:r>
              <a:rPr lang="ja-JP" altLang="en-US" dirty="0"/>
              <a:t>さらに、高性能な</a:t>
            </a:r>
            <a:r>
              <a:rPr lang="en-US" altLang="ja-JP" dirty="0"/>
              <a:t>GPU</a:t>
            </a:r>
            <a:r>
              <a:rPr lang="ja-JP" altLang="en-US" dirty="0"/>
              <a:t>が一台離脱すると、次に性能の高い</a:t>
            </a:r>
            <a:r>
              <a:rPr lang="en-US" altLang="ja-JP" dirty="0"/>
              <a:t>GPU</a:t>
            </a:r>
            <a:r>
              <a:rPr lang="ja-JP" altLang="en-US" dirty="0"/>
              <a:t>へと負荷が集中し、同様の離脱が連鎖的に発生する可能性があります。このような悪循環が進行すれば、最終的には</a:t>
            </a:r>
            <a:r>
              <a:rPr lang="en-US" altLang="ja-JP" dirty="0"/>
              <a:t>ACP</a:t>
            </a:r>
            <a:r>
              <a:rPr lang="ja-JP" altLang="en-US" dirty="0"/>
              <a:t>から資源が失われ、共有基盤として機能しなくなるという流れです</a:t>
            </a:r>
          </a:p>
          <a:p>
            <a:r>
              <a:rPr lang="ja-JP" altLang="en-US" dirty="0"/>
              <a:t>したがって、資源を安心して提供してもらうためには、ほかのユーザーからの占有を受けず、資源提供者の所有権を明確に保証し、利便性を最優先に扱う制度を導入することが不可欠と考えました</a:t>
            </a:r>
            <a:endParaRPr lang="en-US" altLang="ja-JP" dirty="0"/>
          </a:p>
          <a:p>
            <a:endParaRPr lang="en-US" altLang="ja-JP" dirty="0"/>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5</a:t>
            </a:fld>
            <a:endParaRPr kumimoji="1" lang="ja-JP" altLang="en-US"/>
          </a:p>
        </p:txBody>
      </p:sp>
    </p:spTree>
    <p:extLst>
      <p:ext uri="{BB962C8B-B14F-4D97-AF65-F5344CB8AC3E}">
        <p14:creationId xmlns:p14="http://schemas.microsoft.com/office/powerpoint/2010/main" val="4056385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そこで私は、「所有者優先権を保証するプリエンプティブ方式を用いた共有基盤」を提案します。</a:t>
            </a:r>
          </a:p>
          <a:p>
            <a:r>
              <a:rPr lang="ja-JP" altLang="en-US" dirty="0"/>
              <a:t>本基盤では、各</a:t>
            </a:r>
            <a:r>
              <a:rPr lang="en-US" altLang="ja-JP" dirty="0"/>
              <a:t>GPU</a:t>
            </a:r>
            <a:r>
              <a:rPr lang="ja-JP" altLang="en-US" dirty="0"/>
              <a:t>の所有者が本来持っている利用権を尊重しながら、遊休時間を有効活用できる仕組みを実現することを目的としています。基盤の概要は、ユーザーが</a:t>
            </a:r>
            <a:r>
              <a:rPr lang="en-US" altLang="ja-JP" dirty="0"/>
              <a:t>ACP</a:t>
            </a:r>
            <a:r>
              <a:rPr lang="ja-JP" altLang="en-US" dirty="0"/>
              <a:t>にタスクを投入すると、</a:t>
            </a:r>
            <a:r>
              <a:rPr lang="en-US" altLang="ja-JP" dirty="0"/>
              <a:t>ACP</a:t>
            </a:r>
            <a:r>
              <a:rPr lang="ja-JP" altLang="en-US" dirty="0"/>
              <a:t>管理ポータルが現在のリソース状況や負荷状況を考慮し、このタスクを最短時間で完了できる</a:t>
            </a:r>
            <a:r>
              <a:rPr lang="en-US" altLang="ja-JP" dirty="0"/>
              <a:t>GPU</a:t>
            </a:r>
            <a:r>
              <a:rPr lang="ja-JP" altLang="en-US" dirty="0"/>
              <a:t>に割り当てます。これにより、全体として効率的な資源活用を図ります。</a:t>
            </a:r>
          </a:p>
          <a:p>
            <a:r>
              <a:rPr lang="ja-JP" altLang="en-US" dirty="0"/>
              <a:t>一方で、タスクの実行中に、その</a:t>
            </a:r>
            <a:r>
              <a:rPr lang="en-US" altLang="ja-JP" dirty="0"/>
              <a:t>GPU</a:t>
            </a:r>
            <a:r>
              <a:rPr lang="ja-JP" altLang="en-US" dirty="0"/>
              <a:t>の所有者がこの</a:t>
            </a:r>
            <a:r>
              <a:rPr lang="en-US" altLang="ja-JP" dirty="0"/>
              <a:t>GPU</a:t>
            </a:r>
            <a:r>
              <a:rPr lang="ja-JP" altLang="en-US" dirty="0"/>
              <a:t>の利用を希望した場合には、所有者の優先権を保証するために、実行中のタスクをプリエンプションし、</a:t>
            </a:r>
            <a:r>
              <a:rPr lang="en-US" altLang="ja-JP" dirty="0"/>
              <a:t>GPU</a:t>
            </a:r>
            <a:r>
              <a:rPr lang="ja-JP" altLang="en-US" dirty="0"/>
              <a:t>を即座に所有者へ返却します。その際、中断されたタスクはチェックポイント情報を基に他の</a:t>
            </a:r>
            <a:r>
              <a:rPr lang="en-US" altLang="ja-JP" dirty="0"/>
              <a:t>GPU</a:t>
            </a:r>
            <a:r>
              <a:rPr lang="ja-JP" altLang="en-US" dirty="0"/>
              <a:t>へマイグレーションし、処理を継続します。これにより、タスクの再実行による大きな損失を防ぎつつ、所有者の即時利用要求にも対応可能としています。</a:t>
            </a:r>
          </a:p>
          <a:p>
            <a:r>
              <a:rPr lang="ja-JP" altLang="en-US" dirty="0"/>
              <a:t>このように、プリエンプティブ方式を採用することで、所有者が安心して資源を共有できる環境を構築できると考えています。</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6</a:t>
            </a:fld>
            <a:endParaRPr kumimoji="1" lang="ja-JP" altLang="en-US"/>
          </a:p>
        </p:txBody>
      </p:sp>
    </p:spTree>
    <p:extLst>
      <p:ext uri="{BB962C8B-B14F-4D97-AF65-F5344CB8AC3E}">
        <p14:creationId xmlns:p14="http://schemas.microsoft.com/office/powerpoint/2010/main" val="28689196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続いて、このプリエンプティブ方式がシステム全体のタスク完了時間に与える影響について検証しました。今回の評価では、「タスクがいかに早く完了するか」に着目し、指標としてターンアラウンドタイム（</a:t>
            </a:r>
            <a:r>
              <a:rPr lang="en-US" altLang="ja-JP" dirty="0"/>
              <a:t>TAT</a:t>
            </a:r>
            <a:r>
              <a:rPr lang="ja-JP" altLang="en-US" dirty="0"/>
              <a:t>）を用いています。</a:t>
            </a:r>
            <a:r>
              <a:rPr lang="en-US" altLang="ja-JP" dirty="0"/>
              <a:t>TAT</a:t>
            </a:r>
            <a:r>
              <a:rPr lang="ja-JP" altLang="en-US" dirty="0"/>
              <a:t>は、タスクの投入から完了までに要した総時間を表す指標であり、ユーザー体感の性能を評価する上で重要な指標です。</a:t>
            </a:r>
          </a:p>
          <a:p>
            <a:r>
              <a:rPr lang="ja-JP" altLang="en-US" dirty="0"/>
              <a:t>評価にあたっては、学内環境をモデル化し、各ユーザーがポアソン分布に従ってタスクを生成する状況を想定しました。そして、動的に</a:t>
            </a:r>
            <a:r>
              <a:rPr lang="en-US" altLang="ja-JP" dirty="0"/>
              <a:t>GPU</a:t>
            </a:r>
            <a:r>
              <a:rPr lang="ja-JP" altLang="en-US" dirty="0"/>
              <a:t>を選択して処理を行うイベントシミュレーションを構築し、異なる運用ルールのもとで</a:t>
            </a:r>
            <a:r>
              <a:rPr lang="en-US" altLang="ja-JP" dirty="0"/>
              <a:t>TAT</a:t>
            </a:r>
            <a:r>
              <a:rPr lang="ja-JP" altLang="en-US" dirty="0"/>
              <a:t>を比較します。</a:t>
            </a:r>
          </a:p>
          <a:p>
            <a:r>
              <a:rPr lang="ja-JP" altLang="en-US" dirty="0"/>
              <a:t>比較対象とした運用ルールは、以下の</a:t>
            </a:r>
            <a:r>
              <a:rPr lang="en-US" altLang="ja-JP" dirty="0"/>
              <a:t>4</a:t>
            </a:r>
            <a:r>
              <a:rPr lang="ja-JP" altLang="en-US" dirty="0"/>
              <a:t>つです。</a:t>
            </a:r>
          </a:p>
          <a:p>
            <a:r>
              <a:rPr lang="en-US" altLang="ja-JP" dirty="0"/>
              <a:t>1</a:t>
            </a:r>
            <a:r>
              <a:rPr lang="ja-JP" altLang="en-US" dirty="0"/>
              <a:t>つ目は、</a:t>
            </a:r>
            <a:r>
              <a:rPr lang="en-US" altLang="ja-JP" dirty="0"/>
              <a:t>ACP</a:t>
            </a:r>
            <a:r>
              <a:rPr lang="ja-JP" altLang="en-US" dirty="0"/>
              <a:t>を導入しない「共有なし」の方式です。この方式では、各ユーザーが自分の</a:t>
            </a:r>
            <a:r>
              <a:rPr lang="en-US" altLang="ja-JP" dirty="0"/>
              <a:t>GPU</a:t>
            </a:r>
            <a:r>
              <a:rPr lang="ja-JP" altLang="en-US" dirty="0"/>
              <a:t>のみを使用してタスクを処理します。他者の</a:t>
            </a:r>
            <a:r>
              <a:rPr lang="en-US" altLang="ja-JP" dirty="0"/>
              <a:t>GPU</a:t>
            </a:r>
            <a:r>
              <a:rPr lang="ja-JP" altLang="en-US" dirty="0"/>
              <a:t>を利用できないため、</a:t>
            </a:r>
            <a:r>
              <a:rPr lang="en-US" altLang="ja-JP" dirty="0"/>
              <a:t>GPU</a:t>
            </a:r>
            <a:r>
              <a:rPr lang="ja-JP" altLang="en-US" dirty="0"/>
              <a:t>の遊休時間が発生しやすい一方で、所有権は完全に保証されます。これは共有基盤を導入しない場合のベースラインとして位置づけています。</a:t>
            </a:r>
          </a:p>
          <a:p>
            <a:r>
              <a:rPr lang="en-US" altLang="ja-JP" dirty="0"/>
              <a:t>2</a:t>
            </a:r>
            <a:r>
              <a:rPr lang="ja-JP" altLang="en-US" dirty="0"/>
              <a:t>つ目は、</a:t>
            </a:r>
            <a:r>
              <a:rPr lang="en-US" altLang="ja-JP" dirty="0"/>
              <a:t>FCFS</a:t>
            </a:r>
            <a:r>
              <a:rPr lang="ja-JP" altLang="en-US" dirty="0"/>
              <a:t>（先着順）方式です。この方式では、全ユーザーが</a:t>
            </a:r>
            <a:r>
              <a:rPr lang="en-US" altLang="ja-JP" dirty="0"/>
              <a:t>ACP</a:t>
            </a:r>
            <a:r>
              <a:rPr lang="ja-JP" altLang="en-US" dirty="0"/>
              <a:t>上のすべての</a:t>
            </a:r>
            <a:r>
              <a:rPr lang="en-US" altLang="ja-JP" dirty="0"/>
              <a:t>GPU</a:t>
            </a:r>
            <a:r>
              <a:rPr lang="ja-JP" altLang="en-US" dirty="0"/>
              <a:t>を平等に利用可能とし、タスクは早い者勝ちで割り当てられます。資源利用効率は向上すると考えられますが、所有者の優先権は考慮されません。</a:t>
            </a:r>
          </a:p>
          <a:p>
            <a:r>
              <a:rPr lang="en-US" altLang="ja-JP" dirty="0"/>
              <a:t>3</a:t>
            </a:r>
            <a:r>
              <a:rPr lang="ja-JP" altLang="en-US" dirty="0"/>
              <a:t>つ目は、所有者優先方式です。この方式では、自分の</a:t>
            </a:r>
            <a:r>
              <a:rPr lang="en-US" altLang="ja-JP" dirty="0"/>
              <a:t>GPU</a:t>
            </a:r>
            <a:r>
              <a:rPr lang="ja-JP" altLang="en-US" dirty="0"/>
              <a:t>が空いている場合には即座に利用できますが、他者のタスクが実行中である場合には、その終了を待つ必要があります。つまり、所有者に一定の優先権はあるものの、実行中タスクの中断は行いません。そのため、所有者の利便性とタスク継続性のバランスをとった方式といえます。</a:t>
            </a:r>
          </a:p>
          <a:p>
            <a:r>
              <a:rPr lang="en-US" altLang="ja-JP" dirty="0"/>
              <a:t>4</a:t>
            </a:r>
            <a:r>
              <a:rPr lang="ja-JP" altLang="en-US" dirty="0"/>
              <a:t>つ目が、本研究で提案するプリエンプティブ方式です。この方式では、自分の</a:t>
            </a:r>
            <a:r>
              <a:rPr lang="en-US" altLang="ja-JP" dirty="0"/>
              <a:t>GPU</a:t>
            </a:r>
            <a:r>
              <a:rPr lang="ja-JP" altLang="en-US" dirty="0"/>
              <a:t>を利用する際に、たとえ他者のタスクが実行中であってもプリエンプションを行い、即座に自分のタスクを実行できます。中断されたタスクは他の</a:t>
            </a:r>
            <a:r>
              <a:rPr lang="en-US" altLang="ja-JP" dirty="0"/>
              <a:t>GPU</a:t>
            </a:r>
            <a:r>
              <a:rPr lang="ja-JP" altLang="en-US" dirty="0"/>
              <a:t>へマイグレーションし、処理を継続します。これにより、所有者の即時利用要求に最大限応えることができるようになります。</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7</a:t>
            </a:fld>
            <a:endParaRPr kumimoji="1" lang="ja-JP" altLang="en-US"/>
          </a:p>
        </p:txBody>
      </p:sp>
    </p:spTree>
    <p:extLst>
      <p:ext uri="{BB962C8B-B14F-4D97-AF65-F5344CB8AC3E}">
        <p14:creationId xmlns:p14="http://schemas.microsoft.com/office/powerpoint/2010/main" val="493300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続いて、シミュレーションにおける変数設定について説明します。</a:t>
            </a:r>
          </a:p>
          <a:p>
            <a:r>
              <a:rPr lang="ja-JP" altLang="en-US" dirty="0"/>
              <a:t>ユーザー数は</a:t>
            </a:r>
            <a:r>
              <a:rPr lang="en-US" altLang="ja-JP" dirty="0"/>
              <a:t>18</a:t>
            </a:r>
            <a:r>
              <a:rPr lang="ja-JP" altLang="en-US" dirty="0"/>
              <a:t>人とし、各ユーザーが</a:t>
            </a:r>
            <a:r>
              <a:rPr lang="en-US" altLang="ja-JP" dirty="0"/>
              <a:t>1</a:t>
            </a:r>
            <a:r>
              <a:rPr lang="ja-JP" altLang="en-US" dirty="0"/>
              <a:t>台の</a:t>
            </a:r>
            <a:r>
              <a:rPr lang="en-US" altLang="ja-JP" dirty="0"/>
              <a:t>GPU</a:t>
            </a:r>
            <a:r>
              <a:rPr lang="ja-JP" altLang="en-US" dirty="0"/>
              <a:t>を所有している設定としています。</a:t>
            </a:r>
            <a:r>
              <a:rPr lang="en-US" altLang="ja-JP" dirty="0"/>
              <a:t>GPU</a:t>
            </a:r>
            <a:r>
              <a:rPr lang="ja-JP" altLang="en-US" dirty="0"/>
              <a:t>の性能については、右の表に示すように、実際に利用されている</a:t>
            </a:r>
            <a:r>
              <a:rPr lang="en-US" altLang="ja-JP" dirty="0"/>
              <a:t>9</a:t>
            </a:r>
            <a:r>
              <a:rPr lang="ja-JP" altLang="en-US" dirty="0"/>
              <a:t>種類の</a:t>
            </a:r>
            <a:r>
              <a:rPr lang="en-US" altLang="ja-JP" dirty="0"/>
              <a:t>GPU</a:t>
            </a:r>
            <a:r>
              <a:rPr lang="ja-JP" altLang="en-US" dirty="0"/>
              <a:t>を想定し、それぞれのベンチマーク結果に基づいて計算性能を定義しています。各</a:t>
            </a:r>
            <a:r>
              <a:rPr lang="en-US" altLang="ja-JP" dirty="0"/>
              <a:t>GPU</a:t>
            </a:r>
            <a:r>
              <a:rPr lang="ja-JP" altLang="en-US" dirty="0"/>
              <a:t>種別を</a:t>
            </a:r>
            <a:r>
              <a:rPr lang="en-US" altLang="ja-JP" dirty="0"/>
              <a:t>2</a:t>
            </a:r>
            <a:r>
              <a:rPr lang="ja-JP" altLang="en-US" dirty="0"/>
              <a:t>名ずつが所持する構成とし、合計で</a:t>
            </a:r>
            <a:r>
              <a:rPr lang="en-US" altLang="ja-JP" dirty="0"/>
              <a:t>18</a:t>
            </a:r>
            <a:r>
              <a:rPr lang="ja-JP" altLang="en-US" dirty="0"/>
              <a:t>ユーザーとなります。</a:t>
            </a:r>
            <a:endParaRPr lang="en-US" altLang="ja-JP" dirty="0"/>
          </a:p>
          <a:p>
            <a:endParaRPr lang="ja-JP" altLang="en-US" dirty="0"/>
          </a:p>
          <a:p>
            <a:r>
              <a:rPr lang="ja-JP" altLang="en-US" dirty="0"/>
              <a:t>タスクの到着率は</a:t>
            </a:r>
            <a:r>
              <a:rPr lang="en-US" altLang="ja-JP" dirty="0"/>
              <a:t>0.005 [tasks/s] </a:t>
            </a:r>
            <a:r>
              <a:rPr lang="ja-JP" altLang="en-US" dirty="0"/>
              <a:t>と設定しました。これは平均すると</a:t>
            </a:r>
            <a:r>
              <a:rPr lang="en-US" altLang="ja-JP" dirty="0"/>
              <a:t>200</a:t>
            </a:r>
            <a:r>
              <a:rPr lang="ja-JP" altLang="en-US" dirty="0"/>
              <a:t>秒に</a:t>
            </a:r>
            <a:r>
              <a:rPr lang="en-US" altLang="ja-JP" dirty="0"/>
              <a:t>1</a:t>
            </a:r>
            <a:r>
              <a:rPr lang="ja-JP" altLang="en-US" dirty="0"/>
              <a:t>回タスクが発生することを意味します。タスクサイズは全ユーザーで同一とし、</a:t>
            </a:r>
            <a:r>
              <a:rPr lang="en-US" altLang="ja-JP" dirty="0"/>
              <a:t>YOLOv7</a:t>
            </a:r>
            <a:r>
              <a:rPr lang="ja-JP" altLang="en-US" dirty="0"/>
              <a:t>の学習タスクを想定していて、具体的には、画像</a:t>
            </a:r>
            <a:r>
              <a:rPr lang="en-US" altLang="ja-JP" dirty="0"/>
              <a:t>1</a:t>
            </a:r>
            <a:r>
              <a:rPr lang="ja-JP" altLang="en-US" dirty="0"/>
              <a:t>枚あたり平均</a:t>
            </a:r>
            <a:r>
              <a:rPr lang="en-US" altLang="ja-JP" dirty="0"/>
              <a:t>0.360 TFLOPs</a:t>
            </a:r>
            <a:r>
              <a:rPr lang="ja-JP" altLang="en-US" dirty="0"/>
              <a:t>の計算量を要し、エポック数は</a:t>
            </a:r>
            <a:r>
              <a:rPr lang="en-US" altLang="ja-JP" dirty="0"/>
              <a:t>10</a:t>
            </a:r>
            <a:r>
              <a:rPr lang="ja-JP" altLang="en-US" dirty="0"/>
              <a:t>回と設定しています。</a:t>
            </a:r>
          </a:p>
          <a:p>
            <a:r>
              <a:rPr lang="ja-JP" altLang="en-US" dirty="0"/>
              <a:t>また、本シミュレーションではシステムの負荷状況を制御するために、「総タスク量 </a:t>
            </a:r>
            <a:r>
              <a:rPr lang="en-US" altLang="ja-JP" dirty="0"/>
              <a:t>÷ </a:t>
            </a:r>
            <a:r>
              <a:rPr lang="ja-JP" altLang="en-US" dirty="0"/>
              <a:t>全</a:t>
            </a:r>
            <a:r>
              <a:rPr lang="en-US" altLang="ja-JP" dirty="0"/>
              <a:t>GPU</a:t>
            </a:r>
            <a:r>
              <a:rPr lang="ja-JP" altLang="en-US" dirty="0"/>
              <a:t>の可能処理タスク量」で定義される負荷率をパラメータとして設定しています。この負荷率は、システム全体に対してどの程度の処理要求が発生しているかを示す指標です。</a:t>
            </a:r>
          </a:p>
          <a:p>
            <a:r>
              <a:rPr lang="ja-JP" altLang="en-US" dirty="0"/>
              <a:t>負荷率を変化させるために、バッチサイズを調整することで</a:t>
            </a:r>
            <a:r>
              <a:rPr lang="en-US" altLang="ja-JP" dirty="0"/>
              <a:t>1</a:t>
            </a:r>
            <a:r>
              <a:rPr lang="ja-JP" altLang="en-US" dirty="0"/>
              <a:t>タスクあたりの計算量を変動させています。これにより、低負荷状態から高負荷状態まで幅広い条件下において、各運用方式の性能を比較できるようにしました</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8</a:t>
            </a:fld>
            <a:endParaRPr kumimoji="1" lang="ja-JP" altLang="en-US"/>
          </a:p>
        </p:txBody>
      </p:sp>
    </p:spTree>
    <p:extLst>
      <p:ext uri="{BB962C8B-B14F-4D97-AF65-F5344CB8AC3E}">
        <p14:creationId xmlns:p14="http://schemas.microsoft.com/office/powerpoint/2010/main" val="1640019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こちらのグラフは、全ユーザーの平均ターンアラウンドタイム（</a:t>
            </a:r>
            <a:r>
              <a:rPr lang="en-US" altLang="ja-JP" dirty="0"/>
              <a:t>TAT</a:t>
            </a:r>
            <a:r>
              <a:rPr lang="ja-JP" altLang="en-US" dirty="0"/>
              <a:t>）を示したものです。縦軸は平均</a:t>
            </a:r>
            <a:r>
              <a:rPr lang="en-US" altLang="ja-JP" dirty="0"/>
              <a:t>TAT</a:t>
            </a:r>
            <a:r>
              <a:rPr lang="ja-JP" altLang="en-US" dirty="0"/>
              <a:t>を表しており、値は </a:t>
            </a:r>
            <a:r>
              <a:rPr lang="en-US" altLang="ja-JP" dirty="0"/>
              <a:t>log10 </a:t>
            </a:r>
            <a:r>
              <a:rPr lang="ja-JP" altLang="en-US" dirty="0"/>
              <a:t>スケールで表示しています。横軸はシステムの負荷率です。</a:t>
            </a:r>
          </a:p>
          <a:p>
            <a:r>
              <a:rPr lang="ja-JP" altLang="en-US" dirty="0"/>
              <a:t>まず注目すべき点は、「共有なし」のシナリオと、</a:t>
            </a:r>
            <a:r>
              <a:rPr lang="en-US" altLang="ja-JP" dirty="0"/>
              <a:t>3</a:t>
            </a:r>
            <a:r>
              <a:rPr lang="ja-JP" altLang="en-US" dirty="0"/>
              <a:t>つの共有シナリオとの</a:t>
            </a:r>
            <a:r>
              <a:rPr lang="en-US" altLang="ja-JP" dirty="0"/>
              <a:t>TAT</a:t>
            </a:r>
            <a:r>
              <a:rPr lang="ja-JP" altLang="en-US" dirty="0"/>
              <a:t>の差です。いずれの負荷率においても、</a:t>
            </a:r>
            <a:r>
              <a:rPr lang="en-US" altLang="ja-JP" dirty="0"/>
              <a:t>ACP</a:t>
            </a:r>
            <a:r>
              <a:rPr lang="ja-JP" altLang="en-US" dirty="0"/>
              <a:t>を導入することで平均</a:t>
            </a:r>
            <a:r>
              <a:rPr lang="en-US" altLang="ja-JP" dirty="0"/>
              <a:t>TAT</a:t>
            </a:r>
            <a:r>
              <a:rPr lang="ja-JP" altLang="en-US" dirty="0"/>
              <a:t>が大きく短縮されていることが確認できます。これは、学内全体で</a:t>
            </a:r>
            <a:r>
              <a:rPr lang="en-US" altLang="ja-JP" dirty="0"/>
              <a:t>GPU</a:t>
            </a:r>
            <a:r>
              <a:rPr lang="ja-JP" altLang="en-US" dirty="0"/>
              <a:t>資源を共有することにより、遊休資源が有効活用され、処理効率が向上していることを示しています。</a:t>
            </a:r>
          </a:p>
          <a:p>
            <a:r>
              <a:rPr lang="ja-JP" altLang="en-US" dirty="0"/>
              <a:t>次に、共有方式間の比較に注目します。負荷率が</a:t>
            </a:r>
            <a:r>
              <a:rPr lang="en-US" altLang="ja-JP" dirty="0"/>
              <a:t>0.8</a:t>
            </a:r>
            <a:r>
              <a:rPr lang="ja-JP" altLang="en-US" dirty="0"/>
              <a:t>までは、プリエンプティブ方式の平均</a:t>
            </a:r>
            <a:r>
              <a:rPr lang="en-US" altLang="ja-JP" dirty="0"/>
              <a:t>TAT</a:t>
            </a:r>
            <a:r>
              <a:rPr lang="ja-JP" altLang="en-US" dirty="0"/>
              <a:t>が最も小さくなっています。つまり、中程度までの負荷環境においては、所有者優先権を強く保証する本方式が、全体の性能向上にも寄与していることが分かります。</a:t>
            </a:r>
          </a:p>
          <a:p>
            <a:r>
              <a:rPr lang="ja-JP" altLang="en-US" dirty="0"/>
              <a:t>しかし、負荷率が</a:t>
            </a:r>
            <a:r>
              <a:rPr lang="en-US" altLang="ja-JP" dirty="0"/>
              <a:t>0.8</a:t>
            </a:r>
            <a:r>
              <a:rPr lang="ja-JP" altLang="en-US" dirty="0"/>
              <a:t>を超えると、プリエンプティブ方式の</a:t>
            </a:r>
            <a:r>
              <a:rPr lang="en-US" altLang="ja-JP" dirty="0"/>
              <a:t>TAT</a:t>
            </a:r>
            <a:r>
              <a:rPr lang="ja-JP" altLang="en-US" dirty="0"/>
              <a:t>が急激に増加し、他方式との間で逆転現象が生じています。</a:t>
            </a:r>
          </a:p>
          <a:p>
            <a:r>
              <a:rPr lang="ja-JP" altLang="en-US" dirty="0"/>
              <a:t>この要因として、負荷率が高まるにつれてプリエンプションの発生回数が増加する点が挙げられます。特に、高性能な</a:t>
            </a:r>
            <a:r>
              <a:rPr lang="en-US" altLang="ja-JP" dirty="0"/>
              <a:t>GPU</a:t>
            </a:r>
            <a:r>
              <a:rPr lang="ja-JP" altLang="en-US" dirty="0"/>
              <a:t>を所有するユーザーが頻繁に自身の</a:t>
            </a:r>
            <a:r>
              <a:rPr lang="en-US" altLang="ja-JP" dirty="0"/>
              <a:t>GPU</a:t>
            </a:r>
            <a:r>
              <a:rPr lang="ja-JP" altLang="en-US" dirty="0"/>
              <a:t>を取り戻すことで、低性能</a:t>
            </a:r>
            <a:r>
              <a:rPr lang="en-US" altLang="ja-JP" dirty="0"/>
              <a:t>GPU</a:t>
            </a:r>
            <a:r>
              <a:rPr lang="ja-JP" altLang="en-US" dirty="0"/>
              <a:t>へマイグレーションされたタスクの処理時間が大きく延びます。その結果、低性能</a:t>
            </a:r>
            <a:r>
              <a:rPr lang="en-US" altLang="ja-JP" dirty="0"/>
              <a:t>GPU</a:t>
            </a:r>
            <a:r>
              <a:rPr lang="ja-JP" altLang="en-US" dirty="0"/>
              <a:t>を主に利用するユーザーの平均</a:t>
            </a:r>
            <a:r>
              <a:rPr lang="en-US" altLang="ja-JP" dirty="0"/>
              <a:t>TAT</a:t>
            </a:r>
            <a:r>
              <a:rPr lang="ja-JP" altLang="en-US" dirty="0"/>
              <a:t>が大幅に増加し、全体平均を押し上げる要因となっています。</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9</a:t>
            </a:fld>
            <a:endParaRPr kumimoji="1" lang="ja-JP" altLang="en-US"/>
          </a:p>
        </p:txBody>
      </p:sp>
    </p:spTree>
    <p:extLst>
      <p:ext uri="{BB962C8B-B14F-4D97-AF65-F5344CB8AC3E}">
        <p14:creationId xmlns:p14="http://schemas.microsoft.com/office/powerpoint/2010/main" val="3596101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次に、高性能な</a:t>
            </a:r>
            <a:r>
              <a:rPr lang="en-US" altLang="ja-JP" dirty="0"/>
              <a:t>GPU</a:t>
            </a:r>
            <a:r>
              <a:rPr lang="ja-JP" altLang="en-US" dirty="0"/>
              <a:t>所有者のみの平均</a:t>
            </a:r>
            <a:r>
              <a:rPr lang="en-US" altLang="ja-JP" dirty="0"/>
              <a:t>TAT</a:t>
            </a:r>
            <a:r>
              <a:rPr lang="ja-JP" altLang="en-US" dirty="0"/>
              <a:t>を示したグラフに注目します。ここでいう高性能ユーザーとは、性能上位</a:t>
            </a:r>
            <a:r>
              <a:rPr lang="en-US" altLang="ja-JP" dirty="0"/>
              <a:t>3</a:t>
            </a:r>
            <a:r>
              <a:rPr lang="ja-JP" altLang="en-US" dirty="0"/>
              <a:t>種類の</a:t>
            </a:r>
            <a:r>
              <a:rPr lang="en-US" altLang="ja-JP" dirty="0"/>
              <a:t>GPU</a:t>
            </a:r>
            <a:r>
              <a:rPr lang="ja-JP" altLang="en-US" dirty="0"/>
              <a:t>を所有するユーザーと定義しています。</a:t>
            </a:r>
          </a:p>
          <a:p>
            <a:r>
              <a:rPr lang="ja-JP" altLang="en-US" dirty="0"/>
              <a:t>先ほどの全体平均</a:t>
            </a:r>
            <a:r>
              <a:rPr lang="en-US" altLang="ja-JP" dirty="0"/>
              <a:t>TAT</a:t>
            </a:r>
            <a:r>
              <a:rPr lang="ja-JP" altLang="en-US" dirty="0"/>
              <a:t>のグラフとは異なり、このグラフでは明確な傾向が見られます。いずれの負荷率においても、</a:t>
            </a:r>
            <a:r>
              <a:rPr lang="en-US" altLang="ja-JP" dirty="0"/>
              <a:t>FCFS</a:t>
            </a:r>
            <a:r>
              <a:rPr lang="ja-JP" altLang="en-US" dirty="0"/>
              <a:t>方式および所有者優先方式では、「共有なし」の場合よりも平均</a:t>
            </a:r>
            <a:r>
              <a:rPr lang="en-US" altLang="ja-JP" dirty="0"/>
              <a:t>TAT</a:t>
            </a:r>
            <a:r>
              <a:rPr lang="ja-JP" altLang="en-US" dirty="0"/>
              <a:t>が大きくなっています。つまり、高性能</a:t>
            </a:r>
            <a:r>
              <a:rPr lang="en-US" altLang="ja-JP" dirty="0"/>
              <a:t>GPU</a:t>
            </a:r>
            <a:r>
              <a:rPr lang="ja-JP" altLang="en-US" dirty="0"/>
              <a:t>を所有するユーザーにとっては、これらの共有方式に参加することで、かえってタスク完了時間が延びてしまう結果となっています。</a:t>
            </a:r>
          </a:p>
          <a:p>
            <a:r>
              <a:rPr lang="ja-JP" altLang="en-US" dirty="0"/>
              <a:t>一方で、プリエンプティブ方式では、「共有なし」の場合とほぼ同水準の</a:t>
            </a:r>
            <a:r>
              <a:rPr lang="en-US" altLang="ja-JP" dirty="0"/>
              <a:t>TAT</a:t>
            </a:r>
            <a:r>
              <a:rPr lang="ja-JP" altLang="en-US" dirty="0"/>
              <a:t>が維持されています。これは、所有者が必要なときに自分の</a:t>
            </a:r>
            <a:r>
              <a:rPr lang="en-US" altLang="ja-JP" dirty="0"/>
              <a:t>GPU</a:t>
            </a:r>
            <a:r>
              <a:rPr lang="ja-JP" altLang="en-US" dirty="0"/>
              <a:t>を即座に利用できるため、自身の処理性能が実質的に損なわれないことを示しています。</a:t>
            </a:r>
          </a:p>
          <a:p>
            <a:r>
              <a:rPr lang="ja-JP" altLang="en-US" dirty="0"/>
              <a:t>この結果から、高性能ユーザーにとっては、プリエンプティブ方式以外の運用ルールでは参加によって不利益が生じる可能性があり、参加インセンティブが損なわれることが分かります。逆に言えば、所有者の利便性を強く保証するプリエンプティブ方式を採用することで、高性能ユーザーの参加を維持できる可能性が示唆されます。</a:t>
            </a:r>
            <a:endParaRPr lang="en-US" altLang="ja-JP" dirty="0"/>
          </a:p>
          <a:p>
            <a:endParaRPr lang="ja-JP" altLang="en-US" dirty="0"/>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10</a:t>
            </a:fld>
            <a:endParaRPr kumimoji="1" lang="ja-JP" altLang="en-US"/>
          </a:p>
        </p:txBody>
      </p:sp>
    </p:spTree>
    <p:extLst>
      <p:ext uri="{BB962C8B-B14F-4D97-AF65-F5344CB8AC3E}">
        <p14:creationId xmlns:p14="http://schemas.microsoft.com/office/powerpoint/2010/main" val="4015772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次に、これまでは全ユーザーが</a:t>
            </a:r>
            <a:r>
              <a:rPr lang="en-US" altLang="ja-JP" dirty="0"/>
              <a:t>ACP</a:t>
            </a:r>
            <a:r>
              <a:rPr lang="ja-JP" altLang="en-US" dirty="0"/>
              <a:t>に参加するという前提のもとで性能評価を行っていましたが、より現実的な状況を想定し、各ユーザーが自らの判断で</a:t>
            </a:r>
            <a:r>
              <a:rPr lang="en-US" altLang="ja-JP" dirty="0"/>
              <a:t>ACP</a:t>
            </a:r>
            <a:r>
              <a:rPr lang="ja-JP" altLang="en-US" dirty="0"/>
              <a:t>に資源を提供するかどうかを選択できるシミュレーションを実施しました。これにより、各運用ルールの「持続性」を評価しています。</a:t>
            </a:r>
          </a:p>
          <a:p>
            <a:r>
              <a:rPr lang="ja-JP" altLang="en-US" dirty="0"/>
              <a:t>具体的には、</a:t>
            </a:r>
            <a:r>
              <a:rPr lang="en-US" altLang="ja-JP" dirty="0"/>
              <a:t>24</a:t>
            </a:r>
            <a:r>
              <a:rPr lang="ja-JP" altLang="en-US" dirty="0"/>
              <a:t>時間のイベントシミュレーションを</a:t>
            </a:r>
            <a:r>
              <a:rPr lang="en-US" altLang="ja-JP" dirty="0"/>
              <a:t>1</a:t>
            </a:r>
            <a:r>
              <a:rPr lang="ja-JP" altLang="en-US" dirty="0"/>
              <a:t>ループとし、これを複数回繰り返します。各ループの終了時点で、ユーザーはターンアラウンドタイム（</a:t>
            </a:r>
            <a:r>
              <a:rPr lang="en-US" altLang="ja-JP" dirty="0"/>
              <a:t>TAT</a:t>
            </a:r>
            <a:r>
              <a:rPr lang="ja-JP" altLang="en-US" dirty="0"/>
              <a:t>）のみを効用関数とし、次のループに参加するか不参加とするかを判断します。つまり、意思決定の基準は「自分のタスクがどれだけ速く終わるか」のみとしています。</a:t>
            </a:r>
          </a:p>
          <a:p>
            <a:r>
              <a:rPr lang="ja-JP" altLang="en-US" dirty="0"/>
              <a:t>前のループで</a:t>
            </a:r>
            <a:r>
              <a:rPr lang="en-US" altLang="ja-JP" dirty="0"/>
              <a:t>ACP</a:t>
            </a:r>
            <a:r>
              <a:rPr lang="ja-JP" altLang="en-US" dirty="0"/>
              <a:t>に参加していたユーザーは、そのループにおける実測</a:t>
            </a:r>
            <a:r>
              <a:rPr lang="en-US" altLang="ja-JP" dirty="0"/>
              <a:t>TAT</a:t>
            </a:r>
            <a:r>
              <a:rPr lang="ja-JP" altLang="en-US" dirty="0"/>
              <a:t>と、自身の</a:t>
            </a:r>
            <a:r>
              <a:rPr lang="en-US" altLang="ja-JP" dirty="0"/>
              <a:t>GPU</a:t>
            </a:r>
            <a:r>
              <a:rPr lang="ja-JP" altLang="en-US" dirty="0"/>
              <a:t>のみを利用した場合の</a:t>
            </a:r>
            <a:r>
              <a:rPr lang="en-US" altLang="ja-JP" dirty="0"/>
              <a:t>TAT</a:t>
            </a:r>
            <a:r>
              <a:rPr lang="ja-JP" altLang="en-US" dirty="0"/>
              <a:t>を比較し、参加継続の是非を決定します。一方、前のループで不参加であったユーザーは、その時点の参加者構成に自分が加わった場合の</a:t>
            </a:r>
            <a:r>
              <a:rPr lang="en-US" altLang="ja-JP" dirty="0"/>
              <a:t>TAT</a:t>
            </a:r>
            <a:r>
              <a:rPr lang="ja-JP" altLang="en-US" dirty="0"/>
              <a:t>を予測し、単独利用時の</a:t>
            </a:r>
            <a:r>
              <a:rPr lang="en-US" altLang="ja-JP" dirty="0"/>
              <a:t>TAT</a:t>
            </a:r>
            <a:r>
              <a:rPr lang="ja-JP" altLang="en-US" dirty="0"/>
              <a:t>と比較することで参加の可否を判断します。</a:t>
            </a:r>
          </a:p>
          <a:p>
            <a:r>
              <a:rPr lang="ja-JP" altLang="en-US" dirty="0"/>
              <a:t>評価指標としては、各ループにおける参加者数の推移と、ループを</a:t>
            </a:r>
            <a:r>
              <a:rPr lang="en-US" altLang="ja-JP" dirty="0"/>
              <a:t>10</a:t>
            </a:r>
            <a:r>
              <a:rPr lang="ja-JP" altLang="en-US" dirty="0"/>
              <a:t>回繰り返した後の最終参加者数を用いています。</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11</a:t>
            </a:fld>
            <a:endParaRPr kumimoji="1" lang="ja-JP" altLang="en-US"/>
          </a:p>
        </p:txBody>
      </p:sp>
    </p:spTree>
    <p:extLst>
      <p:ext uri="{BB962C8B-B14F-4D97-AF65-F5344CB8AC3E}">
        <p14:creationId xmlns:p14="http://schemas.microsoft.com/office/powerpoint/2010/main" val="1364740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こちらは、負荷率を</a:t>
            </a:r>
            <a:r>
              <a:rPr lang="en-US" altLang="ja-JP" dirty="0"/>
              <a:t>0.7</a:t>
            </a:r>
            <a:r>
              <a:rPr lang="ja-JP" altLang="en-US" dirty="0"/>
              <a:t>に固定してシミュレーションを行った結果です。縦軸は参加者数、横軸はループ番号を示しています。青、オレンジ、赤の線は、それぞれ低性能ユーザー、中性能ユーザー、高性能ユーザーの参加者数を表しています。</a:t>
            </a:r>
          </a:p>
          <a:p>
            <a:r>
              <a:rPr lang="ja-JP" altLang="en-US" dirty="0"/>
              <a:t>まず、上段のグラフである</a:t>
            </a:r>
            <a:r>
              <a:rPr lang="en-US" altLang="ja-JP" dirty="0"/>
              <a:t>FCFS</a:t>
            </a:r>
            <a:r>
              <a:rPr lang="ja-JP" altLang="en-US" dirty="0"/>
              <a:t>方式について説明します。この方式では、高性能ユーザーが早い段階でシステムから離脱していることが分かります。高性能ユーザーが離脱すると、システム全体の処理性能が低下し、それに伴って中性能ユーザーも次第に離脱します。最終的には参加者がほとんど残らず、システムには</a:t>
            </a:r>
            <a:r>
              <a:rPr lang="en-US" altLang="ja-JP" dirty="0"/>
              <a:t>1</a:t>
            </a:r>
            <a:r>
              <a:rPr lang="ja-JP" altLang="en-US" dirty="0"/>
              <a:t>人しか残らない状態に収束しています。これは、</a:t>
            </a:r>
            <a:r>
              <a:rPr lang="en-US" altLang="ja-JP" dirty="0"/>
              <a:t>FCFS</a:t>
            </a:r>
            <a:r>
              <a:rPr lang="ja-JP" altLang="en-US" dirty="0"/>
              <a:t>方式では高性能ユーザーにとって参加メリットがないため、持続的な運用が困難であることを示しています。</a:t>
            </a:r>
          </a:p>
          <a:p>
            <a:r>
              <a:rPr lang="ja-JP" altLang="en-US" dirty="0"/>
              <a:t>次に、左図の所有者優先方式についてです。この方式でも、高性能ユーザーは比較的早期に離脱しています。ただし、</a:t>
            </a:r>
            <a:r>
              <a:rPr lang="en-US" altLang="ja-JP" dirty="0"/>
              <a:t>FCFS</a:t>
            </a:r>
            <a:r>
              <a:rPr lang="ja-JP" altLang="en-US" dirty="0"/>
              <a:t>方式とは異なり、中性能ユーザーの一部はシステムに残存しています。その結果、低性能ユーザーは全員が参加を継続するという状態になっています。つまり、一定の参加者は維持できるものの、高性能層を維持できないため、システム全体としては最適な資源構成とはいえません。</a:t>
            </a:r>
          </a:p>
          <a:p>
            <a:r>
              <a:rPr lang="ja-JP" altLang="en-US" dirty="0"/>
              <a:t>最後に、右図のプリエンプティブ方式についてです。この方式では、高性能ユーザーの</a:t>
            </a:r>
            <a:r>
              <a:rPr lang="en-US" altLang="ja-JP" dirty="0"/>
              <a:t>TAT</a:t>
            </a:r>
            <a:r>
              <a:rPr lang="ja-JP" altLang="en-US" dirty="0"/>
              <a:t>がシステム参加によって悪化しないため、離脱が発生していません。その結果、高性能</a:t>
            </a:r>
            <a:r>
              <a:rPr lang="en-US" altLang="ja-JP" dirty="0"/>
              <a:t>GPU</a:t>
            </a:r>
            <a:r>
              <a:rPr lang="ja-JP" altLang="en-US" dirty="0"/>
              <a:t>が常に共有基盤上に存在し続けます。これにより、他のユーザーも高性能</a:t>
            </a:r>
            <a:r>
              <a:rPr lang="en-US" altLang="ja-JP" dirty="0"/>
              <a:t>GPU</a:t>
            </a:r>
            <a:r>
              <a:rPr lang="ja-JP" altLang="en-US" dirty="0"/>
              <a:t>を利用できるため、全体として参加メリットが生まれます。最終的には、全ユーザーが参加する状態へと収束しています。</a:t>
            </a:r>
          </a:p>
          <a:p>
            <a:r>
              <a:rPr lang="ja-JP" altLang="en-US" dirty="0"/>
              <a:t>この結果から、持続的な共有基盤を実現するためには、高性能資源の提供者が不利益を被らない設計が不可欠であり、その点でプリエンプティブ方式が有効であることが示されました。</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12</a:t>
            </a:fld>
            <a:endParaRPr kumimoji="1" lang="ja-JP" altLang="en-US"/>
          </a:p>
        </p:txBody>
      </p:sp>
    </p:spTree>
    <p:extLst>
      <p:ext uri="{BB962C8B-B14F-4D97-AF65-F5344CB8AC3E}">
        <p14:creationId xmlns:p14="http://schemas.microsoft.com/office/powerpoint/2010/main" val="1245097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先ほどの結果は、負荷率</a:t>
            </a:r>
            <a:r>
              <a:rPr lang="en-US" altLang="ja-JP" dirty="0"/>
              <a:t>0.7</a:t>
            </a:r>
            <a:r>
              <a:rPr lang="ja-JP" altLang="en-US" dirty="0"/>
              <a:t>における参加者数の推移を示したものでした。ここでは、負荷率の変化に伴って最終的な参加者数がどのように変化するかを検証しています。</a:t>
            </a:r>
          </a:p>
          <a:p>
            <a:r>
              <a:rPr lang="ja-JP" altLang="en-US" dirty="0"/>
              <a:t>具体的には、タスクサイズを調整することで負荷率をパラメータとして変化させ、各シナリオにおける最終参加者数を縦軸にプロットしています。</a:t>
            </a:r>
          </a:p>
          <a:p>
            <a:r>
              <a:rPr lang="ja-JP" altLang="en-US" dirty="0"/>
              <a:t>グラフから分かるように、プリエンプティブ方式は、いずれの負荷率においても高い参加者数を維持しています。負荷が増加しても参加者が大きく減少することはなく、安定した運用が可能であることが示されています。</a:t>
            </a:r>
          </a:p>
          <a:p>
            <a:r>
              <a:rPr lang="ja-JP" altLang="en-US" dirty="0"/>
              <a:t>一方、</a:t>
            </a:r>
            <a:r>
              <a:rPr lang="en-US" altLang="ja-JP" dirty="0"/>
              <a:t>FCFS</a:t>
            </a:r>
            <a:r>
              <a:rPr lang="ja-JP" altLang="en-US" dirty="0"/>
              <a:t>方式では、負荷率に関わらず参加者がほとんど存在しない結果となっています。これは、高性能ユーザーにとって参加メリットがなく、早期に離脱が発生するため、持続的なシステム構成が成立しないことを示しています。</a:t>
            </a:r>
          </a:p>
          <a:p>
            <a:r>
              <a:rPr lang="ja-JP" altLang="en-US" dirty="0"/>
              <a:t>また、所有者優先方式では、負荷率が高くなるにつれて参加者数が増加する傾向が見られます。これは、中性能ユーザーが、自身の</a:t>
            </a:r>
            <a:r>
              <a:rPr lang="en-US" altLang="ja-JP" dirty="0"/>
              <a:t>GPU</a:t>
            </a:r>
            <a:r>
              <a:rPr lang="ja-JP" altLang="en-US" dirty="0"/>
              <a:t>だけではタスクを処理しきれなくなる状況になると、他のユーザーとの共有によって遊休時間を活用することで</a:t>
            </a:r>
            <a:r>
              <a:rPr lang="en-US" altLang="ja-JP" dirty="0"/>
              <a:t>TAT</a:t>
            </a:r>
            <a:r>
              <a:rPr lang="ja-JP" altLang="en-US" dirty="0"/>
              <a:t>を短縮できるため、参加インセンティブが高まることが要因と考えられます。</a:t>
            </a:r>
          </a:p>
          <a:p>
            <a:r>
              <a:rPr lang="ja-JP" altLang="en-US" dirty="0"/>
              <a:t>以上の結果から、プリエンプティブ方式は負荷条件に依存せず安定的に参加者を維持できる一方で、他の方式では負荷状況に応じて参加構造が大きく変化することが明らかになりました。</a:t>
            </a:r>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13</a:t>
            </a:fld>
            <a:endParaRPr kumimoji="1" lang="ja-JP" altLang="en-US"/>
          </a:p>
        </p:txBody>
      </p:sp>
    </p:spTree>
    <p:extLst>
      <p:ext uri="{BB962C8B-B14F-4D97-AF65-F5344CB8AC3E}">
        <p14:creationId xmlns:p14="http://schemas.microsoft.com/office/powerpoint/2010/main" val="2623765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本研究では、学内</a:t>
            </a:r>
            <a:r>
              <a:rPr lang="en-US" altLang="ja-JP" dirty="0"/>
              <a:t>GPU</a:t>
            </a:r>
            <a:r>
              <a:rPr lang="ja-JP" altLang="en-US" dirty="0"/>
              <a:t>共有基盤である</a:t>
            </a:r>
            <a:r>
              <a:rPr lang="en-US" altLang="ja-JP" dirty="0"/>
              <a:t>ACP</a:t>
            </a:r>
            <a:r>
              <a:rPr lang="ja-JP" altLang="en-US" dirty="0"/>
              <a:t>を対象として、所有者優先権を保証するプリエンプティブ方式を提案し、その性能とユーザ参加行動をシミュレーションによって評価しました。</a:t>
            </a:r>
          </a:p>
          <a:p>
            <a:r>
              <a:rPr lang="ja-JP" altLang="en-US" dirty="0"/>
              <a:t>評価の結果、</a:t>
            </a:r>
            <a:r>
              <a:rPr lang="en-US" altLang="ja-JP" dirty="0"/>
              <a:t>ACP</a:t>
            </a:r>
            <a:r>
              <a:rPr lang="ja-JP" altLang="en-US" dirty="0"/>
              <a:t>を導入することで、各研究室が個別に</a:t>
            </a:r>
            <a:r>
              <a:rPr lang="en-US" altLang="ja-JP" dirty="0"/>
              <a:t>GPU</a:t>
            </a:r>
            <a:r>
              <a:rPr lang="ja-JP" altLang="en-US" dirty="0"/>
              <a:t>を利用する場合と比較して、システム全体のターンアラウンドタイム（</a:t>
            </a:r>
            <a:r>
              <a:rPr lang="en-US" altLang="ja-JP" dirty="0"/>
              <a:t>TAT</a:t>
            </a:r>
            <a:r>
              <a:rPr lang="ja-JP" altLang="en-US" dirty="0"/>
              <a:t>）が大幅に短縮されることを確認しました。これは、学内に分散して存在する</a:t>
            </a:r>
            <a:r>
              <a:rPr lang="en-US" altLang="ja-JP" dirty="0"/>
              <a:t>GPU</a:t>
            </a:r>
            <a:r>
              <a:rPr lang="ja-JP" altLang="en-US" dirty="0"/>
              <a:t>の遊休時間を有効活用できるため、システム全体としての処理効率が向上することを示しています。</a:t>
            </a:r>
          </a:p>
          <a:p>
            <a:r>
              <a:rPr lang="ja-JP" altLang="en-US" dirty="0"/>
              <a:t>また、高性能</a:t>
            </a:r>
            <a:r>
              <a:rPr lang="en-US" altLang="ja-JP" dirty="0"/>
              <a:t>GPU</a:t>
            </a:r>
            <a:r>
              <a:rPr lang="ja-JP" altLang="en-US" dirty="0"/>
              <a:t>を所有するユーザーに着目すると、プリエンプティブ方式を採用することで、自身の</a:t>
            </a:r>
            <a:r>
              <a:rPr lang="en-US" altLang="ja-JP" dirty="0"/>
              <a:t>GPU</a:t>
            </a:r>
            <a:r>
              <a:rPr lang="ja-JP" altLang="en-US" dirty="0"/>
              <a:t>の優先利用権を維持しながら他の</a:t>
            </a:r>
            <a:r>
              <a:rPr lang="en-US" altLang="ja-JP" dirty="0"/>
              <a:t>GPU</a:t>
            </a:r>
            <a:r>
              <a:rPr lang="ja-JP" altLang="en-US" dirty="0"/>
              <a:t>も利用できるため、</a:t>
            </a:r>
            <a:r>
              <a:rPr lang="en-US" altLang="ja-JP" dirty="0"/>
              <a:t>TAT</a:t>
            </a:r>
            <a:r>
              <a:rPr lang="ja-JP" altLang="en-US" dirty="0"/>
              <a:t>を悪化させることなく共有基盤に参加できることが分かりました。</a:t>
            </a:r>
          </a:p>
          <a:p>
            <a:r>
              <a:rPr lang="ja-JP" altLang="en-US" dirty="0"/>
              <a:t>この結果から、</a:t>
            </a:r>
            <a:r>
              <a:rPr lang="en-US" altLang="ja-JP" dirty="0"/>
              <a:t>GPU</a:t>
            </a:r>
            <a:r>
              <a:rPr lang="ja-JP" altLang="en-US" dirty="0"/>
              <a:t>共有基盤では単に処理効率を向上させるだけでなく、資源提供者の利便性を制度として保証することが、システムを持続的に運用する上で重要であることが示されました。また、本提案は金銭的報酬に依存せず、運用ルールの設計という技術的アプローチによって、ユーザーの参加インセンティブを確保できる可能性を示しています。</a:t>
            </a:r>
            <a:endParaRPr lang="en-US" altLang="ja-JP" dirty="0"/>
          </a:p>
          <a:p>
            <a:endParaRPr lang="en-US" altLang="ja-JP" dirty="0"/>
          </a:p>
          <a:p>
            <a:r>
              <a:rPr lang="ja-JP" altLang="en-US" dirty="0"/>
              <a:t>今後の展望としては、より実際の研究室環境に近い条件を再現するために、シミュレーションモデルの精緻化を進めていく予定です。</a:t>
            </a:r>
            <a:br>
              <a:rPr lang="ja-JP" altLang="en-US" dirty="0"/>
            </a:br>
            <a:r>
              <a:rPr lang="ja-JP" altLang="en-US" dirty="0"/>
              <a:t>本研究では各ユーザーが</a:t>
            </a:r>
            <a:r>
              <a:rPr lang="en-US" altLang="ja-JP" dirty="0"/>
              <a:t>1</a:t>
            </a:r>
            <a:r>
              <a:rPr lang="ja-JP" altLang="en-US" dirty="0"/>
              <a:t>台の</a:t>
            </a:r>
            <a:r>
              <a:rPr lang="en-US" altLang="ja-JP" dirty="0"/>
              <a:t>GPU</a:t>
            </a:r>
            <a:r>
              <a:rPr lang="ja-JP" altLang="en-US" dirty="0"/>
              <a:t>を所有する単純化したモデルを用いて評価を行いましたが、実際の研究室では複数台の</a:t>
            </a:r>
            <a:r>
              <a:rPr lang="en-US" altLang="ja-JP" dirty="0"/>
              <a:t>GPU</a:t>
            </a:r>
            <a:r>
              <a:rPr lang="ja-JP" altLang="en-US" dirty="0"/>
              <a:t>を保有している場合や、タスクの種類やサイズも多様であることが一般的です。そこで、複数</a:t>
            </a:r>
            <a:r>
              <a:rPr lang="en-US" altLang="ja-JP" dirty="0"/>
              <a:t>GPU</a:t>
            </a:r>
            <a:r>
              <a:rPr lang="ja-JP" altLang="en-US" dirty="0"/>
              <a:t>を所有する研究室のモデル化や、タスクサイズや処理時間のばらつきを考慮したより現実的なタスクモデルを導入することで、より実環境に近い条件での評価を行っていきます。</a:t>
            </a:r>
          </a:p>
          <a:p>
            <a:r>
              <a:rPr lang="ja-JP" altLang="en-US" dirty="0"/>
              <a:t>また、</a:t>
            </a:r>
            <a:r>
              <a:rPr lang="en-US" altLang="ja-JP" dirty="0"/>
              <a:t>GPU</a:t>
            </a:r>
            <a:r>
              <a:rPr lang="ja-JP" altLang="en-US" dirty="0"/>
              <a:t>共有に伴う新たな課題として、特定の</a:t>
            </a:r>
            <a:r>
              <a:rPr lang="en-US" altLang="ja-JP" dirty="0"/>
              <a:t>GPU</a:t>
            </a:r>
            <a:r>
              <a:rPr lang="ja-JP" altLang="en-US" dirty="0"/>
              <a:t>にタスクが集中することによる電力消費の増加や、資源を提供せずに他者の資源のみを利用するフリーライダー問題なども考慮する必要があります。これらの問題に対しては、資源提供量や利用量に応じてユーザー間で公平性を保つ仕組みが重要になります。</a:t>
            </a:r>
          </a:p>
          <a:p>
            <a:r>
              <a:rPr lang="ja-JP" altLang="en-US" dirty="0"/>
              <a:t>そのため今後は、技術的な運用ルールだけでなく、ポイント制などの経済的インセンティブを組み合わせることも視野に入れ、より公平で持続可能な</a:t>
            </a:r>
            <a:r>
              <a:rPr lang="en-US" altLang="ja-JP" dirty="0"/>
              <a:t>GPU</a:t>
            </a:r>
            <a:r>
              <a:rPr lang="ja-JP" altLang="en-US" dirty="0"/>
              <a:t>共有システムの設計について検討していく予定です。</a:t>
            </a:r>
          </a:p>
          <a:p>
            <a:endParaRPr lang="ja-JP" altLang="en-US" dirty="0"/>
          </a:p>
        </p:txBody>
      </p:sp>
      <p:sp>
        <p:nvSpPr>
          <p:cNvPr id="4" name="スライド番号プレースホルダー 3"/>
          <p:cNvSpPr>
            <a:spLocks noGrp="1"/>
          </p:cNvSpPr>
          <p:nvPr>
            <p:ph type="sldNum" sz="quarter" idx="5"/>
          </p:nvPr>
        </p:nvSpPr>
        <p:spPr/>
        <p:txBody>
          <a:bodyPr/>
          <a:lstStyle/>
          <a:p>
            <a:fld id="{074C1465-738F-4BB6-B6E4-EBA8CE2D4CD8}" type="slidenum">
              <a:rPr kumimoji="1" lang="ja-JP" altLang="en-US" smtClean="0"/>
              <a:t>14</a:t>
            </a:fld>
            <a:endParaRPr kumimoji="1" lang="ja-JP" altLang="en-US"/>
          </a:p>
        </p:txBody>
      </p:sp>
    </p:spTree>
    <p:extLst>
      <p:ext uri="{BB962C8B-B14F-4D97-AF65-F5344CB8AC3E}">
        <p14:creationId xmlns:p14="http://schemas.microsoft.com/office/powerpoint/2010/main" val="42058381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FB0924-4C56-098C-13CF-DDA972DCC438}"/>
              </a:ext>
            </a:extLst>
          </p:cNvPr>
          <p:cNvSpPr>
            <a:spLocks noGrp="1"/>
          </p:cNvSpPr>
          <p:nvPr>
            <p:ph type="ctrTitle" hasCustomPrompt="1"/>
          </p:nvPr>
        </p:nvSpPr>
        <p:spPr>
          <a:xfrm>
            <a:off x="1524000" y="1854199"/>
            <a:ext cx="9144000" cy="1655763"/>
          </a:xfrm>
        </p:spPr>
        <p:txBody>
          <a:bodyPr anchor="t" anchorCtr="0"/>
          <a:lstStyle>
            <a:lvl1pPr algn="l">
              <a:defRPr sz="6000">
                <a:solidFill>
                  <a:schemeClr val="bg1"/>
                </a:solidFill>
              </a:defRPr>
            </a:lvl1pPr>
          </a:lstStyle>
          <a:p>
            <a:r>
              <a:rPr kumimoji="1" lang="ja-JP" altLang="en-US"/>
              <a:t>発表題目</a:t>
            </a:r>
          </a:p>
        </p:txBody>
      </p:sp>
      <p:sp>
        <p:nvSpPr>
          <p:cNvPr id="3" name="字幕 2">
            <a:extLst>
              <a:ext uri="{FF2B5EF4-FFF2-40B4-BE49-F238E27FC236}">
                <a16:creationId xmlns:a16="http://schemas.microsoft.com/office/drawing/2014/main" id="{854480EE-6EF3-7E65-7A05-0EE0C2137600}"/>
              </a:ext>
            </a:extLst>
          </p:cNvPr>
          <p:cNvSpPr>
            <a:spLocks noGrp="1"/>
          </p:cNvSpPr>
          <p:nvPr>
            <p:ph type="subTitle" idx="1" hasCustomPrompt="1"/>
          </p:nvPr>
        </p:nvSpPr>
        <p:spPr>
          <a:xfrm>
            <a:off x="1524000" y="3791365"/>
            <a:ext cx="9144000" cy="517475"/>
          </a:xfrm>
        </p:spPr>
        <p:txBody>
          <a:bodyPr>
            <a:normAutofit/>
          </a:bodyPr>
          <a:lstStyle>
            <a:lvl1pPr marL="0" indent="0" algn="l">
              <a:buNone/>
              <a:defRPr sz="2800" b="1" u="sng">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発表者名　大阪大学 情報科学研究科</a:t>
            </a:r>
            <a:endParaRPr kumimoji="1" lang="en-US" altLang="ja-JP"/>
          </a:p>
          <a:p>
            <a:endParaRPr kumimoji="1" lang="en-US" altLang="ja-JP"/>
          </a:p>
        </p:txBody>
      </p:sp>
      <p:sp>
        <p:nvSpPr>
          <p:cNvPr id="4" name="日付プレースホルダー 3">
            <a:extLst>
              <a:ext uri="{FF2B5EF4-FFF2-40B4-BE49-F238E27FC236}">
                <a16:creationId xmlns:a16="http://schemas.microsoft.com/office/drawing/2014/main" id="{4F244CD9-25EC-60E4-4EC0-903F80D1408E}"/>
              </a:ext>
            </a:extLst>
          </p:cNvPr>
          <p:cNvSpPr>
            <a:spLocks noGrp="1"/>
          </p:cNvSpPr>
          <p:nvPr>
            <p:ph type="dt" sz="half" idx="10"/>
          </p:nvPr>
        </p:nvSpPr>
        <p:spPr>
          <a:xfrm>
            <a:off x="9296400" y="184903"/>
            <a:ext cx="2743200" cy="744718"/>
          </a:xfrm>
        </p:spPr>
        <p:txBody>
          <a:bodyPr/>
          <a:lstStyle>
            <a:lvl1pPr>
              <a:defRPr sz="1800">
                <a:solidFill>
                  <a:schemeClr val="bg1"/>
                </a:solidFill>
                <a:latin typeface="+mj-lt"/>
              </a:defRPr>
            </a:lvl1pPr>
          </a:lstStyle>
          <a:p>
            <a:r>
              <a:rPr lang="ja-JP" altLang="en-US"/>
              <a:t>会議名</a:t>
            </a:r>
            <a:endParaRPr lang="en-US" altLang="ja-JP"/>
          </a:p>
          <a:p>
            <a:fld id="{BA3EB691-FF5E-41A6-9C8B-4C4CF21B2DEE}" type="datetime1">
              <a:rPr lang="ja-JP" altLang="en-US" smtClean="0"/>
              <a:t>2026/3/3</a:t>
            </a:fld>
            <a:endParaRPr lang="ja-JP" altLang="en-US"/>
          </a:p>
        </p:txBody>
      </p:sp>
      <p:pic>
        <p:nvPicPr>
          <p:cNvPr id="9" name="図 8" descr="ロゴ, 会社名&#10;&#10;AI 生成コンテンツは誤りを含む可能性があります。">
            <a:extLst>
              <a:ext uri="{FF2B5EF4-FFF2-40B4-BE49-F238E27FC236}">
                <a16:creationId xmlns:a16="http://schemas.microsoft.com/office/drawing/2014/main" id="{D9256B1B-38F1-2BFB-7B53-8D49CF2779B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05101" y="5712643"/>
            <a:ext cx="3434499" cy="852278"/>
          </a:xfrm>
          <a:prstGeom prst="rect">
            <a:avLst/>
          </a:prstGeom>
        </p:spPr>
      </p:pic>
      <p:sp>
        <p:nvSpPr>
          <p:cNvPr id="6" name="テキスト プレースホルダー 5">
            <a:extLst>
              <a:ext uri="{FF2B5EF4-FFF2-40B4-BE49-F238E27FC236}">
                <a16:creationId xmlns:a16="http://schemas.microsoft.com/office/drawing/2014/main" id="{79C68F70-1603-10AC-D098-F23D2F6D0129}"/>
              </a:ext>
            </a:extLst>
          </p:cNvPr>
          <p:cNvSpPr>
            <a:spLocks noGrp="1"/>
          </p:cNvSpPr>
          <p:nvPr>
            <p:ph type="body" sz="quarter" idx="11" hasCustomPrompt="1"/>
          </p:nvPr>
        </p:nvSpPr>
        <p:spPr>
          <a:xfrm>
            <a:off x="1524000" y="4848590"/>
            <a:ext cx="7258050" cy="1095009"/>
          </a:xfrm>
        </p:spPr>
        <p:txBody>
          <a:bodyPr/>
          <a:lstStyle>
            <a:lvl1pPr marL="0" indent="0">
              <a:buNone/>
              <a:defRPr sz="1800">
                <a:solidFill>
                  <a:schemeClr val="bg1"/>
                </a:solidFill>
              </a:defRPr>
            </a:lvl1pPr>
          </a:lstStyle>
          <a:p>
            <a:pPr lvl="0"/>
            <a:r>
              <a:rPr kumimoji="1" lang="ja-JP" altLang="en-US"/>
              <a:t>共著者名　所属</a:t>
            </a:r>
            <a:endParaRPr kumimoji="1" lang="en-US" altLang="ja-JP"/>
          </a:p>
          <a:p>
            <a:pPr lvl="0"/>
            <a:r>
              <a:rPr kumimoji="1" lang="ja-JP" altLang="en-US"/>
              <a:t>共著者名　所属</a:t>
            </a:r>
            <a:endParaRPr kumimoji="1" lang="en-US" altLang="ja-JP"/>
          </a:p>
          <a:p>
            <a:pPr lvl="0"/>
            <a:r>
              <a:rPr kumimoji="1" lang="ja-JP" altLang="en-US"/>
              <a:t>共著者名　所属</a:t>
            </a:r>
          </a:p>
        </p:txBody>
      </p:sp>
      <p:sp>
        <p:nvSpPr>
          <p:cNvPr id="5" name="テキスト ボックス 4">
            <a:extLst>
              <a:ext uri="{FF2B5EF4-FFF2-40B4-BE49-F238E27FC236}">
                <a16:creationId xmlns:a16="http://schemas.microsoft.com/office/drawing/2014/main" id="{2F2C4110-5C2F-A0CF-CEEF-A040395BCB53}"/>
              </a:ext>
            </a:extLst>
          </p:cNvPr>
          <p:cNvSpPr txBox="1"/>
          <p:nvPr userDrawn="1"/>
        </p:nvSpPr>
        <p:spPr>
          <a:xfrm>
            <a:off x="9614913" y="6137114"/>
            <a:ext cx="1334604" cy="276999"/>
          </a:xfrm>
          <a:prstGeom prst="rect">
            <a:avLst/>
          </a:prstGeom>
          <a:solidFill>
            <a:schemeClr val="bg1"/>
          </a:solidFill>
        </p:spPr>
        <p:txBody>
          <a:bodyPr wrap="square" rtlCol="0">
            <a:spAutoFit/>
          </a:bodyPr>
          <a:lstStyle/>
          <a:p>
            <a:r>
              <a:rPr kumimoji="1" lang="en-US" altLang="ja-JP" sz="1200">
                <a:solidFill>
                  <a:srgbClr val="979085"/>
                </a:solidFill>
                <a:latin typeface="Edwardian Script ITC" panose="030303020407070D0804" pitchFamily="66" charset="0"/>
              </a:rPr>
              <a:t>The University of Osaka</a:t>
            </a:r>
            <a:endParaRPr kumimoji="1" lang="ja-JP" altLang="en-US" sz="1200">
              <a:solidFill>
                <a:srgbClr val="979085"/>
              </a:solidFill>
              <a:latin typeface="Edwardian Script ITC" panose="030303020407070D0804" pitchFamily="66" charset="0"/>
            </a:endParaRPr>
          </a:p>
        </p:txBody>
      </p:sp>
    </p:spTree>
    <p:extLst>
      <p:ext uri="{BB962C8B-B14F-4D97-AF65-F5344CB8AC3E}">
        <p14:creationId xmlns:p14="http://schemas.microsoft.com/office/powerpoint/2010/main" val="2775203085"/>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_標準">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FF7D598-3437-0B1C-AC16-BAD871C30B3E}"/>
              </a:ext>
            </a:extLst>
          </p:cNvPr>
          <p:cNvSpPr>
            <a:spLocks noGrp="1"/>
          </p:cNvSpPr>
          <p:nvPr>
            <p:ph idx="1"/>
          </p:nvPr>
        </p:nvSpPr>
        <p:spPr>
          <a:xfrm>
            <a:off x="838200" y="1253331"/>
            <a:ext cx="10515600" cy="5327012"/>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Tree>
    <p:extLst>
      <p:ext uri="{BB962C8B-B14F-4D97-AF65-F5344CB8AC3E}">
        <p14:creationId xmlns:p14="http://schemas.microsoft.com/office/powerpoint/2010/main" val="3537658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_リード文あり">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FF7D598-3437-0B1C-AC16-BAD871C30B3E}"/>
              </a:ext>
            </a:extLst>
          </p:cNvPr>
          <p:cNvSpPr>
            <a:spLocks noGrp="1"/>
          </p:cNvSpPr>
          <p:nvPr>
            <p:ph idx="1" hasCustomPrompt="1"/>
          </p:nvPr>
        </p:nvSpPr>
        <p:spPr>
          <a:xfrm>
            <a:off x="838200" y="2139885"/>
            <a:ext cx="10515600" cy="4440458"/>
          </a:xfrm>
        </p:spPr>
        <p:txBody>
          <a:bodyPr/>
          <a:lstStyle/>
          <a:p>
            <a:pPr lvl="0"/>
            <a:r>
              <a:rPr kumimoji="1" lang="ja-JP" altLang="en-US"/>
              <a:t>メッセージについての補足説明</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8" name="タイトル 1">
            <a:extLst>
              <a:ext uri="{FF2B5EF4-FFF2-40B4-BE49-F238E27FC236}">
                <a16:creationId xmlns:a16="http://schemas.microsoft.com/office/drawing/2014/main" id="{5708537F-1CE0-897D-A56D-51BA5E3A6155}"/>
              </a:ext>
            </a:extLst>
          </p:cNvPr>
          <p:cNvSpPr txBox="1">
            <a:spLocks/>
          </p:cNvSpPr>
          <p:nvPr userDrawn="1"/>
        </p:nvSpPr>
        <p:spPr>
          <a:xfrm>
            <a:off x="838200" y="1330335"/>
            <a:ext cx="10515600" cy="45704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600" kern="1200">
                <a:solidFill>
                  <a:schemeClr val="bg1"/>
                </a:solidFill>
                <a:latin typeface="+mj-lt"/>
                <a:ea typeface="+mj-ea"/>
                <a:cs typeface="+mj-cs"/>
              </a:defRPr>
            </a:lvl1pPr>
          </a:lstStyle>
          <a:p>
            <a:r>
              <a:rPr lang="ja-JP" altLang="en-US">
                <a:solidFill>
                  <a:schemeClr val="tx1"/>
                </a:solidFill>
              </a:rPr>
              <a:t>話題について伝えるべきメッセージ</a:t>
            </a:r>
          </a:p>
        </p:txBody>
      </p:sp>
    </p:spTree>
    <p:extLst>
      <p:ext uri="{BB962C8B-B14F-4D97-AF65-F5344CB8AC3E}">
        <p14:creationId xmlns:p14="http://schemas.microsoft.com/office/powerpoint/2010/main" val="1637888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図形レイアウト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grpSp>
        <p:nvGrpSpPr>
          <p:cNvPr id="25" name="グループ化 24">
            <a:extLst>
              <a:ext uri="{FF2B5EF4-FFF2-40B4-BE49-F238E27FC236}">
                <a16:creationId xmlns:a16="http://schemas.microsoft.com/office/drawing/2014/main" id="{A3C33A2C-CCB1-1197-CB85-2CEEC50066B3}"/>
              </a:ext>
            </a:extLst>
          </p:cNvPr>
          <p:cNvGrpSpPr/>
          <p:nvPr userDrawn="1"/>
        </p:nvGrpSpPr>
        <p:grpSpPr>
          <a:xfrm>
            <a:off x="616017" y="1348268"/>
            <a:ext cx="6533120" cy="4938925"/>
            <a:chOff x="0" y="1396394"/>
            <a:chExt cx="6533120" cy="4938925"/>
          </a:xfrm>
        </p:grpSpPr>
        <p:sp>
          <p:nvSpPr>
            <p:cNvPr id="26" name="楕円 25">
              <a:extLst>
                <a:ext uri="{FF2B5EF4-FFF2-40B4-BE49-F238E27FC236}">
                  <a16:creationId xmlns:a16="http://schemas.microsoft.com/office/drawing/2014/main" id="{98913F8C-77C7-957C-594F-5C8DE84333F9}"/>
                </a:ext>
              </a:extLst>
            </p:cNvPr>
            <p:cNvSpPr/>
            <p:nvPr/>
          </p:nvSpPr>
          <p:spPr>
            <a:xfrm>
              <a:off x="2173905" y="13963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040D31E5-C3CC-B29E-B012-9F95248D2893}"/>
                </a:ext>
              </a:extLst>
            </p:cNvPr>
            <p:cNvSpPr txBox="1"/>
            <p:nvPr/>
          </p:nvSpPr>
          <p:spPr>
            <a:xfrm>
              <a:off x="2139601" y="1944955"/>
              <a:ext cx="2396691" cy="954107"/>
            </a:xfrm>
            <a:prstGeom prst="rect">
              <a:avLst/>
            </a:prstGeom>
            <a:noFill/>
          </p:spPr>
          <p:txBody>
            <a:bodyPr wrap="square" rtlCol="0">
              <a:spAutoFit/>
            </a:bodyPr>
            <a:lstStyle/>
            <a:p>
              <a:pPr algn="ctr"/>
              <a:r>
                <a:rPr lang="ja-JP" altLang="en-US" sz="2800" b="1">
                  <a:solidFill>
                    <a:schemeClr val="bg1"/>
                  </a:solidFill>
                  <a:latin typeface="游ゴシック" panose="020B0400000000000000" pitchFamily="50" charset="-128"/>
                  <a:ea typeface="游ゴシック" panose="020B0400000000000000" pitchFamily="50" charset="-128"/>
                </a:rPr>
                <a:t>①</a:t>
              </a:r>
              <a:endParaRPr lang="en-US" altLang="ja-JP" sz="2800" b="1">
                <a:solidFill>
                  <a:schemeClr val="bg1"/>
                </a:solidFill>
                <a:latin typeface="游ゴシック" panose="020B0400000000000000" pitchFamily="50" charset="-128"/>
                <a:ea typeface="游ゴシック" panose="020B0400000000000000" pitchFamily="50" charset="-128"/>
              </a:endParaRPr>
            </a:p>
            <a:p>
              <a:pPr algn="ctr"/>
              <a:r>
                <a:rPr lang="ja-JP" altLang="en-US" sz="2800" b="1">
                  <a:solidFill>
                    <a:schemeClr val="bg1"/>
                  </a:solidFill>
                  <a:latin typeface="游ゴシック" panose="020B0400000000000000" pitchFamily="50" charset="-128"/>
                  <a:ea typeface="游ゴシック" panose="020B0400000000000000" pitchFamily="50" charset="-128"/>
                </a:rPr>
                <a:t>ひとつめ</a:t>
              </a:r>
              <a:endParaRPr kumimoji="1" lang="ja-JP" altLang="en-US" sz="2800" b="1">
                <a:solidFill>
                  <a:schemeClr val="bg1"/>
                </a:solidFill>
                <a:latin typeface="游ゴシック" panose="020B0400000000000000" pitchFamily="50" charset="-128"/>
                <a:ea typeface="游ゴシック" panose="020B0400000000000000" pitchFamily="50" charset="-128"/>
              </a:endParaRPr>
            </a:p>
          </p:txBody>
        </p:sp>
        <p:sp>
          <p:nvSpPr>
            <p:cNvPr id="28" name="楕円 27">
              <a:extLst>
                <a:ext uri="{FF2B5EF4-FFF2-40B4-BE49-F238E27FC236}">
                  <a16:creationId xmlns:a16="http://schemas.microsoft.com/office/drawing/2014/main" id="{59A8DAAC-3C4A-1010-61A7-EA6D2DC40F78}"/>
                </a:ext>
              </a:extLst>
            </p:cNvPr>
            <p:cNvSpPr/>
            <p:nvPr/>
          </p:nvSpPr>
          <p:spPr>
            <a:xfrm>
              <a:off x="815779" y="36664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C332B804-F377-AD40-1C73-DA0B1C4839F0}"/>
                </a:ext>
              </a:extLst>
            </p:cNvPr>
            <p:cNvSpPr txBox="1"/>
            <p:nvPr/>
          </p:nvSpPr>
          <p:spPr>
            <a:xfrm>
              <a:off x="733433" y="4231597"/>
              <a:ext cx="2396691" cy="954107"/>
            </a:xfrm>
            <a:prstGeom prst="rect">
              <a:avLst/>
            </a:prstGeom>
            <a:noFill/>
          </p:spPr>
          <p:txBody>
            <a:bodyPr wrap="square" rtlCol="0">
              <a:spAutoFit/>
            </a:bodyPr>
            <a:lstStyle/>
            <a:p>
              <a:pPr algn="ctr"/>
              <a:r>
                <a:rPr lang="ja-JP" altLang="en-US" sz="2800" b="1">
                  <a:solidFill>
                    <a:schemeClr val="bg1"/>
                  </a:solidFill>
                  <a:latin typeface="游ゴシック" panose="020B0400000000000000" pitchFamily="50" charset="-128"/>
                  <a:ea typeface="游ゴシック" panose="020B0400000000000000" pitchFamily="50" charset="-128"/>
                </a:rPr>
                <a:t>③</a:t>
              </a:r>
              <a:endParaRPr lang="en-US" altLang="ja-JP" sz="2800" b="1">
                <a:solidFill>
                  <a:schemeClr val="bg1"/>
                </a:solidFill>
                <a:latin typeface="游ゴシック" panose="020B0400000000000000" pitchFamily="50" charset="-128"/>
                <a:ea typeface="游ゴシック" panose="020B0400000000000000" pitchFamily="50" charset="-128"/>
              </a:endParaRPr>
            </a:p>
            <a:p>
              <a:pPr algn="ctr"/>
              <a:r>
                <a:rPr lang="ja-JP" altLang="en-US" sz="2800" b="1">
                  <a:solidFill>
                    <a:schemeClr val="bg1"/>
                  </a:solidFill>
                  <a:latin typeface="游ゴシック" panose="020B0400000000000000" pitchFamily="50" charset="-128"/>
                  <a:ea typeface="游ゴシック" panose="020B0400000000000000" pitchFamily="50" charset="-128"/>
                </a:rPr>
                <a:t>みっつめ</a:t>
              </a:r>
              <a:endParaRPr kumimoji="1" lang="ja-JP" altLang="en-US" sz="2800" b="1">
                <a:solidFill>
                  <a:schemeClr val="bg1"/>
                </a:solidFill>
                <a:latin typeface="游ゴシック" panose="020B0400000000000000" pitchFamily="50" charset="-128"/>
                <a:ea typeface="游ゴシック" panose="020B0400000000000000" pitchFamily="50" charset="-128"/>
              </a:endParaRPr>
            </a:p>
          </p:txBody>
        </p:sp>
        <p:sp>
          <p:nvSpPr>
            <p:cNvPr id="30" name="楕円 29">
              <a:extLst>
                <a:ext uri="{FF2B5EF4-FFF2-40B4-BE49-F238E27FC236}">
                  <a16:creationId xmlns:a16="http://schemas.microsoft.com/office/drawing/2014/main" id="{F7EA8DF9-A730-7977-1031-F7C04BCD564A}"/>
                </a:ext>
              </a:extLst>
            </p:cNvPr>
            <p:cNvSpPr/>
            <p:nvPr/>
          </p:nvSpPr>
          <p:spPr>
            <a:xfrm>
              <a:off x="3565643" y="3653794"/>
              <a:ext cx="2232000" cy="2232000"/>
            </a:xfrm>
            <a:prstGeom prst="ellipse">
              <a:avLst/>
            </a:prstGeom>
            <a:solidFill>
              <a:schemeClr val="accent4"/>
            </a:solidFill>
            <a:ln>
              <a:solidFill>
                <a:schemeClr val="accent4"/>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39144E88-A824-BDD8-1A5F-DF9932A28F58}"/>
                </a:ext>
              </a:extLst>
            </p:cNvPr>
            <p:cNvSpPr txBox="1"/>
            <p:nvPr/>
          </p:nvSpPr>
          <p:spPr>
            <a:xfrm>
              <a:off x="3511913" y="4222775"/>
              <a:ext cx="2396691" cy="954107"/>
            </a:xfrm>
            <a:prstGeom prst="rect">
              <a:avLst/>
            </a:prstGeom>
            <a:noFill/>
          </p:spPr>
          <p:txBody>
            <a:bodyPr wrap="square" rtlCol="0">
              <a:spAutoFit/>
            </a:bodyPr>
            <a:lstStyle/>
            <a:p>
              <a:pPr algn="ctr"/>
              <a:r>
                <a:rPr lang="ja-JP" altLang="en-US" sz="2800" b="1">
                  <a:solidFill>
                    <a:schemeClr val="bg1"/>
                  </a:solidFill>
                  <a:latin typeface="游ゴシック" panose="020B0400000000000000" pitchFamily="50" charset="-128"/>
                  <a:ea typeface="游ゴシック" panose="020B0400000000000000" pitchFamily="50" charset="-128"/>
                </a:rPr>
                <a:t>➁</a:t>
              </a:r>
              <a:endParaRPr lang="en-US" altLang="ja-JP" sz="2800" b="1">
                <a:solidFill>
                  <a:schemeClr val="bg1"/>
                </a:solidFill>
                <a:latin typeface="游ゴシック" panose="020B0400000000000000" pitchFamily="50" charset="-128"/>
                <a:ea typeface="游ゴシック" panose="020B0400000000000000" pitchFamily="50" charset="-128"/>
              </a:endParaRPr>
            </a:p>
            <a:p>
              <a:pPr algn="ctr"/>
              <a:r>
                <a:rPr lang="ja-JP" altLang="en-US" sz="2800" b="1">
                  <a:solidFill>
                    <a:schemeClr val="bg1"/>
                  </a:solidFill>
                  <a:latin typeface="游ゴシック" panose="020B0400000000000000" pitchFamily="50" charset="-128"/>
                  <a:ea typeface="游ゴシック" panose="020B0400000000000000" pitchFamily="50" charset="-128"/>
                </a:rPr>
                <a:t>ふたつめ</a:t>
              </a:r>
              <a:endParaRPr kumimoji="1" lang="ja-JP" altLang="en-US" sz="2800" b="1">
                <a:solidFill>
                  <a:schemeClr val="bg1"/>
                </a:solidFill>
                <a:latin typeface="游ゴシック" panose="020B0400000000000000" pitchFamily="50" charset="-128"/>
                <a:ea typeface="游ゴシック" panose="020B0400000000000000" pitchFamily="50" charset="-128"/>
              </a:endParaRPr>
            </a:p>
          </p:txBody>
        </p:sp>
        <p:grpSp>
          <p:nvGrpSpPr>
            <p:cNvPr id="32" name="グループ化 31">
              <a:extLst>
                <a:ext uri="{FF2B5EF4-FFF2-40B4-BE49-F238E27FC236}">
                  <a16:creationId xmlns:a16="http://schemas.microsoft.com/office/drawing/2014/main" id="{792C22EA-FF84-3A98-0809-0D050661F86E}"/>
                </a:ext>
              </a:extLst>
            </p:cNvPr>
            <p:cNvGrpSpPr/>
            <p:nvPr/>
          </p:nvGrpSpPr>
          <p:grpSpPr>
            <a:xfrm flipV="1">
              <a:off x="4488250" y="2706875"/>
              <a:ext cx="800237" cy="959619"/>
              <a:chOff x="2664127" y="3374455"/>
              <a:chExt cx="1201975" cy="1567649"/>
            </a:xfrm>
          </p:grpSpPr>
          <p:sp>
            <p:nvSpPr>
              <p:cNvPr id="42" name="二等辺三角形 41">
                <a:extLst>
                  <a:ext uri="{FF2B5EF4-FFF2-40B4-BE49-F238E27FC236}">
                    <a16:creationId xmlns:a16="http://schemas.microsoft.com/office/drawing/2014/main" id="{CFBF4968-EFF2-BBD6-A5B8-F05999D9E557}"/>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フリーフォーム: 図形 42">
                <a:extLst>
                  <a:ext uri="{FF2B5EF4-FFF2-40B4-BE49-F238E27FC236}">
                    <a16:creationId xmlns:a16="http://schemas.microsoft.com/office/drawing/2014/main" id="{EE05FDD2-4061-3782-1A58-92A53F27735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CC32EC09-DD6F-67F4-1515-E5D0B5A1F986}"/>
                </a:ext>
              </a:extLst>
            </p:cNvPr>
            <p:cNvGrpSpPr/>
            <p:nvPr/>
          </p:nvGrpSpPr>
          <p:grpSpPr>
            <a:xfrm rot="7241964" flipV="1">
              <a:off x="2843255" y="5233792"/>
              <a:ext cx="800237" cy="959619"/>
              <a:chOff x="2664127" y="3374455"/>
              <a:chExt cx="1201975" cy="1567649"/>
            </a:xfrm>
          </p:grpSpPr>
          <p:sp>
            <p:nvSpPr>
              <p:cNvPr id="40" name="二等辺三角形 39">
                <a:extLst>
                  <a:ext uri="{FF2B5EF4-FFF2-40B4-BE49-F238E27FC236}">
                    <a16:creationId xmlns:a16="http://schemas.microsoft.com/office/drawing/2014/main" id="{487A51D6-35EB-AB85-51DC-D165028608F6}"/>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フリーフォーム: 図形 40">
                <a:extLst>
                  <a:ext uri="{FF2B5EF4-FFF2-40B4-BE49-F238E27FC236}">
                    <a16:creationId xmlns:a16="http://schemas.microsoft.com/office/drawing/2014/main" id="{6FF737AD-E6C5-09B0-D657-3884084F547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F45FDD95-79DC-ADA9-3915-434CF7688F0A}"/>
                </a:ext>
              </a:extLst>
            </p:cNvPr>
            <p:cNvGrpSpPr/>
            <p:nvPr/>
          </p:nvGrpSpPr>
          <p:grpSpPr>
            <a:xfrm rot="14081671" flipV="1">
              <a:off x="1389673" y="2585074"/>
              <a:ext cx="800237" cy="959619"/>
              <a:chOff x="2664127" y="3374455"/>
              <a:chExt cx="1201975" cy="1567649"/>
            </a:xfrm>
          </p:grpSpPr>
          <p:sp>
            <p:nvSpPr>
              <p:cNvPr id="38" name="二等辺三角形 37">
                <a:extLst>
                  <a:ext uri="{FF2B5EF4-FFF2-40B4-BE49-F238E27FC236}">
                    <a16:creationId xmlns:a16="http://schemas.microsoft.com/office/drawing/2014/main" id="{F6F2E6E3-8349-F1BD-4411-6E3B6C029304}"/>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フリーフォーム: 図形 38">
                <a:extLst>
                  <a:ext uri="{FF2B5EF4-FFF2-40B4-BE49-F238E27FC236}">
                    <a16:creationId xmlns:a16="http://schemas.microsoft.com/office/drawing/2014/main" id="{9D03327C-F0E8-AC17-FD92-0B6F95945D4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5" name="テキスト ボックス 34">
              <a:extLst>
                <a:ext uri="{FF2B5EF4-FFF2-40B4-BE49-F238E27FC236}">
                  <a16:creationId xmlns:a16="http://schemas.microsoft.com/office/drawing/2014/main" id="{647DCFC0-4CDB-F491-59F5-9B9843370982}"/>
                </a:ext>
              </a:extLst>
            </p:cNvPr>
            <p:cNvSpPr txBox="1"/>
            <p:nvPr/>
          </p:nvSpPr>
          <p:spPr>
            <a:xfrm>
              <a:off x="4832338" y="2938238"/>
              <a:ext cx="1700782" cy="400110"/>
            </a:xfrm>
            <a:prstGeom prst="rect">
              <a:avLst/>
            </a:prstGeom>
            <a:noFill/>
          </p:spPr>
          <p:txBody>
            <a:bodyPr wrap="square" rtlCol="0">
              <a:spAutoFit/>
            </a:bodyPr>
            <a:lstStyle/>
            <a:p>
              <a:pPr algn="ctr"/>
              <a:r>
                <a:rPr lang="ja-JP" altLang="en-US" sz="2000" b="1">
                  <a:solidFill>
                    <a:schemeClr val="accent4"/>
                  </a:solidFill>
                  <a:latin typeface="游ゴシック" panose="020B0400000000000000" pitchFamily="50" charset="-128"/>
                  <a:ea typeface="游ゴシック" panose="020B0400000000000000" pitchFamily="50" charset="-128"/>
                </a:rPr>
                <a:t>変化</a:t>
              </a:r>
              <a:endParaRPr lang="en-US" altLang="ja-JP" sz="2000" b="1">
                <a:solidFill>
                  <a:schemeClr val="accent4"/>
                </a:solidFill>
                <a:latin typeface="游ゴシック" panose="020B0400000000000000" pitchFamily="50" charset="-128"/>
                <a:ea typeface="游ゴシック" panose="020B0400000000000000" pitchFamily="50" charset="-128"/>
              </a:endParaRPr>
            </a:p>
          </p:txBody>
        </p:sp>
        <p:sp>
          <p:nvSpPr>
            <p:cNvPr id="36" name="テキスト ボックス 35">
              <a:extLst>
                <a:ext uri="{FF2B5EF4-FFF2-40B4-BE49-F238E27FC236}">
                  <a16:creationId xmlns:a16="http://schemas.microsoft.com/office/drawing/2014/main" id="{2832B974-8812-43C2-59F0-92C1490CE50F}"/>
                </a:ext>
              </a:extLst>
            </p:cNvPr>
            <p:cNvSpPr txBox="1"/>
            <p:nvPr/>
          </p:nvSpPr>
          <p:spPr>
            <a:xfrm>
              <a:off x="2550709" y="5935209"/>
              <a:ext cx="1700782" cy="400110"/>
            </a:xfrm>
            <a:prstGeom prst="rect">
              <a:avLst/>
            </a:prstGeom>
            <a:noFill/>
          </p:spPr>
          <p:txBody>
            <a:bodyPr wrap="square" rtlCol="0">
              <a:spAutoFit/>
            </a:bodyPr>
            <a:lstStyle/>
            <a:p>
              <a:pPr algn="ctr"/>
              <a:r>
                <a:rPr lang="ja-JP" altLang="en-US" sz="2000" b="1">
                  <a:solidFill>
                    <a:schemeClr val="accent4"/>
                  </a:solidFill>
                  <a:latin typeface="游ゴシック" panose="020B0400000000000000" pitchFamily="50" charset="-128"/>
                  <a:ea typeface="游ゴシック" panose="020B0400000000000000" pitchFamily="50" charset="-128"/>
                </a:rPr>
                <a:t>変化</a:t>
              </a:r>
              <a:endParaRPr lang="en-US" altLang="ja-JP" sz="2000" b="1">
                <a:solidFill>
                  <a:schemeClr val="accent4"/>
                </a:solidFill>
                <a:latin typeface="游ゴシック" panose="020B0400000000000000" pitchFamily="50" charset="-128"/>
                <a:ea typeface="游ゴシック" panose="020B0400000000000000" pitchFamily="50" charset="-128"/>
              </a:endParaRPr>
            </a:p>
          </p:txBody>
        </p:sp>
        <p:sp>
          <p:nvSpPr>
            <p:cNvPr id="37" name="テキスト ボックス 36">
              <a:extLst>
                <a:ext uri="{FF2B5EF4-FFF2-40B4-BE49-F238E27FC236}">
                  <a16:creationId xmlns:a16="http://schemas.microsoft.com/office/drawing/2014/main" id="{01D1CA61-D3FD-E879-DD8D-393FE694B62A}"/>
                </a:ext>
              </a:extLst>
            </p:cNvPr>
            <p:cNvSpPr txBox="1"/>
            <p:nvPr/>
          </p:nvSpPr>
          <p:spPr>
            <a:xfrm>
              <a:off x="0" y="2983833"/>
              <a:ext cx="1700782" cy="400110"/>
            </a:xfrm>
            <a:prstGeom prst="rect">
              <a:avLst/>
            </a:prstGeom>
            <a:noFill/>
          </p:spPr>
          <p:txBody>
            <a:bodyPr wrap="square" rtlCol="0">
              <a:spAutoFit/>
            </a:bodyPr>
            <a:lstStyle/>
            <a:p>
              <a:pPr algn="ctr"/>
              <a:r>
                <a:rPr lang="ja-JP" altLang="en-US" sz="2000" b="1">
                  <a:solidFill>
                    <a:schemeClr val="accent4"/>
                  </a:solidFill>
                  <a:latin typeface="游ゴシック" panose="020B0400000000000000" pitchFamily="50" charset="-128"/>
                  <a:ea typeface="游ゴシック" panose="020B0400000000000000" pitchFamily="50" charset="-128"/>
                </a:rPr>
                <a:t>変化</a:t>
              </a:r>
              <a:endParaRPr lang="en-US" altLang="ja-JP" sz="2000" b="1">
                <a:solidFill>
                  <a:schemeClr val="accent4"/>
                </a:solidFill>
                <a:latin typeface="游ゴシック" panose="020B0400000000000000" pitchFamily="50" charset="-128"/>
                <a:ea typeface="游ゴシック" panose="020B0400000000000000" pitchFamily="50" charset="-128"/>
              </a:endParaRPr>
            </a:p>
          </p:txBody>
        </p:sp>
      </p:grpSp>
      <p:sp>
        <p:nvSpPr>
          <p:cNvPr id="44" name="楕円 43">
            <a:extLst>
              <a:ext uri="{FF2B5EF4-FFF2-40B4-BE49-F238E27FC236}">
                <a16:creationId xmlns:a16="http://schemas.microsoft.com/office/drawing/2014/main" id="{2C0C6389-FF14-5D60-C930-9FD4BB37E633}"/>
              </a:ext>
            </a:extLst>
          </p:cNvPr>
          <p:cNvSpPr/>
          <p:nvPr userDrawn="1"/>
        </p:nvSpPr>
        <p:spPr>
          <a:xfrm>
            <a:off x="7462655" y="1651262"/>
            <a:ext cx="323850" cy="323850"/>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楕円 44">
            <a:extLst>
              <a:ext uri="{FF2B5EF4-FFF2-40B4-BE49-F238E27FC236}">
                <a16:creationId xmlns:a16="http://schemas.microsoft.com/office/drawing/2014/main" id="{CCD5A499-DA80-4959-FD3A-EFDCB51A5887}"/>
              </a:ext>
            </a:extLst>
          </p:cNvPr>
          <p:cNvSpPr/>
          <p:nvPr userDrawn="1"/>
        </p:nvSpPr>
        <p:spPr>
          <a:xfrm>
            <a:off x="8108150" y="1651112"/>
            <a:ext cx="324000" cy="324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楕円 45">
            <a:extLst>
              <a:ext uri="{FF2B5EF4-FFF2-40B4-BE49-F238E27FC236}">
                <a16:creationId xmlns:a16="http://schemas.microsoft.com/office/drawing/2014/main" id="{D2D85714-56FD-135D-4317-6D3C5582D6F9}"/>
              </a:ext>
            </a:extLst>
          </p:cNvPr>
          <p:cNvSpPr/>
          <p:nvPr userDrawn="1"/>
        </p:nvSpPr>
        <p:spPr>
          <a:xfrm>
            <a:off x="7730366" y="2165069"/>
            <a:ext cx="342900" cy="333267"/>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楕円 46">
            <a:extLst>
              <a:ext uri="{FF2B5EF4-FFF2-40B4-BE49-F238E27FC236}">
                <a16:creationId xmlns:a16="http://schemas.microsoft.com/office/drawing/2014/main" id="{47FFE66D-3B81-A181-53D3-E8D4F60D2D9F}"/>
              </a:ext>
            </a:extLst>
          </p:cNvPr>
          <p:cNvSpPr/>
          <p:nvPr userDrawn="1"/>
        </p:nvSpPr>
        <p:spPr>
          <a:xfrm>
            <a:off x="8528263" y="3060360"/>
            <a:ext cx="2901487" cy="1236539"/>
          </a:xfrm>
          <a:custGeom>
            <a:avLst/>
            <a:gdLst>
              <a:gd name="csX0" fmla="*/ 0 w 2901487"/>
              <a:gd name="csY0" fmla="*/ 618270 h 1236539"/>
              <a:gd name="csX1" fmla="*/ 1450744 w 2901487"/>
              <a:gd name="csY1" fmla="*/ 0 h 1236539"/>
              <a:gd name="csX2" fmla="*/ 2901488 w 2901487"/>
              <a:gd name="csY2" fmla="*/ 618270 h 1236539"/>
              <a:gd name="csX3" fmla="*/ 1450744 w 2901487"/>
              <a:gd name="csY3" fmla="*/ 1236540 h 1236539"/>
              <a:gd name="csX4" fmla="*/ 0 w 2901487"/>
              <a:gd name="csY4" fmla="*/ 618270 h 1236539"/>
            </a:gdLst>
            <a:ahLst/>
            <a:cxnLst>
              <a:cxn ang="0">
                <a:pos x="csX0" y="csY0"/>
              </a:cxn>
              <a:cxn ang="0">
                <a:pos x="csX1" y="csY1"/>
              </a:cxn>
              <a:cxn ang="0">
                <a:pos x="csX2" y="csY2"/>
              </a:cxn>
              <a:cxn ang="0">
                <a:pos x="csX3" y="csY3"/>
              </a:cxn>
              <a:cxn ang="0">
                <a:pos x="csX4" y="csY4"/>
              </a:cxn>
            </a:cxnLst>
            <a:rect l="l" t="t" r="r" b="b"/>
            <a:pathLst>
              <a:path w="2901487" h="1236539" fill="none" extrusionOk="0">
                <a:moveTo>
                  <a:pt x="0" y="618270"/>
                </a:moveTo>
                <a:cubicBezTo>
                  <a:pt x="84712" y="196294"/>
                  <a:pt x="764269" y="7572"/>
                  <a:pt x="1450744" y="0"/>
                </a:cubicBezTo>
                <a:cubicBezTo>
                  <a:pt x="2280633" y="48997"/>
                  <a:pt x="2861081" y="275941"/>
                  <a:pt x="2901488" y="618270"/>
                </a:cubicBezTo>
                <a:cubicBezTo>
                  <a:pt x="3011552" y="975692"/>
                  <a:pt x="2166690" y="1197621"/>
                  <a:pt x="1450744" y="1236540"/>
                </a:cubicBezTo>
                <a:cubicBezTo>
                  <a:pt x="618922" y="1245671"/>
                  <a:pt x="36345" y="910461"/>
                  <a:pt x="0" y="618270"/>
                </a:cubicBezTo>
                <a:close/>
              </a:path>
              <a:path w="2901487" h="1236539" stroke="0" extrusionOk="0">
                <a:moveTo>
                  <a:pt x="0" y="618270"/>
                </a:moveTo>
                <a:cubicBezTo>
                  <a:pt x="-7565" y="290082"/>
                  <a:pt x="641644" y="-3252"/>
                  <a:pt x="1450744" y="0"/>
                </a:cubicBezTo>
                <a:cubicBezTo>
                  <a:pt x="2306126" y="-7995"/>
                  <a:pt x="2871529" y="331374"/>
                  <a:pt x="2901488" y="618270"/>
                </a:cubicBezTo>
                <a:cubicBezTo>
                  <a:pt x="2849516" y="977102"/>
                  <a:pt x="2227727" y="1265205"/>
                  <a:pt x="1450744" y="1236540"/>
                </a:cubicBezTo>
                <a:cubicBezTo>
                  <a:pt x="683291" y="1214685"/>
                  <a:pt x="-15441" y="963273"/>
                  <a:pt x="0" y="618270"/>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楕円 47">
            <a:extLst>
              <a:ext uri="{FF2B5EF4-FFF2-40B4-BE49-F238E27FC236}">
                <a16:creationId xmlns:a16="http://schemas.microsoft.com/office/drawing/2014/main" id="{6A6E1136-F272-4681-519A-C15D625A2FA7}"/>
              </a:ext>
            </a:extLst>
          </p:cNvPr>
          <p:cNvSpPr/>
          <p:nvPr userDrawn="1"/>
        </p:nvSpPr>
        <p:spPr>
          <a:xfrm>
            <a:off x="9518584" y="1567812"/>
            <a:ext cx="2235127" cy="2177274"/>
          </a:xfrm>
          <a:custGeom>
            <a:avLst/>
            <a:gdLst>
              <a:gd name="csX0" fmla="*/ 0 w 2235127"/>
              <a:gd name="csY0" fmla="*/ 1088637 h 2177274"/>
              <a:gd name="csX1" fmla="*/ 1117564 w 2235127"/>
              <a:gd name="csY1" fmla="*/ 0 h 2177274"/>
              <a:gd name="csX2" fmla="*/ 2235128 w 2235127"/>
              <a:gd name="csY2" fmla="*/ 1088637 h 2177274"/>
              <a:gd name="csX3" fmla="*/ 1117564 w 2235127"/>
              <a:gd name="csY3" fmla="*/ 2177274 h 2177274"/>
              <a:gd name="csX4" fmla="*/ 0 w 2235127"/>
              <a:gd name="csY4" fmla="*/ 1088637 h 2177274"/>
            </a:gdLst>
            <a:ahLst/>
            <a:cxnLst>
              <a:cxn ang="0">
                <a:pos x="csX0" y="csY0"/>
              </a:cxn>
              <a:cxn ang="0">
                <a:pos x="csX1" y="csY1"/>
              </a:cxn>
              <a:cxn ang="0">
                <a:pos x="csX2" y="csY2"/>
              </a:cxn>
              <a:cxn ang="0">
                <a:pos x="csX3" y="csY3"/>
              </a:cxn>
              <a:cxn ang="0">
                <a:pos x="csX4" y="csY4"/>
              </a:cxn>
            </a:cxnLst>
            <a:rect l="l" t="t" r="r" b="b"/>
            <a:pathLst>
              <a:path w="2235127" h="2177274" fill="none" extrusionOk="0">
                <a:moveTo>
                  <a:pt x="0" y="1088637"/>
                </a:moveTo>
                <a:cubicBezTo>
                  <a:pt x="-78231" y="501361"/>
                  <a:pt x="470933" y="81460"/>
                  <a:pt x="1117564" y="0"/>
                </a:cubicBezTo>
                <a:cubicBezTo>
                  <a:pt x="1655506" y="-29676"/>
                  <a:pt x="2249283" y="494351"/>
                  <a:pt x="2235128" y="1088637"/>
                </a:cubicBezTo>
                <a:cubicBezTo>
                  <a:pt x="2256564" y="1635402"/>
                  <a:pt x="1745396" y="2193472"/>
                  <a:pt x="1117564" y="2177274"/>
                </a:cubicBezTo>
                <a:cubicBezTo>
                  <a:pt x="511602" y="2187319"/>
                  <a:pt x="85868" y="1650356"/>
                  <a:pt x="0" y="1088637"/>
                </a:cubicBezTo>
                <a:close/>
              </a:path>
              <a:path w="2235127" h="2177274" stroke="0" extrusionOk="0">
                <a:moveTo>
                  <a:pt x="0" y="1088637"/>
                </a:moveTo>
                <a:cubicBezTo>
                  <a:pt x="44180" y="558178"/>
                  <a:pt x="501211" y="-92223"/>
                  <a:pt x="1117564" y="0"/>
                </a:cubicBezTo>
                <a:cubicBezTo>
                  <a:pt x="1755182" y="98031"/>
                  <a:pt x="2176597" y="447074"/>
                  <a:pt x="2235128" y="1088637"/>
                </a:cubicBezTo>
                <a:cubicBezTo>
                  <a:pt x="2248407" y="1590409"/>
                  <a:pt x="1732930" y="2112771"/>
                  <a:pt x="1117564" y="2177274"/>
                </a:cubicBezTo>
                <a:cubicBezTo>
                  <a:pt x="512908" y="2113663"/>
                  <a:pt x="14757" y="1627634"/>
                  <a:pt x="0" y="1088637"/>
                </a:cubicBezTo>
                <a:close/>
              </a:path>
            </a:pathLst>
          </a:custGeom>
          <a:solidFill>
            <a:schemeClr val="accent2"/>
          </a:solidFill>
          <a:ln>
            <a:solidFill>
              <a:schemeClr val="accent2"/>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a:solidFill>
                  <a:schemeClr val="bg1"/>
                </a:solidFill>
                <a:latin typeface="游ゴシック" panose="020B0400000000000000" pitchFamily="50" charset="-128"/>
                <a:ea typeface="游ゴシック" panose="020B0400000000000000" pitchFamily="50" charset="-128"/>
              </a:rPr>
              <a:t> </a:t>
            </a:r>
            <a:r>
              <a:rPr lang="ja-JP" altLang="en-US" sz="2800" b="1">
                <a:solidFill>
                  <a:schemeClr val="bg1"/>
                </a:solidFill>
                <a:latin typeface="游ゴシック" panose="020B0400000000000000" pitchFamily="50" charset="-128"/>
                <a:ea typeface="游ゴシック" panose="020B0400000000000000" pitchFamily="50" charset="-128"/>
              </a:rPr>
              <a:t>何か</a:t>
            </a:r>
            <a:endParaRPr lang="en-US" altLang="ja-JP" sz="2800" b="1">
              <a:solidFill>
                <a:schemeClr val="bg1"/>
              </a:solidFill>
              <a:latin typeface="游ゴシック" panose="020B0400000000000000" pitchFamily="50" charset="-128"/>
              <a:ea typeface="游ゴシック" panose="020B0400000000000000" pitchFamily="50" charset="-128"/>
            </a:endParaRPr>
          </a:p>
          <a:p>
            <a:pPr algn="ctr"/>
            <a:r>
              <a:rPr lang="ja-JP" altLang="en-US">
                <a:solidFill>
                  <a:schemeClr val="bg1"/>
                </a:solidFill>
                <a:latin typeface="+mn-ea"/>
              </a:rPr>
              <a:t>メッセージ</a:t>
            </a:r>
            <a:endParaRPr lang="ja-JP" altLang="en-US" sz="1200">
              <a:solidFill>
                <a:schemeClr val="bg1"/>
              </a:solidFill>
              <a:latin typeface="+mn-ea"/>
            </a:endParaRPr>
          </a:p>
        </p:txBody>
      </p:sp>
      <p:sp>
        <p:nvSpPr>
          <p:cNvPr id="49" name="正方形/長方形 48">
            <a:extLst>
              <a:ext uri="{FF2B5EF4-FFF2-40B4-BE49-F238E27FC236}">
                <a16:creationId xmlns:a16="http://schemas.microsoft.com/office/drawing/2014/main" id="{B2DD3AF4-68C5-FAE7-0A1D-8170E5D92D37}"/>
              </a:ext>
            </a:extLst>
          </p:cNvPr>
          <p:cNvSpPr/>
          <p:nvPr userDrawn="1"/>
        </p:nvSpPr>
        <p:spPr>
          <a:xfrm rot="20169432">
            <a:off x="8795580" y="3503340"/>
            <a:ext cx="3160032" cy="167421"/>
          </a:xfrm>
          <a:custGeom>
            <a:avLst/>
            <a:gdLst>
              <a:gd name="csX0" fmla="*/ 0 w 3160032"/>
              <a:gd name="csY0" fmla="*/ 0 h 167421"/>
              <a:gd name="csX1" fmla="*/ 3160032 w 3160032"/>
              <a:gd name="csY1" fmla="*/ 0 h 167421"/>
              <a:gd name="csX2" fmla="*/ 3160032 w 3160032"/>
              <a:gd name="csY2" fmla="*/ 167421 h 167421"/>
              <a:gd name="csX3" fmla="*/ 0 w 3160032"/>
              <a:gd name="csY3" fmla="*/ 167421 h 167421"/>
              <a:gd name="csX4" fmla="*/ 0 w 3160032"/>
              <a:gd name="csY4" fmla="*/ 0 h 167421"/>
            </a:gdLst>
            <a:ahLst/>
            <a:cxnLst>
              <a:cxn ang="0">
                <a:pos x="csX0" y="csY0"/>
              </a:cxn>
              <a:cxn ang="0">
                <a:pos x="csX1" y="csY1"/>
              </a:cxn>
              <a:cxn ang="0">
                <a:pos x="csX2" y="csY2"/>
              </a:cxn>
              <a:cxn ang="0">
                <a:pos x="csX3" y="csY3"/>
              </a:cxn>
              <a:cxn ang="0">
                <a:pos x="csX4" y="csY4"/>
              </a:cxn>
            </a:cxnLst>
            <a:rect l="l" t="t" r="r" b="b"/>
            <a:pathLst>
              <a:path w="3160032" h="167421" fill="none" extrusionOk="0">
                <a:moveTo>
                  <a:pt x="0" y="0"/>
                </a:moveTo>
                <a:cubicBezTo>
                  <a:pt x="1576265" y="-130857"/>
                  <a:pt x="1695485" y="63250"/>
                  <a:pt x="3160032" y="0"/>
                </a:cubicBezTo>
                <a:cubicBezTo>
                  <a:pt x="3149888" y="54417"/>
                  <a:pt x="3161660" y="117978"/>
                  <a:pt x="3160032" y="167421"/>
                </a:cubicBezTo>
                <a:cubicBezTo>
                  <a:pt x="2559770" y="222085"/>
                  <a:pt x="1098592" y="215523"/>
                  <a:pt x="0" y="167421"/>
                </a:cubicBezTo>
                <a:cubicBezTo>
                  <a:pt x="-5" y="147243"/>
                  <a:pt x="-2866" y="55723"/>
                  <a:pt x="0" y="0"/>
                </a:cubicBezTo>
                <a:close/>
              </a:path>
              <a:path w="3160032" h="167421" stroke="0" extrusionOk="0">
                <a:moveTo>
                  <a:pt x="0" y="0"/>
                </a:moveTo>
                <a:cubicBezTo>
                  <a:pt x="1189394" y="93023"/>
                  <a:pt x="2837410" y="111448"/>
                  <a:pt x="3160032" y="0"/>
                </a:cubicBezTo>
                <a:cubicBezTo>
                  <a:pt x="3145341" y="75065"/>
                  <a:pt x="3161279" y="142728"/>
                  <a:pt x="3160032" y="167421"/>
                </a:cubicBezTo>
                <a:cubicBezTo>
                  <a:pt x="2786659" y="165537"/>
                  <a:pt x="902558" y="243552"/>
                  <a:pt x="0" y="167421"/>
                </a:cubicBezTo>
                <a:cubicBezTo>
                  <a:pt x="-7129" y="150251"/>
                  <a:pt x="4229" y="45135"/>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十字形 49">
            <a:extLst>
              <a:ext uri="{FF2B5EF4-FFF2-40B4-BE49-F238E27FC236}">
                <a16:creationId xmlns:a16="http://schemas.microsoft.com/office/drawing/2014/main" id="{FC1263B9-86AE-7C13-849E-FAC9076446F5}"/>
              </a:ext>
            </a:extLst>
          </p:cNvPr>
          <p:cNvSpPr/>
          <p:nvPr userDrawn="1"/>
        </p:nvSpPr>
        <p:spPr>
          <a:xfrm rot="2590055">
            <a:off x="8265921" y="4413059"/>
            <a:ext cx="1869719" cy="1886551"/>
          </a:xfrm>
          <a:custGeom>
            <a:avLst/>
            <a:gdLst>
              <a:gd name="csX0" fmla="*/ 0 w 1869719"/>
              <a:gd name="csY0" fmla="*/ 871682 h 1886551"/>
              <a:gd name="csX1" fmla="*/ 871682 w 1869719"/>
              <a:gd name="csY1" fmla="*/ 871682 h 1886551"/>
              <a:gd name="csX2" fmla="*/ 871682 w 1869719"/>
              <a:gd name="csY2" fmla="*/ 0 h 1886551"/>
              <a:gd name="csX3" fmla="*/ 998037 w 1869719"/>
              <a:gd name="csY3" fmla="*/ 0 h 1886551"/>
              <a:gd name="csX4" fmla="*/ 998037 w 1869719"/>
              <a:gd name="csY4" fmla="*/ 871682 h 1886551"/>
              <a:gd name="csX5" fmla="*/ 1869719 w 1869719"/>
              <a:gd name="csY5" fmla="*/ 871682 h 1886551"/>
              <a:gd name="csX6" fmla="*/ 1869719 w 1869719"/>
              <a:gd name="csY6" fmla="*/ 1014869 h 1886551"/>
              <a:gd name="csX7" fmla="*/ 998037 w 1869719"/>
              <a:gd name="csY7" fmla="*/ 1014869 h 1886551"/>
              <a:gd name="csX8" fmla="*/ 998037 w 1869719"/>
              <a:gd name="csY8" fmla="*/ 1886551 h 1886551"/>
              <a:gd name="csX9" fmla="*/ 871682 w 1869719"/>
              <a:gd name="csY9" fmla="*/ 1886551 h 1886551"/>
              <a:gd name="csX10" fmla="*/ 871682 w 1869719"/>
              <a:gd name="csY10" fmla="*/ 1014869 h 1886551"/>
              <a:gd name="csX11" fmla="*/ 0 w 1869719"/>
              <a:gd name="csY11" fmla="*/ 1014869 h 1886551"/>
              <a:gd name="csX12" fmla="*/ 0 w 1869719"/>
              <a:gd name="csY12" fmla="*/ 871682 h 18865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69719" h="1886551" fill="none" extrusionOk="0">
                <a:moveTo>
                  <a:pt x="0" y="871682"/>
                </a:moveTo>
                <a:cubicBezTo>
                  <a:pt x="150577" y="878137"/>
                  <a:pt x="691672" y="826285"/>
                  <a:pt x="871682" y="871682"/>
                </a:cubicBezTo>
                <a:cubicBezTo>
                  <a:pt x="944600" y="699805"/>
                  <a:pt x="866968" y="165485"/>
                  <a:pt x="871682" y="0"/>
                </a:cubicBezTo>
                <a:cubicBezTo>
                  <a:pt x="917842" y="-3582"/>
                  <a:pt x="948566" y="-7301"/>
                  <a:pt x="998037" y="0"/>
                </a:cubicBezTo>
                <a:cubicBezTo>
                  <a:pt x="1034408" y="206213"/>
                  <a:pt x="958303" y="545702"/>
                  <a:pt x="998037" y="871682"/>
                </a:cubicBezTo>
                <a:cubicBezTo>
                  <a:pt x="1403914" y="918941"/>
                  <a:pt x="1768096" y="817161"/>
                  <a:pt x="1869719" y="871682"/>
                </a:cubicBezTo>
                <a:cubicBezTo>
                  <a:pt x="1862247" y="898346"/>
                  <a:pt x="1867979" y="944707"/>
                  <a:pt x="1869719" y="1014869"/>
                </a:cubicBezTo>
                <a:cubicBezTo>
                  <a:pt x="1548144" y="940983"/>
                  <a:pt x="1153210" y="1019821"/>
                  <a:pt x="998037" y="1014869"/>
                </a:cubicBezTo>
                <a:cubicBezTo>
                  <a:pt x="1038278" y="1306496"/>
                  <a:pt x="926672" y="1453007"/>
                  <a:pt x="998037" y="1886551"/>
                </a:cubicBezTo>
                <a:cubicBezTo>
                  <a:pt x="957192" y="1890993"/>
                  <a:pt x="910226" y="1892254"/>
                  <a:pt x="871682" y="1886551"/>
                </a:cubicBezTo>
                <a:cubicBezTo>
                  <a:pt x="900212" y="1470477"/>
                  <a:pt x="885227" y="1205920"/>
                  <a:pt x="871682" y="1014869"/>
                </a:cubicBezTo>
                <a:cubicBezTo>
                  <a:pt x="678222" y="1052749"/>
                  <a:pt x="371283" y="1038878"/>
                  <a:pt x="0" y="1014869"/>
                </a:cubicBezTo>
                <a:cubicBezTo>
                  <a:pt x="7573" y="960095"/>
                  <a:pt x="-108" y="893456"/>
                  <a:pt x="0" y="871682"/>
                </a:cubicBezTo>
                <a:close/>
              </a:path>
              <a:path w="1869719" h="1886551" stroke="0" extrusionOk="0">
                <a:moveTo>
                  <a:pt x="0" y="871682"/>
                </a:moveTo>
                <a:cubicBezTo>
                  <a:pt x="344289" y="885060"/>
                  <a:pt x="600800" y="905684"/>
                  <a:pt x="871682" y="871682"/>
                </a:cubicBezTo>
                <a:cubicBezTo>
                  <a:pt x="931893" y="628664"/>
                  <a:pt x="943650" y="370527"/>
                  <a:pt x="871682" y="0"/>
                </a:cubicBezTo>
                <a:cubicBezTo>
                  <a:pt x="893890" y="9838"/>
                  <a:pt x="946111" y="7517"/>
                  <a:pt x="998037" y="0"/>
                </a:cubicBezTo>
                <a:cubicBezTo>
                  <a:pt x="992055" y="159455"/>
                  <a:pt x="932820" y="532460"/>
                  <a:pt x="998037" y="871682"/>
                </a:cubicBezTo>
                <a:cubicBezTo>
                  <a:pt x="1357843" y="820993"/>
                  <a:pt x="1686362" y="905907"/>
                  <a:pt x="1869719" y="871682"/>
                </a:cubicBezTo>
                <a:cubicBezTo>
                  <a:pt x="1875174" y="925174"/>
                  <a:pt x="1873986" y="947346"/>
                  <a:pt x="1869719" y="1014869"/>
                </a:cubicBezTo>
                <a:cubicBezTo>
                  <a:pt x="1764808" y="1082825"/>
                  <a:pt x="1290886" y="1035898"/>
                  <a:pt x="998037" y="1014869"/>
                </a:cubicBezTo>
                <a:cubicBezTo>
                  <a:pt x="975473" y="1296156"/>
                  <a:pt x="935667" y="1781961"/>
                  <a:pt x="998037" y="1886551"/>
                </a:cubicBezTo>
                <a:cubicBezTo>
                  <a:pt x="962951" y="1880256"/>
                  <a:pt x="921537" y="1889798"/>
                  <a:pt x="871682" y="1886551"/>
                </a:cubicBezTo>
                <a:cubicBezTo>
                  <a:pt x="818077" y="1555126"/>
                  <a:pt x="859397" y="1130088"/>
                  <a:pt x="871682" y="1014869"/>
                </a:cubicBezTo>
                <a:cubicBezTo>
                  <a:pt x="608586" y="952921"/>
                  <a:pt x="306780" y="1005001"/>
                  <a:pt x="0" y="1014869"/>
                </a:cubicBezTo>
                <a:cubicBezTo>
                  <a:pt x="-3635" y="972697"/>
                  <a:pt x="-10926" y="894203"/>
                  <a:pt x="0" y="871682"/>
                </a:cubicBezTo>
                <a:close/>
              </a:path>
            </a:pathLst>
          </a:custGeom>
          <a:solidFill>
            <a:schemeClr val="accent2"/>
          </a:solidFill>
          <a:ln>
            <a:solidFill>
              <a:schemeClr val="accent2"/>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445914FA-79B4-45B7-AD62-654903C3C42B}"/>
              </a:ext>
            </a:extLst>
          </p:cNvPr>
          <p:cNvSpPr/>
          <p:nvPr userDrawn="1"/>
        </p:nvSpPr>
        <p:spPr>
          <a:xfrm>
            <a:off x="7090921" y="4792728"/>
            <a:ext cx="1253486" cy="1236539"/>
          </a:xfrm>
          <a:custGeom>
            <a:avLst/>
            <a:gdLst>
              <a:gd name="csX0" fmla="*/ 0 w 1253486"/>
              <a:gd name="csY0" fmla="*/ 618270 h 1236539"/>
              <a:gd name="csX1" fmla="*/ 626743 w 1253486"/>
              <a:gd name="csY1" fmla="*/ 0 h 1236539"/>
              <a:gd name="csX2" fmla="*/ 1253486 w 1253486"/>
              <a:gd name="csY2" fmla="*/ 618270 h 1236539"/>
              <a:gd name="csX3" fmla="*/ 626743 w 1253486"/>
              <a:gd name="csY3" fmla="*/ 1236540 h 1236539"/>
              <a:gd name="csX4" fmla="*/ 0 w 1253486"/>
              <a:gd name="csY4" fmla="*/ 618270 h 1236539"/>
            </a:gdLst>
            <a:ahLst/>
            <a:cxnLst>
              <a:cxn ang="0">
                <a:pos x="csX0" y="csY0"/>
              </a:cxn>
              <a:cxn ang="0">
                <a:pos x="csX1" y="csY1"/>
              </a:cxn>
              <a:cxn ang="0">
                <a:pos x="csX2" y="csY2"/>
              </a:cxn>
              <a:cxn ang="0">
                <a:pos x="csX3" y="csY3"/>
              </a:cxn>
              <a:cxn ang="0">
                <a:pos x="csX4" y="csY4"/>
              </a:cxn>
            </a:cxnLst>
            <a:rect l="l" t="t" r="r" b="b"/>
            <a:pathLst>
              <a:path w="1253486" h="1236539" extrusionOk="0">
                <a:moveTo>
                  <a:pt x="0" y="618270"/>
                </a:moveTo>
                <a:cubicBezTo>
                  <a:pt x="11333" y="288976"/>
                  <a:pt x="265442" y="19656"/>
                  <a:pt x="626743" y="0"/>
                </a:cubicBezTo>
                <a:cubicBezTo>
                  <a:pt x="963521" y="-49908"/>
                  <a:pt x="1223269" y="275473"/>
                  <a:pt x="1253486" y="618270"/>
                </a:cubicBezTo>
                <a:cubicBezTo>
                  <a:pt x="1256702" y="984230"/>
                  <a:pt x="1029945" y="1242942"/>
                  <a:pt x="626743" y="1236540"/>
                </a:cubicBezTo>
                <a:cubicBezTo>
                  <a:pt x="282897" y="1246744"/>
                  <a:pt x="5423" y="961932"/>
                  <a:pt x="0" y="618270"/>
                </a:cubicBezTo>
                <a:close/>
              </a:path>
            </a:pathLst>
          </a:custGeom>
          <a:noFill/>
          <a:ln w="76200">
            <a:solidFill>
              <a:srgbClr val="C00000"/>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68165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図形レイアウト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3" name="タイトル 1">
            <a:extLst>
              <a:ext uri="{FF2B5EF4-FFF2-40B4-BE49-F238E27FC236}">
                <a16:creationId xmlns:a16="http://schemas.microsoft.com/office/drawing/2014/main" id="{EA1512E1-AAA0-AB04-C190-127E06041E34}"/>
              </a:ext>
            </a:extLst>
          </p:cNvPr>
          <p:cNvSpPr txBox="1">
            <a:spLocks/>
          </p:cNvSpPr>
          <p:nvPr userDrawn="1"/>
        </p:nvSpPr>
        <p:spPr>
          <a:xfrm>
            <a:off x="558800" y="1015999"/>
            <a:ext cx="11099800" cy="938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a:t>寸法や色は場合に応じて調整しましょう</a:t>
            </a:r>
          </a:p>
        </p:txBody>
      </p:sp>
      <p:grpSp>
        <p:nvGrpSpPr>
          <p:cNvPr id="24" name="グループ化 23">
            <a:extLst>
              <a:ext uri="{FF2B5EF4-FFF2-40B4-BE49-F238E27FC236}">
                <a16:creationId xmlns:a16="http://schemas.microsoft.com/office/drawing/2014/main" id="{4918279A-9D5F-83FE-1814-3178B5023072}"/>
              </a:ext>
            </a:extLst>
          </p:cNvPr>
          <p:cNvGrpSpPr/>
          <p:nvPr userDrawn="1"/>
        </p:nvGrpSpPr>
        <p:grpSpPr>
          <a:xfrm rot="3516666">
            <a:off x="1083666" y="2853387"/>
            <a:ext cx="1201975" cy="1567649"/>
            <a:chOff x="2664127" y="3374455"/>
            <a:chExt cx="1201975" cy="1567649"/>
          </a:xfrm>
        </p:grpSpPr>
        <p:sp>
          <p:nvSpPr>
            <p:cNvPr id="25" name="二等辺三角形 24">
              <a:extLst>
                <a:ext uri="{FF2B5EF4-FFF2-40B4-BE49-F238E27FC236}">
                  <a16:creationId xmlns:a16="http://schemas.microsoft.com/office/drawing/2014/main" id="{18040CFA-D83A-6E36-349E-8029AD4E1E72}"/>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フリーフォーム: 図形 25">
              <a:extLst>
                <a:ext uri="{FF2B5EF4-FFF2-40B4-BE49-F238E27FC236}">
                  <a16:creationId xmlns:a16="http://schemas.microsoft.com/office/drawing/2014/main" id="{3687799F-5AF2-5645-A10F-4C5CDA1D9A6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7" name="グループ化 26">
            <a:extLst>
              <a:ext uri="{FF2B5EF4-FFF2-40B4-BE49-F238E27FC236}">
                <a16:creationId xmlns:a16="http://schemas.microsoft.com/office/drawing/2014/main" id="{F5AD321D-70F5-E363-267F-4BBAB259B4A9}"/>
              </a:ext>
            </a:extLst>
          </p:cNvPr>
          <p:cNvGrpSpPr/>
          <p:nvPr userDrawn="1"/>
        </p:nvGrpSpPr>
        <p:grpSpPr>
          <a:xfrm>
            <a:off x="3762700" y="2453659"/>
            <a:ext cx="851900" cy="2201196"/>
            <a:chOff x="4004187" y="2684206"/>
            <a:chExt cx="851900" cy="2201196"/>
          </a:xfrm>
        </p:grpSpPr>
        <p:sp>
          <p:nvSpPr>
            <p:cNvPr id="28" name="二等辺三角形 27">
              <a:extLst>
                <a:ext uri="{FF2B5EF4-FFF2-40B4-BE49-F238E27FC236}">
                  <a16:creationId xmlns:a16="http://schemas.microsoft.com/office/drawing/2014/main" id="{3504BEE9-9870-07CE-A77A-85412E49817D}"/>
                </a:ext>
              </a:extLst>
            </p:cNvPr>
            <p:cNvSpPr/>
            <p:nvPr/>
          </p:nvSpPr>
          <p:spPr>
            <a:xfrm>
              <a:off x="4004187" y="2684206"/>
              <a:ext cx="851900" cy="40558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二等辺三角形 28">
              <a:extLst>
                <a:ext uri="{FF2B5EF4-FFF2-40B4-BE49-F238E27FC236}">
                  <a16:creationId xmlns:a16="http://schemas.microsoft.com/office/drawing/2014/main" id="{A554CA98-8948-1722-CD68-C4A9D570C584}"/>
                </a:ext>
              </a:extLst>
            </p:cNvPr>
            <p:cNvSpPr/>
            <p:nvPr/>
          </p:nvSpPr>
          <p:spPr>
            <a:xfrm rot="10800000">
              <a:off x="4172039" y="4653111"/>
              <a:ext cx="516194" cy="232291"/>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台形 29">
              <a:extLst>
                <a:ext uri="{FF2B5EF4-FFF2-40B4-BE49-F238E27FC236}">
                  <a16:creationId xmlns:a16="http://schemas.microsoft.com/office/drawing/2014/main" id="{B55A3034-20E4-4ADF-56C0-2C631235A2B9}"/>
                </a:ext>
              </a:extLst>
            </p:cNvPr>
            <p:cNvSpPr/>
            <p:nvPr/>
          </p:nvSpPr>
          <p:spPr>
            <a:xfrm rot="10800000">
              <a:off x="4274402" y="3082408"/>
              <a:ext cx="311469" cy="1570703"/>
            </a:xfrm>
            <a:prstGeom prst="trapezoi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1" name="グループ化 30">
            <a:extLst>
              <a:ext uri="{FF2B5EF4-FFF2-40B4-BE49-F238E27FC236}">
                <a16:creationId xmlns:a16="http://schemas.microsoft.com/office/drawing/2014/main" id="{C7512737-BE58-C547-5118-A42DD86BD822}"/>
              </a:ext>
            </a:extLst>
          </p:cNvPr>
          <p:cNvGrpSpPr/>
          <p:nvPr userDrawn="1"/>
        </p:nvGrpSpPr>
        <p:grpSpPr>
          <a:xfrm>
            <a:off x="5262743" y="3209365"/>
            <a:ext cx="2359742" cy="1445491"/>
            <a:chOff x="4837472" y="2490841"/>
            <a:chExt cx="2359742" cy="1445491"/>
          </a:xfrm>
        </p:grpSpPr>
        <p:sp>
          <p:nvSpPr>
            <p:cNvPr id="32" name="四角形: 角を丸くする 31">
              <a:extLst>
                <a:ext uri="{FF2B5EF4-FFF2-40B4-BE49-F238E27FC236}">
                  <a16:creationId xmlns:a16="http://schemas.microsoft.com/office/drawing/2014/main" id="{233F5D7F-64E3-9407-78B4-FAE25F6CDACB}"/>
                </a:ext>
              </a:extLst>
            </p:cNvPr>
            <p:cNvSpPr/>
            <p:nvPr/>
          </p:nvSpPr>
          <p:spPr>
            <a:xfrm>
              <a:off x="4837472" y="2490841"/>
              <a:ext cx="2359742" cy="938159"/>
            </a:xfrm>
            <a:prstGeom prst="roundRect">
              <a:avLst>
                <a:gd name="adj" fmla="val 10379"/>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二等辺三角形 32">
              <a:extLst>
                <a:ext uri="{FF2B5EF4-FFF2-40B4-BE49-F238E27FC236}">
                  <a16:creationId xmlns:a16="http://schemas.microsoft.com/office/drawing/2014/main" id="{AE5B25B4-830C-F565-701E-7B3D8EF0A3D5}"/>
                </a:ext>
              </a:extLst>
            </p:cNvPr>
            <p:cNvSpPr/>
            <p:nvPr/>
          </p:nvSpPr>
          <p:spPr>
            <a:xfrm rot="11901755">
              <a:off x="4948538" y="3335420"/>
              <a:ext cx="213186" cy="600912"/>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ABC99292-5B3A-39EC-B0CA-F64C7E3424EF}"/>
              </a:ext>
            </a:extLst>
          </p:cNvPr>
          <p:cNvGrpSpPr/>
          <p:nvPr userDrawn="1"/>
        </p:nvGrpSpPr>
        <p:grpSpPr>
          <a:xfrm>
            <a:off x="2672807" y="2453659"/>
            <a:ext cx="840658" cy="2492477"/>
            <a:chOff x="7800489" y="2818451"/>
            <a:chExt cx="840658" cy="2492477"/>
          </a:xfrm>
        </p:grpSpPr>
        <p:sp>
          <p:nvSpPr>
            <p:cNvPr id="35" name="二等辺三角形 34">
              <a:extLst>
                <a:ext uri="{FF2B5EF4-FFF2-40B4-BE49-F238E27FC236}">
                  <a16:creationId xmlns:a16="http://schemas.microsoft.com/office/drawing/2014/main" id="{77F7F590-718D-D8F1-5230-5A3DAD37ED7B}"/>
                </a:ext>
              </a:extLst>
            </p:cNvPr>
            <p:cNvSpPr/>
            <p:nvPr/>
          </p:nvSpPr>
          <p:spPr>
            <a:xfrm>
              <a:off x="7800489" y="2818451"/>
              <a:ext cx="840658" cy="412955"/>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4882E2DA-4C8E-08D3-32F4-26F06FF74CF7}"/>
                </a:ext>
              </a:extLst>
            </p:cNvPr>
            <p:cNvSpPr/>
            <p:nvPr/>
          </p:nvSpPr>
          <p:spPr>
            <a:xfrm rot="10800000">
              <a:off x="8070268" y="3224031"/>
              <a:ext cx="274331" cy="2086897"/>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7" name="直線コネクタ 36">
            <a:extLst>
              <a:ext uri="{FF2B5EF4-FFF2-40B4-BE49-F238E27FC236}">
                <a16:creationId xmlns:a16="http://schemas.microsoft.com/office/drawing/2014/main" id="{A2C7AC8F-F791-7B05-2E9C-0DD57300600C}"/>
              </a:ext>
            </a:extLst>
          </p:cNvPr>
          <p:cNvCxnSpPr>
            <a:cxnSpLocks/>
          </p:cNvCxnSpPr>
          <p:nvPr userDrawn="1"/>
        </p:nvCxnSpPr>
        <p:spPr>
          <a:xfrm flipV="1">
            <a:off x="7466643" y="2683751"/>
            <a:ext cx="525780" cy="791898"/>
          </a:xfrm>
          <a:prstGeom prst="line">
            <a:avLst/>
          </a:prstGeom>
          <a:ln>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38" name="楕円 37">
            <a:extLst>
              <a:ext uri="{FF2B5EF4-FFF2-40B4-BE49-F238E27FC236}">
                <a16:creationId xmlns:a16="http://schemas.microsoft.com/office/drawing/2014/main" id="{94A0D457-D1B5-AC80-EF68-979CF97AC4FB}"/>
              </a:ext>
            </a:extLst>
          </p:cNvPr>
          <p:cNvSpPr/>
          <p:nvPr userDrawn="1"/>
        </p:nvSpPr>
        <p:spPr>
          <a:xfrm>
            <a:off x="7831288" y="2120241"/>
            <a:ext cx="648000" cy="648000"/>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b="1">
                <a:latin typeface="游ゴシック" panose="020B0400000000000000" pitchFamily="50" charset="-128"/>
                <a:ea typeface="游ゴシック" panose="020B0400000000000000" pitchFamily="50" charset="-128"/>
              </a:rPr>
              <a:t>1</a:t>
            </a:r>
            <a:endParaRPr kumimoji="1" lang="ja-JP" altLang="en-US" sz="2800" b="1">
              <a:latin typeface="游ゴシック" panose="020B0400000000000000" pitchFamily="50" charset="-128"/>
              <a:ea typeface="游ゴシック" panose="020B0400000000000000" pitchFamily="50" charset="-128"/>
            </a:endParaRPr>
          </a:p>
        </p:txBody>
      </p:sp>
      <p:grpSp>
        <p:nvGrpSpPr>
          <p:cNvPr id="39" name="グループ化 38">
            <a:extLst>
              <a:ext uri="{FF2B5EF4-FFF2-40B4-BE49-F238E27FC236}">
                <a16:creationId xmlns:a16="http://schemas.microsoft.com/office/drawing/2014/main" id="{2CE1F30D-67D3-C19A-2EA8-2F95FADA6D9C}"/>
              </a:ext>
            </a:extLst>
          </p:cNvPr>
          <p:cNvGrpSpPr/>
          <p:nvPr userDrawn="1"/>
        </p:nvGrpSpPr>
        <p:grpSpPr>
          <a:xfrm>
            <a:off x="1308118" y="4654856"/>
            <a:ext cx="938304" cy="840658"/>
            <a:chOff x="1572269" y="4816089"/>
            <a:chExt cx="938304" cy="840658"/>
          </a:xfrm>
        </p:grpSpPr>
        <p:sp>
          <p:nvSpPr>
            <p:cNvPr id="40" name="二等辺三角形 39">
              <a:extLst>
                <a:ext uri="{FF2B5EF4-FFF2-40B4-BE49-F238E27FC236}">
                  <a16:creationId xmlns:a16="http://schemas.microsoft.com/office/drawing/2014/main" id="{E9780E46-C155-1EC1-3DEF-E0C579376EAA}"/>
                </a:ext>
              </a:extLst>
            </p:cNvPr>
            <p:cNvSpPr/>
            <p:nvPr/>
          </p:nvSpPr>
          <p:spPr>
            <a:xfrm rot="4051206">
              <a:off x="1854270" y="5000443"/>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フリーフォーム: 図形 40">
              <a:extLst>
                <a:ext uri="{FF2B5EF4-FFF2-40B4-BE49-F238E27FC236}">
                  <a16:creationId xmlns:a16="http://schemas.microsoft.com/office/drawing/2014/main" id="{4A4675F7-CCB9-B468-0A09-2934FCB49E7E}"/>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grpSp>
      <p:sp>
        <p:nvSpPr>
          <p:cNvPr id="42" name="フリーフォーム: 図形 41">
            <a:extLst>
              <a:ext uri="{FF2B5EF4-FFF2-40B4-BE49-F238E27FC236}">
                <a16:creationId xmlns:a16="http://schemas.microsoft.com/office/drawing/2014/main" id="{9247C8B2-182C-C265-D9DF-AFFCDEB3F30C}"/>
              </a:ext>
            </a:extLst>
          </p:cNvPr>
          <p:cNvSpPr/>
          <p:nvPr userDrawn="1"/>
        </p:nvSpPr>
        <p:spPr>
          <a:xfrm>
            <a:off x="1256388" y="6352685"/>
            <a:ext cx="1380066" cy="202200"/>
          </a:xfrm>
          <a:custGeom>
            <a:avLst/>
            <a:gdLst>
              <a:gd name="csX0" fmla="*/ 0 w 1380066"/>
              <a:gd name="csY0" fmla="*/ 202199 h 202200"/>
              <a:gd name="csX1" fmla="*/ 1380066 w 1380066"/>
              <a:gd name="csY1" fmla="*/ 0 h 202200"/>
            </a:gdLst>
            <a:ahLst/>
            <a:cxnLst>
              <a:cxn ang="0">
                <a:pos x="csX0" y="csY0"/>
              </a:cxn>
              <a:cxn ang="0">
                <a:pos x="csX1" y="csY1"/>
              </a:cxn>
            </a:cxnLst>
            <a:rect l="l" t="t" r="r" b="b"/>
            <a:pathLst>
              <a:path w="1380066" h="202200" extrusionOk="0">
                <a:moveTo>
                  <a:pt x="0" y="202199"/>
                </a:moveTo>
                <a:cubicBezTo>
                  <a:pt x="579868" y="55242"/>
                  <a:pt x="825186" y="128242"/>
                  <a:pt x="1380066" y="0"/>
                </a:cubicBezTo>
              </a:path>
            </a:pathLst>
          </a:custGeom>
          <a:noFill/>
          <a:ln cap="rnd">
            <a:solidFill>
              <a:schemeClr val="accent4"/>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右大かっこ 42">
            <a:extLst>
              <a:ext uri="{FF2B5EF4-FFF2-40B4-BE49-F238E27FC236}">
                <a16:creationId xmlns:a16="http://schemas.microsoft.com/office/drawing/2014/main" id="{71025FB8-A1A7-CE8E-2E34-590F6B4B549B}"/>
              </a:ext>
            </a:extLst>
          </p:cNvPr>
          <p:cNvSpPr/>
          <p:nvPr userDrawn="1"/>
        </p:nvSpPr>
        <p:spPr>
          <a:xfrm>
            <a:off x="10875218" y="3429000"/>
            <a:ext cx="75875" cy="2144636"/>
          </a:xfrm>
          <a:custGeom>
            <a:avLst/>
            <a:gdLst>
              <a:gd name="csX0" fmla="*/ 0 w 75875"/>
              <a:gd name="csY0" fmla="*/ 0 h 2144636"/>
              <a:gd name="csX1" fmla="*/ 75875 w 75875"/>
              <a:gd name="csY1" fmla="*/ 6323 h 2144636"/>
              <a:gd name="csX2" fmla="*/ 75875 w 75875"/>
              <a:gd name="csY2" fmla="*/ 2138313 h 2144636"/>
              <a:gd name="csX3" fmla="*/ 0 w 75875"/>
              <a:gd name="csY3" fmla="*/ 2144636 h 2144636"/>
              <a:gd name="csX4" fmla="*/ 0 w 75875"/>
              <a:gd name="csY4" fmla="*/ 0 h 2144636"/>
              <a:gd name="csX0" fmla="*/ 0 w 75875"/>
              <a:gd name="csY0" fmla="*/ 0 h 2144636"/>
              <a:gd name="csX1" fmla="*/ 75875 w 75875"/>
              <a:gd name="csY1" fmla="*/ 6323 h 2144636"/>
              <a:gd name="csX2" fmla="*/ 75875 w 75875"/>
              <a:gd name="csY2" fmla="*/ 2138313 h 2144636"/>
              <a:gd name="csX3" fmla="*/ 0 w 75875"/>
              <a:gd name="csY3" fmla="*/ 2144636 h 2144636"/>
            </a:gdLst>
            <a:ahLst/>
            <a:cxnLst>
              <a:cxn ang="0">
                <a:pos x="csX0" y="csY0"/>
              </a:cxn>
              <a:cxn ang="0">
                <a:pos x="csX1" y="csY1"/>
              </a:cxn>
              <a:cxn ang="0">
                <a:pos x="csX2" y="csY2"/>
              </a:cxn>
              <a:cxn ang="0">
                <a:pos x="csX3" y="csY3"/>
              </a:cxn>
            </a:cxnLst>
            <a:rect l="l" t="t" r="r" b="b"/>
            <a:pathLst>
              <a:path w="75875" h="2144636" stroke="0" extrusionOk="0">
                <a:moveTo>
                  <a:pt x="0" y="0"/>
                </a:moveTo>
                <a:cubicBezTo>
                  <a:pt x="42231" y="260"/>
                  <a:pt x="75694" y="3473"/>
                  <a:pt x="75875" y="6323"/>
                </a:cubicBezTo>
                <a:cubicBezTo>
                  <a:pt x="36033" y="809005"/>
                  <a:pt x="117564" y="1463863"/>
                  <a:pt x="75875" y="2138313"/>
                </a:cubicBezTo>
                <a:cubicBezTo>
                  <a:pt x="75472" y="2141552"/>
                  <a:pt x="38285" y="2141821"/>
                  <a:pt x="0" y="2144636"/>
                </a:cubicBezTo>
                <a:cubicBezTo>
                  <a:pt x="132240" y="1282501"/>
                  <a:pt x="-92512" y="751834"/>
                  <a:pt x="0" y="0"/>
                </a:cubicBezTo>
                <a:close/>
              </a:path>
              <a:path w="75875" h="2144636" fill="none" extrusionOk="0">
                <a:moveTo>
                  <a:pt x="0" y="0"/>
                </a:moveTo>
                <a:cubicBezTo>
                  <a:pt x="42382" y="80"/>
                  <a:pt x="76249" y="3222"/>
                  <a:pt x="75875" y="6323"/>
                </a:cubicBezTo>
                <a:cubicBezTo>
                  <a:pt x="-24092" y="939947"/>
                  <a:pt x="-16176" y="1075997"/>
                  <a:pt x="75875" y="2138313"/>
                </a:cubicBezTo>
                <a:cubicBezTo>
                  <a:pt x="70834" y="2143479"/>
                  <a:pt x="44604" y="2144902"/>
                  <a:pt x="0" y="2144636"/>
                </a:cubicBezTo>
              </a:path>
              <a:path w="75875" h="2144636" fill="none" stroke="0" extrusionOk="0">
                <a:moveTo>
                  <a:pt x="0" y="0"/>
                </a:moveTo>
                <a:cubicBezTo>
                  <a:pt x="42098" y="-180"/>
                  <a:pt x="76088" y="3017"/>
                  <a:pt x="75875" y="6323"/>
                </a:cubicBezTo>
                <a:cubicBezTo>
                  <a:pt x="233756" y="726300"/>
                  <a:pt x="144075" y="1627586"/>
                  <a:pt x="75875" y="2138313"/>
                </a:cubicBezTo>
                <a:cubicBezTo>
                  <a:pt x="81323" y="2141035"/>
                  <a:pt x="43270" y="2142597"/>
                  <a:pt x="0" y="2144636"/>
                </a:cubicBezTo>
              </a:path>
            </a:pathLst>
          </a:custGeom>
          <a:ln w="19050">
            <a:solidFill>
              <a:schemeClr val="accent4"/>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BEC562EF-C993-6BA6-27AB-5AA25964F385}"/>
              </a:ext>
            </a:extLst>
          </p:cNvPr>
          <p:cNvSpPr txBox="1"/>
          <p:nvPr userDrawn="1"/>
        </p:nvSpPr>
        <p:spPr>
          <a:xfrm>
            <a:off x="8613397" y="3987244"/>
            <a:ext cx="1716014" cy="369332"/>
          </a:xfrm>
          <a:prstGeom prst="rect">
            <a:avLst/>
          </a:prstGeom>
          <a:solidFill>
            <a:srgbClr val="46877B"/>
          </a:solidFill>
        </p:spPr>
        <p:txBody>
          <a:bodyPr wrap="square">
            <a:spAutoFit/>
          </a:bodyPr>
          <a:lstStyle/>
          <a:p>
            <a:r>
              <a:rPr lang="en-US" altLang="ja-JP" b="1">
                <a:solidFill>
                  <a:schemeClr val="bg1"/>
                </a:solidFill>
                <a:latin typeface="游ゴシック" panose="020B0400000000000000" pitchFamily="50" charset="-128"/>
                <a:ea typeface="游ゴシック" panose="020B0400000000000000" pitchFamily="50" charset="-128"/>
              </a:rPr>
              <a:t> </a:t>
            </a:r>
            <a:r>
              <a:rPr lang="ja-JP" altLang="en-US" b="1">
                <a:solidFill>
                  <a:schemeClr val="bg1"/>
                </a:solidFill>
                <a:latin typeface="游ゴシック" panose="020B0400000000000000" pitchFamily="50" charset="-128"/>
                <a:ea typeface="游ゴシック" panose="020B0400000000000000" pitchFamily="50" charset="-128"/>
              </a:rPr>
              <a:t>何かの見出し</a:t>
            </a:r>
          </a:p>
        </p:txBody>
      </p:sp>
      <p:sp>
        <p:nvSpPr>
          <p:cNvPr id="45" name="フリーフォーム: 図形 44">
            <a:extLst>
              <a:ext uri="{FF2B5EF4-FFF2-40B4-BE49-F238E27FC236}">
                <a16:creationId xmlns:a16="http://schemas.microsoft.com/office/drawing/2014/main" id="{AE5FE25F-0D28-6F9E-AD72-3FC5C6312CD5}"/>
              </a:ext>
            </a:extLst>
          </p:cNvPr>
          <p:cNvSpPr/>
          <p:nvPr userDrawn="1"/>
        </p:nvSpPr>
        <p:spPr>
          <a:xfrm rot="2149832">
            <a:off x="1232946" y="5356494"/>
            <a:ext cx="1116215" cy="1248435"/>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矢印: 右 45">
            <a:extLst>
              <a:ext uri="{FF2B5EF4-FFF2-40B4-BE49-F238E27FC236}">
                <a16:creationId xmlns:a16="http://schemas.microsoft.com/office/drawing/2014/main" id="{466FF7BF-8733-71B2-6B3E-B2EE9F48E24F}"/>
              </a:ext>
            </a:extLst>
          </p:cNvPr>
          <p:cNvSpPr/>
          <p:nvPr userDrawn="1"/>
        </p:nvSpPr>
        <p:spPr>
          <a:xfrm>
            <a:off x="3724405" y="5310395"/>
            <a:ext cx="1797864" cy="1126627"/>
          </a:xfrm>
          <a:custGeom>
            <a:avLst/>
            <a:gdLst>
              <a:gd name="csX0" fmla="*/ 0 w 1797864"/>
              <a:gd name="csY0" fmla="*/ 281657 h 1126627"/>
              <a:gd name="csX1" fmla="*/ 1234551 w 1797864"/>
              <a:gd name="csY1" fmla="*/ 281657 h 1126627"/>
              <a:gd name="csX2" fmla="*/ 1234551 w 1797864"/>
              <a:gd name="csY2" fmla="*/ 0 h 1126627"/>
              <a:gd name="csX3" fmla="*/ 1797864 w 1797864"/>
              <a:gd name="csY3" fmla="*/ 563314 h 1126627"/>
              <a:gd name="csX4" fmla="*/ 1234551 w 1797864"/>
              <a:gd name="csY4" fmla="*/ 1126627 h 1126627"/>
              <a:gd name="csX5" fmla="*/ 1234551 w 1797864"/>
              <a:gd name="csY5" fmla="*/ 844970 h 1126627"/>
              <a:gd name="csX6" fmla="*/ 0 w 1797864"/>
              <a:gd name="csY6" fmla="*/ 844970 h 1126627"/>
              <a:gd name="csX7" fmla="*/ 0 w 1797864"/>
              <a:gd name="csY7" fmla="*/ 281657 h 11266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797864" h="1126627" fill="none" extrusionOk="0">
                <a:moveTo>
                  <a:pt x="0" y="281657"/>
                </a:moveTo>
                <a:cubicBezTo>
                  <a:pt x="441140" y="341876"/>
                  <a:pt x="815292" y="313239"/>
                  <a:pt x="1234551" y="281657"/>
                </a:cubicBezTo>
                <a:cubicBezTo>
                  <a:pt x="1258466" y="194755"/>
                  <a:pt x="1214082" y="130057"/>
                  <a:pt x="1234551" y="0"/>
                </a:cubicBezTo>
                <a:cubicBezTo>
                  <a:pt x="1321461" y="170749"/>
                  <a:pt x="1683272" y="515097"/>
                  <a:pt x="1797864" y="563314"/>
                </a:cubicBezTo>
                <a:cubicBezTo>
                  <a:pt x="1683170" y="648249"/>
                  <a:pt x="1372263" y="1063564"/>
                  <a:pt x="1234551" y="1126627"/>
                </a:cubicBezTo>
                <a:cubicBezTo>
                  <a:pt x="1228919" y="1080683"/>
                  <a:pt x="1223293" y="925170"/>
                  <a:pt x="1234551" y="844970"/>
                </a:cubicBezTo>
                <a:cubicBezTo>
                  <a:pt x="625859" y="796345"/>
                  <a:pt x="503036" y="798970"/>
                  <a:pt x="0" y="844970"/>
                </a:cubicBezTo>
                <a:cubicBezTo>
                  <a:pt x="12149" y="711576"/>
                  <a:pt x="-34350" y="429484"/>
                  <a:pt x="0" y="281657"/>
                </a:cubicBezTo>
                <a:close/>
              </a:path>
              <a:path w="1797864" h="1126627" stroke="0" extrusionOk="0">
                <a:moveTo>
                  <a:pt x="0" y="281657"/>
                </a:moveTo>
                <a:cubicBezTo>
                  <a:pt x="501690" y="291445"/>
                  <a:pt x="664348" y="302673"/>
                  <a:pt x="1234551" y="281657"/>
                </a:cubicBezTo>
                <a:cubicBezTo>
                  <a:pt x="1244995" y="149561"/>
                  <a:pt x="1246456" y="46048"/>
                  <a:pt x="1234551" y="0"/>
                </a:cubicBezTo>
                <a:cubicBezTo>
                  <a:pt x="1416517" y="201720"/>
                  <a:pt x="1516224" y="323140"/>
                  <a:pt x="1797864" y="563314"/>
                </a:cubicBezTo>
                <a:cubicBezTo>
                  <a:pt x="1604474" y="781173"/>
                  <a:pt x="1263864" y="996785"/>
                  <a:pt x="1234551" y="1126627"/>
                </a:cubicBezTo>
                <a:cubicBezTo>
                  <a:pt x="1244859" y="1090226"/>
                  <a:pt x="1246547" y="961132"/>
                  <a:pt x="1234551" y="844970"/>
                </a:cubicBezTo>
                <a:cubicBezTo>
                  <a:pt x="826782" y="735023"/>
                  <a:pt x="170652" y="758181"/>
                  <a:pt x="0" y="844970"/>
                </a:cubicBezTo>
                <a:cubicBezTo>
                  <a:pt x="-923" y="604596"/>
                  <a:pt x="-16096" y="399535"/>
                  <a:pt x="0" y="281657"/>
                </a:cubicBezTo>
                <a:close/>
              </a:path>
            </a:pathLst>
          </a:custGeom>
          <a:solidFill>
            <a:schemeClr val="accent4"/>
          </a:solidFill>
          <a:ln>
            <a:solidFill>
              <a:schemeClr val="accent4"/>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フリーフォーム: 図形 46">
            <a:extLst>
              <a:ext uri="{FF2B5EF4-FFF2-40B4-BE49-F238E27FC236}">
                <a16:creationId xmlns:a16="http://schemas.microsoft.com/office/drawing/2014/main" id="{ACD936A2-EC75-0B60-5056-1BE76B11D5CC}"/>
              </a:ext>
            </a:extLst>
          </p:cNvPr>
          <p:cNvSpPr/>
          <p:nvPr userDrawn="1"/>
        </p:nvSpPr>
        <p:spPr>
          <a:xfrm>
            <a:off x="529301" y="2977937"/>
            <a:ext cx="2457450" cy="553401"/>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noFill/>
          <a:ln w="38100">
            <a:solidFill>
              <a:schemeClr val="accent4"/>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8" name="グループ化 47">
            <a:extLst>
              <a:ext uri="{FF2B5EF4-FFF2-40B4-BE49-F238E27FC236}">
                <a16:creationId xmlns:a16="http://schemas.microsoft.com/office/drawing/2014/main" id="{9989E7F2-8281-2C60-5704-0FE6C9FCB1ED}"/>
              </a:ext>
            </a:extLst>
          </p:cNvPr>
          <p:cNvGrpSpPr/>
          <p:nvPr userDrawn="1"/>
        </p:nvGrpSpPr>
        <p:grpSpPr>
          <a:xfrm>
            <a:off x="7701975" y="5031844"/>
            <a:ext cx="866523" cy="923145"/>
            <a:chOff x="5897144" y="3284788"/>
            <a:chExt cx="866523" cy="923145"/>
          </a:xfrm>
        </p:grpSpPr>
        <p:sp>
          <p:nvSpPr>
            <p:cNvPr id="49" name="フリーフォーム: 図形 48">
              <a:extLst>
                <a:ext uri="{FF2B5EF4-FFF2-40B4-BE49-F238E27FC236}">
                  <a16:creationId xmlns:a16="http://schemas.microsoft.com/office/drawing/2014/main" id="{546566B1-B6E5-D124-1949-E69F0C70C37B}"/>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リーフォーム: 図形 49">
              <a:extLst>
                <a:ext uri="{FF2B5EF4-FFF2-40B4-BE49-F238E27FC236}">
                  <a16:creationId xmlns:a16="http://schemas.microsoft.com/office/drawing/2014/main" id="{A1AC64BB-628E-5FB9-8AE5-9E24F61AD860}"/>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図形 50">
              <a:extLst>
                <a:ext uri="{FF2B5EF4-FFF2-40B4-BE49-F238E27FC236}">
                  <a16:creationId xmlns:a16="http://schemas.microsoft.com/office/drawing/2014/main" id="{B0E863FB-B607-37A6-7ED3-6495D7CF3831}"/>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フリーフォーム: 図形 51">
              <a:extLst>
                <a:ext uri="{FF2B5EF4-FFF2-40B4-BE49-F238E27FC236}">
                  <a16:creationId xmlns:a16="http://schemas.microsoft.com/office/drawing/2014/main" id="{466C67EA-2E0E-1C8E-B917-CC651E147C4F}"/>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フリーフォーム: 図形 52">
              <a:extLst>
                <a:ext uri="{FF2B5EF4-FFF2-40B4-BE49-F238E27FC236}">
                  <a16:creationId xmlns:a16="http://schemas.microsoft.com/office/drawing/2014/main" id="{164C2256-08F8-9E72-4A9D-E18B6BD10964}"/>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419959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カードのレイアウト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37" name="タイトル 1">
            <a:extLst>
              <a:ext uri="{FF2B5EF4-FFF2-40B4-BE49-F238E27FC236}">
                <a16:creationId xmlns:a16="http://schemas.microsoft.com/office/drawing/2014/main" id="{78D1D0CB-61DB-45CF-BB98-F64E5CFFD78E}"/>
              </a:ext>
            </a:extLst>
          </p:cNvPr>
          <p:cNvSpPr txBox="1">
            <a:spLocks/>
          </p:cNvSpPr>
          <p:nvPr userDrawn="1"/>
        </p:nvSpPr>
        <p:spPr>
          <a:xfrm>
            <a:off x="558799" y="1015999"/>
            <a:ext cx="11357897" cy="938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a:t>３つあることが一目でわかる</a:t>
            </a:r>
          </a:p>
        </p:txBody>
      </p:sp>
      <p:sp>
        <p:nvSpPr>
          <p:cNvPr id="38" name="正方形/長方形 37">
            <a:extLst>
              <a:ext uri="{FF2B5EF4-FFF2-40B4-BE49-F238E27FC236}">
                <a16:creationId xmlns:a16="http://schemas.microsoft.com/office/drawing/2014/main" id="{AC27BEE4-F578-4B7C-3107-334C7F6DE565}"/>
              </a:ext>
            </a:extLst>
          </p:cNvPr>
          <p:cNvSpPr/>
          <p:nvPr userDrawn="1"/>
        </p:nvSpPr>
        <p:spPr>
          <a:xfrm>
            <a:off x="471271"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808B8C45-A79B-D0B5-1666-28B3A1E2AACE}"/>
              </a:ext>
            </a:extLst>
          </p:cNvPr>
          <p:cNvSpPr/>
          <p:nvPr userDrawn="1"/>
        </p:nvSpPr>
        <p:spPr>
          <a:xfrm>
            <a:off x="4314710" y="198778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FB43B874-BAC5-6431-CF18-9FD1255EF69C}"/>
              </a:ext>
            </a:extLst>
          </p:cNvPr>
          <p:cNvSpPr/>
          <p:nvPr userDrawn="1"/>
        </p:nvSpPr>
        <p:spPr>
          <a:xfrm>
            <a:off x="8131938" y="1994510"/>
            <a:ext cx="3649340" cy="4622190"/>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B1BED511-DC1C-FCFC-05B2-2705A5A5A674}"/>
              </a:ext>
            </a:extLst>
          </p:cNvPr>
          <p:cNvSpPr txBox="1"/>
          <p:nvPr userDrawn="1"/>
        </p:nvSpPr>
        <p:spPr>
          <a:xfrm>
            <a:off x="531259" y="2006597"/>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①</a:t>
            </a:r>
          </a:p>
        </p:txBody>
      </p:sp>
      <p:sp>
        <p:nvSpPr>
          <p:cNvPr id="42" name="テキスト ボックス 41">
            <a:extLst>
              <a:ext uri="{FF2B5EF4-FFF2-40B4-BE49-F238E27FC236}">
                <a16:creationId xmlns:a16="http://schemas.microsoft.com/office/drawing/2014/main" id="{4A118B43-1FF6-D4DB-0FA5-0D223AB8EB77}"/>
              </a:ext>
            </a:extLst>
          </p:cNvPr>
          <p:cNvSpPr txBox="1"/>
          <p:nvPr userDrawn="1"/>
        </p:nvSpPr>
        <p:spPr>
          <a:xfrm>
            <a:off x="4358102" y="2003704"/>
            <a:ext cx="954107" cy="369332"/>
          </a:xfrm>
          <a:prstGeom prst="rect">
            <a:avLst/>
          </a:prstGeom>
          <a:noFill/>
        </p:spPr>
        <p:txBody>
          <a:bodyPr wrap="none" rtlCol="0">
            <a:spAutoFit/>
          </a:bodyPr>
          <a:lstStyle/>
          <a:p>
            <a:r>
              <a:rPr kumimoji="1"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②</a:t>
            </a:r>
          </a:p>
        </p:txBody>
      </p:sp>
      <p:sp>
        <p:nvSpPr>
          <p:cNvPr id="43" name="テキスト ボックス 42">
            <a:extLst>
              <a:ext uri="{FF2B5EF4-FFF2-40B4-BE49-F238E27FC236}">
                <a16:creationId xmlns:a16="http://schemas.microsoft.com/office/drawing/2014/main" id="{80115C9B-AF94-3AA9-D4B1-273F756A8021}"/>
              </a:ext>
            </a:extLst>
          </p:cNvPr>
          <p:cNvSpPr txBox="1"/>
          <p:nvPr userDrawn="1"/>
        </p:nvSpPr>
        <p:spPr>
          <a:xfrm>
            <a:off x="479700"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44" name="テキスト ボックス 43">
            <a:extLst>
              <a:ext uri="{FF2B5EF4-FFF2-40B4-BE49-F238E27FC236}">
                <a16:creationId xmlns:a16="http://schemas.microsoft.com/office/drawing/2014/main" id="{7ABBAA0E-0A58-311E-1871-5F14AC74BC0E}"/>
              </a:ext>
            </a:extLst>
          </p:cNvPr>
          <p:cNvSpPr txBox="1"/>
          <p:nvPr userDrawn="1"/>
        </p:nvSpPr>
        <p:spPr>
          <a:xfrm>
            <a:off x="4333110" y="2280372"/>
            <a:ext cx="2698175" cy="523220"/>
          </a:xfrm>
          <a:prstGeom prst="rect">
            <a:avLst/>
          </a:prstGeom>
          <a:noFill/>
        </p:spPr>
        <p:txBody>
          <a:bodyPr wrap="none" rtlCol="0">
            <a:spAutoFit/>
          </a:bodyPr>
          <a:lstStyle/>
          <a:p>
            <a:r>
              <a:rPr lang="ja-JP" altLang="en-US" sz="2800" b="1">
                <a:solidFill>
                  <a:schemeClr val="accent4"/>
                </a:solidFill>
                <a:latin typeface="Noto Sans JP" panose="020B0200000000000000" pitchFamily="50" charset="-128"/>
                <a:ea typeface="Noto Sans JP" panose="020B0200000000000000" pitchFamily="50" charset="-128"/>
              </a:rPr>
              <a:t>カードの見出し</a:t>
            </a:r>
            <a:endParaRPr kumimoji="1" lang="ja-JP" altLang="en-US" sz="2800" b="1">
              <a:solidFill>
                <a:schemeClr val="accent4"/>
              </a:solidFill>
              <a:latin typeface="Noto Sans JP" panose="020B0200000000000000" pitchFamily="50" charset="-128"/>
              <a:ea typeface="Noto Sans JP" panose="020B0200000000000000" pitchFamily="50" charset="-128"/>
            </a:endParaRPr>
          </a:p>
        </p:txBody>
      </p:sp>
      <p:sp>
        <p:nvSpPr>
          <p:cNvPr id="45" name="テキスト ボックス 44">
            <a:extLst>
              <a:ext uri="{FF2B5EF4-FFF2-40B4-BE49-F238E27FC236}">
                <a16:creationId xmlns:a16="http://schemas.microsoft.com/office/drawing/2014/main" id="{B64BFFD4-2363-328C-748D-22810C993372}"/>
              </a:ext>
            </a:extLst>
          </p:cNvPr>
          <p:cNvSpPr txBox="1"/>
          <p:nvPr userDrawn="1"/>
        </p:nvSpPr>
        <p:spPr>
          <a:xfrm>
            <a:off x="8202685" y="2003704"/>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③</a:t>
            </a:r>
          </a:p>
        </p:txBody>
      </p:sp>
      <p:sp>
        <p:nvSpPr>
          <p:cNvPr id="46" name="テキスト ボックス 45">
            <a:extLst>
              <a:ext uri="{FF2B5EF4-FFF2-40B4-BE49-F238E27FC236}">
                <a16:creationId xmlns:a16="http://schemas.microsoft.com/office/drawing/2014/main" id="{129EFF9C-1D18-9203-835C-2566597BDF4A}"/>
              </a:ext>
            </a:extLst>
          </p:cNvPr>
          <p:cNvSpPr txBox="1"/>
          <p:nvPr userDrawn="1"/>
        </p:nvSpPr>
        <p:spPr>
          <a:xfrm>
            <a:off x="8148196"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Tree>
    <p:extLst>
      <p:ext uri="{BB962C8B-B14F-4D97-AF65-F5344CB8AC3E}">
        <p14:creationId xmlns:p14="http://schemas.microsoft.com/office/powerpoint/2010/main" val="3456088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カードのレイアウト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3" name="タイトル 1">
            <a:extLst>
              <a:ext uri="{FF2B5EF4-FFF2-40B4-BE49-F238E27FC236}">
                <a16:creationId xmlns:a16="http://schemas.microsoft.com/office/drawing/2014/main" id="{C22FC225-899F-8655-F094-A5DA76C5F319}"/>
              </a:ext>
            </a:extLst>
          </p:cNvPr>
          <p:cNvSpPr txBox="1">
            <a:spLocks/>
          </p:cNvSpPr>
          <p:nvPr userDrawn="1"/>
        </p:nvSpPr>
        <p:spPr>
          <a:xfrm>
            <a:off x="558799" y="1015999"/>
            <a:ext cx="11357897" cy="938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a:t>順序関係がある場合は並列よりこちらが良い</a:t>
            </a:r>
          </a:p>
        </p:txBody>
      </p:sp>
      <p:sp>
        <p:nvSpPr>
          <p:cNvPr id="24" name="正方形/長方形 23">
            <a:extLst>
              <a:ext uri="{FF2B5EF4-FFF2-40B4-BE49-F238E27FC236}">
                <a16:creationId xmlns:a16="http://schemas.microsoft.com/office/drawing/2014/main" id="{07538261-C2D1-41CB-7CB2-9A50D54FF18B}"/>
              </a:ext>
            </a:extLst>
          </p:cNvPr>
          <p:cNvSpPr/>
          <p:nvPr userDrawn="1"/>
        </p:nvSpPr>
        <p:spPr>
          <a:xfrm>
            <a:off x="471270" y="1994510"/>
            <a:ext cx="4333735" cy="3452668"/>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BA6D927B-2C58-B14D-DE82-20F5194DECDF}"/>
              </a:ext>
            </a:extLst>
          </p:cNvPr>
          <p:cNvSpPr/>
          <p:nvPr userDrawn="1"/>
        </p:nvSpPr>
        <p:spPr>
          <a:xfrm>
            <a:off x="3975496" y="2474477"/>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D381E739-ED67-A5CF-172A-CAFDCB26D371}"/>
              </a:ext>
            </a:extLst>
          </p:cNvPr>
          <p:cNvSpPr/>
          <p:nvPr userDrawn="1"/>
        </p:nvSpPr>
        <p:spPr>
          <a:xfrm>
            <a:off x="7479722" y="2962880"/>
            <a:ext cx="4333735" cy="3461104"/>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6051F105-CFB9-7D59-7C57-E5A120588A65}"/>
              </a:ext>
            </a:extLst>
          </p:cNvPr>
          <p:cNvSpPr txBox="1"/>
          <p:nvPr userDrawn="1"/>
        </p:nvSpPr>
        <p:spPr>
          <a:xfrm>
            <a:off x="531259" y="2006597"/>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①</a:t>
            </a:r>
          </a:p>
        </p:txBody>
      </p:sp>
      <p:sp>
        <p:nvSpPr>
          <p:cNvPr id="28" name="テキスト ボックス 27">
            <a:extLst>
              <a:ext uri="{FF2B5EF4-FFF2-40B4-BE49-F238E27FC236}">
                <a16:creationId xmlns:a16="http://schemas.microsoft.com/office/drawing/2014/main" id="{737E1505-E7CC-1E79-F363-428D88E12465}"/>
              </a:ext>
            </a:extLst>
          </p:cNvPr>
          <p:cNvSpPr txBox="1"/>
          <p:nvPr userDrawn="1"/>
        </p:nvSpPr>
        <p:spPr>
          <a:xfrm>
            <a:off x="4018889" y="2490401"/>
            <a:ext cx="954107" cy="369332"/>
          </a:xfrm>
          <a:prstGeom prst="rect">
            <a:avLst/>
          </a:prstGeom>
          <a:noFill/>
        </p:spPr>
        <p:txBody>
          <a:bodyPr wrap="none" rtlCol="0">
            <a:spAutoFit/>
          </a:bodyPr>
          <a:lstStyle/>
          <a:p>
            <a:r>
              <a:rPr kumimoji="1"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②</a:t>
            </a:r>
          </a:p>
        </p:txBody>
      </p:sp>
      <p:sp>
        <p:nvSpPr>
          <p:cNvPr id="29" name="テキスト ボックス 28">
            <a:extLst>
              <a:ext uri="{FF2B5EF4-FFF2-40B4-BE49-F238E27FC236}">
                <a16:creationId xmlns:a16="http://schemas.microsoft.com/office/drawing/2014/main" id="{A3A02162-4BC1-6C66-A647-B86BAEAAFB93}"/>
              </a:ext>
            </a:extLst>
          </p:cNvPr>
          <p:cNvSpPr txBox="1"/>
          <p:nvPr userDrawn="1"/>
        </p:nvSpPr>
        <p:spPr>
          <a:xfrm>
            <a:off x="479700"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30" name="テキスト ボックス 29">
            <a:extLst>
              <a:ext uri="{FF2B5EF4-FFF2-40B4-BE49-F238E27FC236}">
                <a16:creationId xmlns:a16="http://schemas.microsoft.com/office/drawing/2014/main" id="{0608C1CF-9A0F-C625-8488-F744B8270D3A}"/>
              </a:ext>
            </a:extLst>
          </p:cNvPr>
          <p:cNvSpPr txBox="1"/>
          <p:nvPr userDrawn="1"/>
        </p:nvSpPr>
        <p:spPr>
          <a:xfrm>
            <a:off x="3993897" y="2767069"/>
            <a:ext cx="2698175" cy="523220"/>
          </a:xfrm>
          <a:prstGeom prst="rect">
            <a:avLst/>
          </a:prstGeom>
          <a:noFill/>
        </p:spPr>
        <p:txBody>
          <a:bodyPr wrap="none" rtlCol="0">
            <a:spAutoFit/>
          </a:bodyPr>
          <a:lstStyle/>
          <a:p>
            <a:r>
              <a:rPr lang="ja-JP" altLang="en-US" sz="2800" b="1">
                <a:solidFill>
                  <a:schemeClr val="accent4"/>
                </a:solidFill>
                <a:latin typeface="Noto Sans JP" panose="020B0200000000000000" pitchFamily="50" charset="-128"/>
                <a:ea typeface="Noto Sans JP" panose="020B0200000000000000" pitchFamily="50" charset="-128"/>
              </a:rPr>
              <a:t>カードの見出し</a:t>
            </a:r>
            <a:endParaRPr kumimoji="1" lang="ja-JP" altLang="en-US" sz="2800" b="1">
              <a:solidFill>
                <a:schemeClr val="accent4"/>
              </a:solidFill>
              <a:latin typeface="Noto Sans JP" panose="020B0200000000000000" pitchFamily="50" charset="-128"/>
              <a:ea typeface="Noto Sans JP" panose="020B0200000000000000" pitchFamily="50" charset="-128"/>
            </a:endParaRPr>
          </a:p>
        </p:txBody>
      </p:sp>
      <p:sp>
        <p:nvSpPr>
          <p:cNvPr id="31" name="テキスト ボックス 30">
            <a:extLst>
              <a:ext uri="{FF2B5EF4-FFF2-40B4-BE49-F238E27FC236}">
                <a16:creationId xmlns:a16="http://schemas.microsoft.com/office/drawing/2014/main" id="{33188FAD-324B-429C-F93C-6CC1707BC00B}"/>
              </a:ext>
            </a:extLst>
          </p:cNvPr>
          <p:cNvSpPr txBox="1"/>
          <p:nvPr userDrawn="1"/>
        </p:nvSpPr>
        <p:spPr>
          <a:xfrm>
            <a:off x="7550470" y="2972074"/>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③</a:t>
            </a:r>
          </a:p>
        </p:txBody>
      </p:sp>
      <p:sp>
        <p:nvSpPr>
          <p:cNvPr id="32" name="テキスト ボックス 31">
            <a:extLst>
              <a:ext uri="{FF2B5EF4-FFF2-40B4-BE49-F238E27FC236}">
                <a16:creationId xmlns:a16="http://schemas.microsoft.com/office/drawing/2014/main" id="{CA857E29-7B48-8460-240E-D71974A4AE83}"/>
              </a:ext>
            </a:extLst>
          </p:cNvPr>
          <p:cNvSpPr txBox="1"/>
          <p:nvPr userDrawn="1"/>
        </p:nvSpPr>
        <p:spPr>
          <a:xfrm>
            <a:off x="7495981" y="324874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grpSp>
        <p:nvGrpSpPr>
          <p:cNvPr id="33" name="グループ化 32">
            <a:extLst>
              <a:ext uri="{FF2B5EF4-FFF2-40B4-BE49-F238E27FC236}">
                <a16:creationId xmlns:a16="http://schemas.microsoft.com/office/drawing/2014/main" id="{2427427D-6735-FCE0-2D3E-02AA51E0A977}"/>
              </a:ext>
            </a:extLst>
          </p:cNvPr>
          <p:cNvGrpSpPr/>
          <p:nvPr userDrawn="1"/>
        </p:nvGrpSpPr>
        <p:grpSpPr>
          <a:xfrm rot="19356426" flipV="1">
            <a:off x="4678821" y="1901851"/>
            <a:ext cx="638334" cy="948153"/>
            <a:chOff x="2664127" y="3374455"/>
            <a:chExt cx="1201975" cy="1567649"/>
          </a:xfrm>
        </p:grpSpPr>
        <p:sp>
          <p:nvSpPr>
            <p:cNvPr id="34" name="二等辺三角形 33">
              <a:extLst>
                <a:ext uri="{FF2B5EF4-FFF2-40B4-BE49-F238E27FC236}">
                  <a16:creationId xmlns:a16="http://schemas.microsoft.com/office/drawing/2014/main" id="{57EAC28B-725F-4422-230A-22EFFCEC4DAB}"/>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フリーフォーム: 図形 34">
              <a:extLst>
                <a:ext uri="{FF2B5EF4-FFF2-40B4-BE49-F238E27FC236}">
                  <a16:creationId xmlns:a16="http://schemas.microsoft.com/office/drawing/2014/main" id="{7331F186-5625-89D0-93F2-A2EAFFA274F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6" name="グループ化 35">
            <a:extLst>
              <a:ext uri="{FF2B5EF4-FFF2-40B4-BE49-F238E27FC236}">
                <a16:creationId xmlns:a16="http://schemas.microsoft.com/office/drawing/2014/main" id="{666428B1-0E40-4B84-C5D4-9BD652D21B99}"/>
              </a:ext>
            </a:extLst>
          </p:cNvPr>
          <p:cNvGrpSpPr/>
          <p:nvPr userDrawn="1"/>
        </p:nvGrpSpPr>
        <p:grpSpPr>
          <a:xfrm rot="19356426" flipV="1">
            <a:off x="8176087" y="2353531"/>
            <a:ext cx="638334" cy="948153"/>
            <a:chOff x="2664127" y="3374455"/>
            <a:chExt cx="1201975" cy="1567649"/>
          </a:xfrm>
        </p:grpSpPr>
        <p:sp>
          <p:nvSpPr>
            <p:cNvPr id="37" name="二等辺三角形 36">
              <a:extLst>
                <a:ext uri="{FF2B5EF4-FFF2-40B4-BE49-F238E27FC236}">
                  <a16:creationId xmlns:a16="http://schemas.microsoft.com/office/drawing/2014/main" id="{634E3423-964F-1F31-158A-0BA79770C690}"/>
                </a:ext>
              </a:extLst>
            </p:cNvPr>
            <p:cNvSpPr/>
            <p:nvPr/>
          </p:nvSpPr>
          <p:spPr>
            <a:xfrm rot="21516842">
              <a:off x="3025444" y="3374455"/>
              <a:ext cx="840658" cy="471949"/>
            </a:xfrm>
            <a:prstGeom prst="triangl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フリーフォーム: 図形 37">
              <a:extLst>
                <a:ext uri="{FF2B5EF4-FFF2-40B4-BE49-F238E27FC236}">
                  <a16:creationId xmlns:a16="http://schemas.microsoft.com/office/drawing/2014/main" id="{8A8264AF-CFEB-8750-6969-C961E4B9F455}"/>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652398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カードのレイアウト">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E4981D-F3E1-A957-C0E7-47018581307B}"/>
              </a:ext>
            </a:extLst>
          </p:cNvPr>
          <p:cNvSpPr>
            <a:spLocks noGrp="1"/>
          </p:cNvSpPr>
          <p:nvPr>
            <p:ph type="title"/>
          </p:nvPr>
        </p:nvSpPr>
        <p:spPr>
          <a:xfrm>
            <a:off x="838200" y="231697"/>
            <a:ext cx="8268093" cy="457044"/>
          </a:xfrm>
        </p:spPr>
        <p:txBody>
          <a:bodyPr>
            <a:noAutofit/>
          </a:bodyPr>
          <a:lstStyle>
            <a:lvl1pPr>
              <a:defRPr sz="2800">
                <a:solidFill>
                  <a:schemeClr val="bg1"/>
                </a:solidFill>
              </a:defRPr>
            </a:lvl1pPr>
          </a:lstStyle>
          <a:p>
            <a:r>
              <a:rPr kumimoji="1" lang="ja-JP" altLang="en-US"/>
              <a:t>マスター タイトルの書式設定</a:t>
            </a:r>
          </a:p>
        </p:txBody>
      </p:sp>
      <p:sp>
        <p:nvSpPr>
          <p:cNvPr id="6" name="スライド番号プレースホルダー 5">
            <a:extLst>
              <a:ext uri="{FF2B5EF4-FFF2-40B4-BE49-F238E27FC236}">
                <a16:creationId xmlns:a16="http://schemas.microsoft.com/office/drawing/2014/main" id="{1978F53E-4C54-5978-324C-CDA5322A0EDC}"/>
              </a:ext>
            </a:extLst>
          </p:cNvPr>
          <p:cNvSpPr>
            <a:spLocks noGrp="1"/>
          </p:cNvSpPr>
          <p:nvPr>
            <p:ph type="sldNum" sz="quarter" idx="12"/>
          </p:nvPr>
        </p:nvSpPr>
        <p:spPr>
          <a:xfrm>
            <a:off x="11160803" y="277657"/>
            <a:ext cx="838200" cy="365125"/>
          </a:xfrm>
        </p:spPr>
        <p:txBody>
          <a:bodyPr/>
          <a:lstStyle>
            <a:lvl1pPr algn="ctr">
              <a:defRPr sz="1800">
                <a:solidFill>
                  <a:schemeClr val="bg1"/>
                </a:solidFill>
              </a:defRPr>
            </a:lvl1pPr>
          </a:lstStyle>
          <a:p>
            <a:fld id="{8D1BC46D-89B1-41A3-BBA1-F56BEABD0A90}" type="slidenum">
              <a:rPr lang="ja-JP" altLang="en-US" smtClean="0"/>
              <a:pPr/>
              <a:t>‹#›</a:t>
            </a:fld>
            <a:endParaRPr lang="ja-JP" altLang="en-US"/>
          </a:p>
        </p:txBody>
      </p:sp>
      <p:sp>
        <p:nvSpPr>
          <p:cNvPr id="3" name="タイトル 1">
            <a:extLst>
              <a:ext uri="{FF2B5EF4-FFF2-40B4-BE49-F238E27FC236}">
                <a16:creationId xmlns:a16="http://schemas.microsoft.com/office/drawing/2014/main" id="{39E28735-E38E-FA76-E836-AFAD95876608}"/>
              </a:ext>
            </a:extLst>
          </p:cNvPr>
          <p:cNvSpPr txBox="1">
            <a:spLocks/>
          </p:cNvSpPr>
          <p:nvPr userDrawn="1"/>
        </p:nvSpPr>
        <p:spPr>
          <a:xfrm>
            <a:off x="558799" y="1015999"/>
            <a:ext cx="11357897" cy="938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3600"/>
              <a:t>カードの間隔やアスペクト比は適宜調整</a:t>
            </a:r>
          </a:p>
        </p:txBody>
      </p:sp>
      <p:sp>
        <p:nvSpPr>
          <p:cNvPr id="24" name="正方形/長方形 23">
            <a:extLst>
              <a:ext uri="{FF2B5EF4-FFF2-40B4-BE49-F238E27FC236}">
                <a16:creationId xmlns:a16="http://schemas.microsoft.com/office/drawing/2014/main" id="{7BFE6030-7EF2-D499-592E-1D382FDD691D}"/>
              </a:ext>
            </a:extLst>
          </p:cNvPr>
          <p:cNvSpPr/>
          <p:nvPr userDrawn="1"/>
        </p:nvSpPr>
        <p:spPr>
          <a:xfrm>
            <a:off x="640876"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70A8E374-8498-BBA7-13BD-C9875DF93B2F}"/>
              </a:ext>
            </a:extLst>
          </p:cNvPr>
          <p:cNvSpPr txBox="1"/>
          <p:nvPr userDrawn="1"/>
        </p:nvSpPr>
        <p:spPr>
          <a:xfrm>
            <a:off x="700865" y="2006597"/>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①</a:t>
            </a:r>
          </a:p>
        </p:txBody>
      </p:sp>
      <p:sp>
        <p:nvSpPr>
          <p:cNvPr id="26" name="テキスト ボックス 25">
            <a:extLst>
              <a:ext uri="{FF2B5EF4-FFF2-40B4-BE49-F238E27FC236}">
                <a16:creationId xmlns:a16="http://schemas.microsoft.com/office/drawing/2014/main" id="{8F563E06-2EF1-7D3C-6BBC-5190953ECB2C}"/>
              </a:ext>
            </a:extLst>
          </p:cNvPr>
          <p:cNvSpPr txBox="1"/>
          <p:nvPr userDrawn="1"/>
        </p:nvSpPr>
        <p:spPr>
          <a:xfrm>
            <a:off x="649306"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27" name="正方形/長方形 26">
            <a:extLst>
              <a:ext uri="{FF2B5EF4-FFF2-40B4-BE49-F238E27FC236}">
                <a16:creationId xmlns:a16="http://schemas.microsoft.com/office/drawing/2014/main" id="{8819E9C6-0B50-DA8E-DBFC-95D84C86E41D}"/>
              </a:ext>
            </a:extLst>
          </p:cNvPr>
          <p:cNvSpPr/>
          <p:nvPr userDrawn="1"/>
        </p:nvSpPr>
        <p:spPr>
          <a:xfrm>
            <a:off x="640876"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8620371E-1F48-B44D-4136-4B85A6D82755}"/>
              </a:ext>
            </a:extLst>
          </p:cNvPr>
          <p:cNvSpPr txBox="1"/>
          <p:nvPr userDrawn="1"/>
        </p:nvSpPr>
        <p:spPr>
          <a:xfrm>
            <a:off x="700865" y="4403210"/>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lang="ja-JP" altLang="en-US" b="1">
                <a:solidFill>
                  <a:schemeClr val="tx2"/>
                </a:solidFill>
                <a:latin typeface="Noto Sans JP" panose="020B0200000000000000" pitchFamily="50" charset="-128"/>
                <a:ea typeface="Noto Sans JP" panose="020B0200000000000000" pitchFamily="50" charset="-128"/>
              </a:rPr>
              <a:t>②</a:t>
            </a:r>
            <a:endParaRPr kumimoji="1" lang="ja-JP" altLang="en-US" b="1">
              <a:solidFill>
                <a:schemeClr val="tx2"/>
              </a:solidFill>
              <a:latin typeface="Noto Sans JP" panose="020B0200000000000000" pitchFamily="50" charset="-128"/>
              <a:ea typeface="Noto Sans JP" panose="020B0200000000000000" pitchFamily="50" charset="-128"/>
            </a:endParaRPr>
          </a:p>
        </p:txBody>
      </p:sp>
      <p:sp>
        <p:nvSpPr>
          <p:cNvPr id="29" name="テキスト ボックス 28">
            <a:extLst>
              <a:ext uri="{FF2B5EF4-FFF2-40B4-BE49-F238E27FC236}">
                <a16:creationId xmlns:a16="http://schemas.microsoft.com/office/drawing/2014/main" id="{4A059C68-85AE-C315-2356-95E710B35D69}"/>
              </a:ext>
            </a:extLst>
          </p:cNvPr>
          <p:cNvSpPr txBox="1"/>
          <p:nvPr userDrawn="1"/>
        </p:nvSpPr>
        <p:spPr>
          <a:xfrm>
            <a:off x="649306" y="4676985"/>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30" name="正方形/長方形 29">
            <a:extLst>
              <a:ext uri="{FF2B5EF4-FFF2-40B4-BE49-F238E27FC236}">
                <a16:creationId xmlns:a16="http://schemas.microsoft.com/office/drawing/2014/main" id="{628E01E4-69D9-4079-791C-DB5ACA6A8DCA}"/>
              </a:ext>
            </a:extLst>
          </p:cNvPr>
          <p:cNvSpPr/>
          <p:nvPr userDrawn="1"/>
        </p:nvSpPr>
        <p:spPr>
          <a:xfrm>
            <a:off x="6201018" y="1994510"/>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CFB27F8B-5228-3D60-B5D3-6B17B425CCA1}"/>
              </a:ext>
            </a:extLst>
          </p:cNvPr>
          <p:cNvSpPr txBox="1"/>
          <p:nvPr userDrawn="1"/>
        </p:nvSpPr>
        <p:spPr>
          <a:xfrm>
            <a:off x="6261007" y="2006597"/>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③</a:t>
            </a:r>
          </a:p>
        </p:txBody>
      </p:sp>
      <p:sp>
        <p:nvSpPr>
          <p:cNvPr id="32" name="テキスト ボックス 31">
            <a:extLst>
              <a:ext uri="{FF2B5EF4-FFF2-40B4-BE49-F238E27FC236}">
                <a16:creationId xmlns:a16="http://schemas.microsoft.com/office/drawing/2014/main" id="{9C53E43C-0B35-6DB4-E322-C1A0F5EEAC54}"/>
              </a:ext>
            </a:extLst>
          </p:cNvPr>
          <p:cNvSpPr txBox="1"/>
          <p:nvPr userDrawn="1"/>
        </p:nvSpPr>
        <p:spPr>
          <a:xfrm>
            <a:off x="6209448" y="2280372"/>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
        <p:nvSpPr>
          <p:cNvPr id="33" name="正方形/長方形 32">
            <a:extLst>
              <a:ext uri="{FF2B5EF4-FFF2-40B4-BE49-F238E27FC236}">
                <a16:creationId xmlns:a16="http://schemas.microsoft.com/office/drawing/2014/main" id="{589387FE-DDA6-2CC1-4F9C-7B61147D15AB}"/>
              </a:ext>
            </a:extLst>
          </p:cNvPr>
          <p:cNvSpPr/>
          <p:nvPr userDrawn="1"/>
        </p:nvSpPr>
        <p:spPr>
          <a:xfrm>
            <a:off x="6201018" y="4391123"/>
            <a:ext cx="5341676" cy="2194032"/>
          </a:xfrm>
          <a:prstGeom prst="rect">
            <a:avLst/>
          </a:prstGeom>
          <a:solidFill>
            <a:srgbClr val="FFFFFF"/>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8D62D2F4-0791-47B5-FF25-3840506A48C3}"/>
              </a:ext>
            </a:extLst>
          </p:cNvPr>
          <p:cNvSpPr txBox="1"/>
          <p:nvPr userDrawn="1"/>
        </p:nvSpPr>
        <p:spPr>
          <a:xfrm>
            <a:off x="6261007" y="4403210"/>
            <a:ext cx="954107" cy="369332"/>
          </a:xfrm>
          <a:prstGeom prst="rect">
            <a:avLst/>
          </a:prstGeom>
          <a:noFill/>
        </p:spPr>
        <p:txBody>
          <a:bodyPr wrap="none" rtlCol="0">
            <a:spAutoFit/>
          </a:bodyPr>
          <a:lstStyle/>
          <a:p>
            <a:r>
              <a:rPr lang="ja-JP" altLang="en-US" sz="1400" b="1">
                <a:solidFill>
                  <a:schemeClr val="tx2"/>
                </a:solidFill>
                <a:latin typeface="Noto Sans JP" panose="020B0200000000000000" pitchFamily="50" charset="-128"/>
                <a:ea typeface="Noto Sans JP" panose="020B0200000000000000" pitchFamily="50" charset="-128"/>
              </a:rPr>
              <a:t>カード</a:t>
            </a:r>
            <a:r>
              <a:rPr kumimoji="1" lang="ja-JP" altLang="en-US" b="1">
                <a:solidFill>
                  <a:schemeClr val="tx2"/>
                </a:solidFill>
                <a:latin typeface="Noto Sans JP" panose="020B0200000000000000" pitchFamily="50" charset="-128"/>
                <a:ea typeface="Noto Sans JP" panose="020B0200000000000000" pitchFamily="50" charset="-128"/>
              </a:rPr>
              <a:t>④</a:t>
            </a:r>
          </a:p>
        </p:txBody>
      </p:sp>
      <p:sp>
        <p:nvSpPr>
          <p:cNvPr id="35" name="テキスト ボックス 34">
            <a:extLst>
              <a:ext uri="{FF2B5EF4-FFF2-40B4-BE49-F238E27FC236}">
                <a16:creationId xmlns:a16="http://schemas.microsoft.com/office/drawing/2014/main" id="{5AB2D310-65D0-88A2-45CF-027ACD78E56B}"/>
              </a:ext>
            </a:extLst>
          </p:cNvPr>
          <p:cNvSpPr txBox="1"/>
          <p:nvPr userDrawn="1"/>
        </p:nvSpPr>
        <p:spPr>
          <a:xfrm>
            <a:off x="6209448" y="4676985"/>
            <a:ext cx="2698175" cy="523220"/>
          </a:xfrm>
          <a:prstGeom prst="rect">
            <a:avLst/>
          </a:prstGeom>
          <a:noFill/>
        </p:spPr>
        <p:txBody>
          <a:bodyPr wrap="none" rtlCol="0">
            <a:spAutoFit/>
          </a:bodyPr>
          <a:lstStyle/>
          <a:p>
            <a:r>
              <a:rPr kumimoji="1" lang="ja-JP" altLang="en-US" sz="2800" b="1">
                <a:solidFill>
                  <a:schemeClr val="accent4"/>
                </a:solidFill>
                <a:latin typeface="Noto Sans JP" panose="020B0200000000000000" pitchFamily="50" charset="-128"/>
                <a:ea typeface="Noto Sans JP" panose="020B0200000000000000" pitchFamily="50" charset="-128"/>
              </a:rPr>
              <a:t>カードの見出し</a:t>
            </a:r>
          </a:p>
        </p:txBody>
      </p:sp>
    </p:spTree>
    <p:extLst>
      <p:ext uri="{BB962C8B-B14F-4D97-AF65-F5344CB8AC3E}">
        <p14:creationId xmlns:p14="http://schemas.microsoft.com/office/powerpoint/2010/main" val="18169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5E7773E-9F3C-8547-1887-EDE1B77EC8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F238FCC-BF83-0877-84B7-63F27C6E69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C07774-86F2-4BBC-8586-A1C4D2F7E1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0A137C-E3B5-4111-BA28-0A9D5E6D313C}" type="datetime1">
              <a:rPr kumimoji="1" lang="ja-JP" altLang="en-US" smtClean="0"/>
              <a:t>2026/3/3</a:t>
            </a:fld>
            <a:endParaRPr kumimoji="1" lang="ja-JP" altLang="en-US"/>
          </a:p>
        </p:txBody>
      </p:sp>
      <p:sp>
        <p:nvSpPr>
          <p:cNvPr id="5" name="フッター プレースホルダー 4">
            <a:extLst>
              <a:ext uri="{FF2B5EF4-FFF2-40B4-BE49-F238E27FC236}">
                <a16:creationId xmlns:a16="http://schemas.microsoft.com/office/drawing/2014/main" id="{4652D4A6-47C1-76E5-9827-09C32C5135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3FCC9AF-D09C-9F9C-6CDF-787F38893259}"/>
              </a:ext>
            </a:extLst>
          </p:cNvPr>
          <p:cNvSpPr>
            <a:spLocks noGrp="1"/>
          </p:cNvSpPr>
          <p:nvPr>
            <p:ph type="sldNum" sz="quarter" idx="4"/>
          </p:nvPr>
        </p:nvSpPr>
        <p:spPr>
          <a:xfrm>
            <a:off x="11283352" y="115094"/>
            <a:ext cx="838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ctr"/>
            <a:fld id="{8D1BC46D-89B1-41A3-BBA1-F56BEABD0A90}" type="slidenum">
              <a:rPr lang="ja-JP" altLang="en-US" smtClean="0"/>
              <a:pPr algn="ctr"/>
              <a:t>‹#›</a:t>
            </a:fld>
            <a:endParaRPr lang="ja-JP" altLang="en-US"/>
          </a:p>
        </p:txBody>
      </p:sp>
    </p:spTree>
    <p:extLst>
      <p:ext uri="{BB962C8B-B14F-4D97-AF65-F5344CB8AC3E}">
        <p14:creationId xmlns:p14="http://schemas.microsoft.com/office/powerpoint/2010/main" val="3623714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3" r:id="rId6"/>
    <p:sldLayoutId id="2147483654" r:id="rId7"/>
    <p:sldLayoutId id="2147483655" r:id="rId8"/>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52B6F2-916C-5E7A-C693-13232F3A1713}"/>
              </a:ext>
            </a:extLst>
          </p:cNvPr>
          <p:cNvSpPr>
            <a:spLocks noGrp="1"/>
          </p:cNvSpPr>
          <p:nvPr>
            <p:ph type="ctrTitle"/>
          </p:nvPr>
        </p:nvSpPr>
        <p:spPr>
          <a:xfrm>
            <a:off x="1072178" y="1928809"/>
            <a:ext cx="9787667" cy="1655763"/>
          </a:xfrm>
        </p:spPr>
        <p:txBody>
          <a:bodyPr>
            <a:noAutofit/>
          </a:bodyPr>
          <a:lstStyle/>
          <a:p>
            <a:r>
              <a:rPr lang="ja-JP" altLang="en-US" sz="3200" b="1" dirty="0">
                <a:latin typeface="メイリオ" panose="020B0604030504040204" pitchFamily="50" charset="-128"/>
                <a:ea typeface="メイリオ" panose="020B0604030504040204" pitchFamily="50" charset="-128"/>
              </a:rPr>
              <a:t>所有者優先権を保証する</a:t>
            </a:r>
            <a:br>
              <a:rPr lang="en-US" altLang="ja-JP" sz="3200" b="1" dirty="0">
                <a:latin typeface="メイリオ" panose="020B0604030504040204" pitchFamily="50" charset="-128"/>
                <a:ea typeface="メイリオ" panose="020B0604030504040204" pitchFamily="50" charset="-128"/>
              </a:rPr>
            </a:br>
            <a:r>
              <a:rPr lang="ja-JP" altLang="en-US" sz="3200" b="1" dirty="0">
                <a:latin typeface="メイリオ" panose="020B0604030504040204" pitchFamily="50" charset="-128"/>
                <a:ea typeface="メイリオ" panose="020B0604030504040204" pitchFamily="50" charset="-128"/>
              </a:rPr>
              <a:t>プリエンプティブ方式を用いた</a:t>
            </a:r>
            <a:br>
              <a:rPr lang="en-US" altLang="ja-JP" sz="3200" b="1" dirty="0">
                <a:latin typeface="メイリオ" panose="020B0604030504040204" pitchFamily="50" charset="-128"/>
                <a:ea typeface="メイリオ" panose="020B0604030504040204" pitchFamily="50" charset="-128"/>
              </a:rPr>
            </a:br>
            <a:r>
              <a:rPr lang="ja-JP" altLang="en-US" sz="3200" b="1" dirty="0">
                <a:latin typeface="メイリオ" panose="020B0604030504040204" pitchFamily="50" charset="-128"/>
                <a:ea typeface="メイリオ" panose="020B0604030504040204" pitchFamily="50" charset="-128"/>
              </a:rPr>
              <a:t>学内</a:t>
            </a:r>
            <a:r>
              <a:rPr lang="en-US" altLang="ja-JP" sz="3200" b="1" dirty="0">
                <a:latin typeface="メイリオ" panose="020B0604030504040204" pitchFamily="50" charset="-128"/>
                <a:ea typeface="メイリオ" panose="020B0604030504040204" pitchFamily="50" charset="-128"/>
              </a:rPr>
              <a:t>GPU</a:t>
            </a:r>
            <a:r>
              <a:rPr lang="ja-JP" altLang="en-US" sz="3200" b="1" dirty="0">
                <a:latin typeface="メイリオ" panose="020B0604030504040204" pitchFamily="50" charset="-128"/>
                <a:ea typeface="メイリオ" panose="020B0604030504040204" pitchFamily="50" charset="-128"/>
              </a:rPr>
              <a:t>共有基盤の提案とユーザ参加行動の評価</a:t>
            </a:r>
            <a:endParaRPr kumimoji="1" lang="ja-JP" altLang="en-US" sz="3200" dirty="0"/>
          </a:p>
        </p:txBody>
      </p:sp>
      <p:sp>
        <p:nvSpPr>
          <p:cNvPr id="4" name="日付プレースホルダー 3">
            <a:extLst>
              <a:ext uri="{FF2B5EF4-FFF2-40B4-BE49-F238E27FC236}">
                <a16:creationId xmlns:a16="http://schemas.microsoft.com/office/drawing/2014/main" id="{67F54E07-85EE-5553-6864-9FE5FFD22D59}"/>
              </a:ext>
            </a:extLst>
          </p:cNvPr>
          <p:cNvSpPr>
            <a:spLocks noGrp="1"/>
          </p:cNvSpPr>
          <p:nvPr>
            <p:ph type="dt" sz="half" idx="10"/>
          </p:nvPr>
        </p:nvSpPr>
        <p:spPr/>
        <p:txBody>
          <a:bodyPr/>
          <a:lstStyle/>
          <a:p>
            <a:endParaRPr lang="ja-JP" altLang="en-US"/>
          </a:p>
        </p:txBody>
      </p:sp>
      <p:sp>
        <p:nvSpPr>
          <p:cNvPr id="5" name="テキスト プレースホルダー 4">
            <a:extLst>
              <a:ext uri="{FF2B5EF4-FFF2-40B4-BE49-F238E27FC236}">
                <a16:creationId xmlns:a16="http://schemas.microsoft.com/office/drawing/2014/main" id="{4E775116-9EEA-8BC4-FFDD-34C04598AA01}"/>
              </a:ext>
            </a:extLst>
          </p:cNvPr>
          <p:cNvSpPr>
            <a:spLocks noGrp="1"/>
          </p:cNvSpPr>
          <p:nvPr>
            <p:ph type="body" sz="quarter" idx="11"/>
          </p:nvPr>
        </p:nvSpPr>
        <p:spPr>
          <a:xfrm>
            <a:off x="7527235" y="4649808"/>
            <a:ext cx="1599727" cy="450386"/>
          </a:xfrm>
        </p:spPr>
        <p:txBody>
          <a:bodyPr>
            <a:normAutofit/>
          </a:bodyPr>
          <a:lstStyle/>
          <a:p>
            <a:r>
              <a:rPr lang="ja-JP" altLang="en-US" sz="2400" b="1" dirty="0"/>
              <a:t>大阪大学</a:t>
            </a:r>
            <a:endParaRPr kumimoji="1" lang="ja-JP" altLang="en-US" sz="2400" b="1" dirty="0"/>
          </a:p>
        </p:txBody>
      </p:sp>
      <p:sp>
        <p:nvSpPr>
          <p:cNvPr id="8" name="字幕 7">
            <a:extLst>
              <a:ext uri="{FF2B5EF4-FFF2-40B4-BE49-F238E27FC236}">
                <a16:creationId xmlns:a16="http://schemas.microsoft.com/office/drawing/2014/main" id="{346AAB66-6418-444C-B52B-AEB5CBA8D08A}"/>
              </a:ext>
            </a:extLst>
          </p:cNvPr>
          <p:cNvSpPr txBox="1">
            <a:spLocks noGrp="1"/>
          </p:cNvSpPr>
          <p:nvPr>
            <p:ph type="subTitle" idx="1"/>
          </p:nvPr>
        </p:nvSpPr>
        <p:spPr>
          <a:xfrm>
            <a:off x="2273694" y="3972694"/>
            <a:ext cx="9144000" cy="480131"/>
          </a:xfrm>
          <a:prstGeom prst="rect">
            <a:avLst/>
          </a:prstGeom>
          <a:noFill/>
        </p:spPr>
        <p:txBody>
          <a:bodyPr wrap="square" rtlCol="0">
            <a:spAutoFit/>
          </a:bodyPr>
          <a:lstStyle/>
          <a:p>
            <a:r>
              <a:rPr lang="zh-TW" altLang="en-US" u="none" dirty="0">
                <a:latin typeface="+mn-ea"/>
              </a:rPr>
              <a:t>櫻井 翔琉</a:t>
            </a:r>
            <a:r>
              <a:rPr lang="en-US" altLang="zh-TW" u="none" dirty="0">
                <a:latin typeface="+mn-ea"/>
              </a:rPr>
              <a:t>, </a:t>
            </a:r>
            <a:r>
              <a:rPr lang="zh-TW" altLang="en-US" u="none" dirty="0">
                <a:latin typeface="+mn-ea"/>
              </a:rPr>
              <a:t>源内 裕貴</a:t>
            </a:r>
            <a:r>
              <a:rPr lang="en-US" altLang="zh-TW" u="none" dirty="0">
                <a:latin typeface="+mn-ea"/>
              </a:rPr>
              <a:t>, </a:t>
            </a:r>
            <a:r>
              <a:rPr lang="zh-TW" altLang="en-US" u="none" dirty="0">
                <a:latin typeface="+mn-ea"/>
              </a:rPr>
              <a:t>大下 裕一</a:t>
            </a:r>
            <a:r>
              <a:rPr lang="en-US" altLang="zh-TW" u="none" dirty="0">
                <a:latin typeface="+mn-ea"/>
              </a:rPr>
              <a:t>, </a:t>
            </a:r>
            <a:r>
              <a:rPr lang="zh-TW" altLang="en-US" u="none" dirty="0">
                <a:latin typeface="+mn-ea"/>
              </a:rPr>
              <a:t>下西 英之</a:t>
            </a:r>
            <a:endParaRPr kumimoji="1" lang="ja-JP" altLang="en-US" sz="2800" u="none" dirty="0">
              <a:latin typeface="+mn-ea"/>
            </a:endParaRPr>
          </a:p>
        </p:txBody>
      </p:sp>
    </p:spTree>
    <p:extLst>
      <p:ext uri="{BB962C8B-B14F-4D97-AF65-F5344CB8AC3E}">
        <p14:creationId xmlns:p14="http://schemas.microsoft.com/office/powerpoint/2010/main" val="3681276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FE4376B-0BE6-DC44-9A92-9FB4E9E793D6}"/>
              </a:ext>
            </a:extLst>
          </p:cNvPr>
          <p:cNvSpPr>
            <a:spLocks noGrp="1"/>
          </p:cNvSpPr>
          <p:nvPr>
            <p:ph idx="1"/>
          </p:nvPr>
        </p:nvSpPr>
        <p:spPr>
          <a:xfrm>
            <a:off x="838200" y="1253331"/>
            <a:ext cx="10515600" cy="4893469"/>
          </a:xfrm>
        </p:spPr>
        <p:txBody>
          <a:bodyPr/>
          <a:lstStyle/>
          <a:p>
            <a:pPr marL="0" indent="0">
              <a:lnSpc>
                <a:spcPct val="150000"/>
              </a:lnSpc>
              <a:buNone/>
            </a:pPr>
            <a:r>
              <a:rPr lang="en-US" altLang="ja-JP" b="1" u="sng" dirty="0">
                <a:solidFill>
                  <a:schemeClr val="accent3">
                    <a:lumMod val="75000"/>
                  </a:schemeClr>
                </a:solidFill>
                <a:latin typeface="+mj-ea"/>
              </a:rPr>
              <a:t>GPU</a:t>
            </a:r>
            <a:r>
              <a:rPr lang="ja-JP" altLang="en-US" b="1" u="sng" dirty="0">
                <a:solidFill>
                  <a:schemeClr val="accent3">
                    <a:lumMod val="75000"/>
                  </a:schemeClr>
                </a:solidFill>
                <a:latin typeface="+mj-ea"/>
              </a:rPr>
              <a:t>の需要増加</a:t>
            </a:r>
            <a:endParaRPr lang="en-US" altLang="ja-JP" b="1" u="sng" dirty="0">
              <a:solidFill>
                <a:schemeClr val="accent3">
                  <a:lumMod val="75000"/>
                </a:schemeClr>
              </a:solidFill>
              <a:latin typeface="+mj-ea"/>
            </a:endParaRPr>
          </a:p>
          <a:p>
            <a:pPr marL="0" indent="0">
              <a:lnSpc>
                <a:spcPct val="150000"/>
              </a:lnSpc>
              <a:buNone/>
            </a:pPr>
            <a:r>
              <a:rPr lang="en-US" altLang="ja-JP" sz="2000" dirty="0"/>
              <a:t>AI</a:t>
            </a:r>
            <a:r>
              <a:rPr lang="ja-JP" altLang="en-US" sz="2000" dirty="0"/>
              <a:t>・データサイエンス分野の発展に伴い、</a:t>
            </a:r>
            <a:r>
              <a:rPr lang="en-US" altLang="ja-JP" sz="2000" dirty="0"/>
              <a:t>GPU</a:t>
            </a:r>
            <a:r>
              <a:rPr lang="ja-JP" altLang="en-US" sz="2000" dirty="0"/>
              <a:t>需要は年々増加している。</a:t>
            </a:r>
            <a:br>
              <a:rPr lang="ja-JP" altLang="en-US" sz="2000" dirty="0"/>
            </a:br>
            <a:r>
              <a:rPr lang="ja-JP" altLang="en-US" sz="2000" dirty="0"/>
              <a:t>特にデータセンター向け</a:t>
            </a:r>
            <a:r>
              <a:rPr lang="en-US" altLang="ja-JP" sz="2000" dirty="0"/>
              <a:t>GPU</a:t>
            </a:r>
            <a:r>
              <a:rPr lang="ja-JP" altLang="en-US" sz="2000" dirty="0"/>
              <a:t>市場は、今後も高い成長率で拡大すると予測されている</a:t>
            </a:r>
            <a:r>
              <a:rPr lang="en-US" altLang="ja-JP" sz="2000" dirty="0"/>
              <a:t>¹</a:t>
            </a:r>
            <a:r>
              <a:rPr lang="ja-JP" altLang="en-US" sz="2000" dirty="0"/>
              <a:t>。</a:t>
            </a:r>
            <a:endParaRPr lang="en-US" altLang="ja-JP" sz="2000" dirty="0"/>
          </a:p>
          <a:p>
            <a:pPr marL="0" indent="0">
              <a:lnSpc>
                <a:spcPct val="150000"/>
              </a:lnSpc>
              <a:buNone/>
            </a:pPr>
            <a:r>
              <a:rPr lang="en-US" altLang="ja-JP" b="1" u="sng" dirty="0">
                <a:solidFill>
                  <a:schemeClr val="accent3">
                    <a:lumMod val="75000"/>
                  </a:schemeClr>
                </a:solidFill>
              </a:rPr>
              <a:t>GPU</a:t>
            </a:r>
            <a:r>
              <a:rPr lang="ja-JP" altLang="en-US" b="1" u="sng" dirty="0">
                <a:solidFill>
                  <a:schemeClr val="accent3">
                    <a:lumMod val="75000"/>
                  </a:schemeClr>
                </a:solidFill>
              </a:rPr>
              <a:t>資源の高価さ・調達困難性</a:t>
            </a:r>
            <a:endParaRPr lang="en-US" altLang="ja-JP" b="1" u="sng" dirty="0">
              <a:solidFill>
                <a:schemeClr val="accent3">
                  <a:lumMod val="75000"/>
                </a:schemeClr>
              </a:solidFill>
            </a:endParaRPr>
          </a:p>
          <a:p>
            <a:pPr marL="0" indent="0">
              <a:lnSpc>
                <a:spcPct val="150000"/>
              </a:lnSpc>
              <a:buNone/>
            </a:pPr>
            <a:r>
              <a:rPr lang="ja-JP" altLang="en-US" sz="2000" dirty="0"/>
              <a:t>高性能</a:t>
            </a:r>
            <a:r>
              <a:rPr lang="en-US" altLang="ja-JP" sz="2000" dirty="0"/>
              <a:t>GPU</a:t>
            </a:r>
            <a:r>
              <a:rPr lang="ja-JP" altLang="en-US" sz="2000" dirty="0"/>
              <a:t>は製造コストが高く、また</a:t>
            </a:r>
            <a:r>
              <a:rPr lang="en-US" altLang="ja-JP" sz="2000" dirty="0"/>
              <a:t>AI</a:t>
            </a:r>
            <a:r>
              <a:rPr lang="ja-JP" altLang="en-US" sz="2000" dirty="0"/>
              <a:t>用途の需要集中により供給が逼迫している</a:t>
            </a:r>
            <a:r>
              <a:rPr lang="en-US" altLang="ja-JP" sz="2000" dirty="0"/>
              <a:t>²</a:t>
            </a:r>
            <a:r>
              <a:rPr lang="ja-JP" altLang="en-US" sz="2000" dirty="0"/>
              <a:t>。</a:t>
            </a:r>
            <a:br>
              <a:rPr lang="ja-JP" altLang="en-US" sz="2000" dirty="0"/>
            </a:br>
            <a:r>
              <a:rPr lang="ja-JP" altLang="en-US" sz="2000" dirty="0"/>
              <a:t>→　研究機関や大学において、必要な時に十分な</a:t>
            </a:r>
            <a:r>
              <a:rPr lang="en-US" altLang="ja-JP" sz="2000" dirty="0"/>
              <a:t>GPU</a:t>
            </a:r>
            <a:r>
              <a:rPr lang="ja-JP" altLang="en-US" sz="2000" dirty="0"/>
              <a:t>資源を確保することは困難。</a:t>
            </a:r>
            <a:endParaRPr lang="en-US" altLang="ja-JP" sz="2000" dirty="0"/>
          </a:p>
          <a:p>
            <a:pPr marL="0" indent="0">
              <a:lnSpc>
                <a:spcPct val="150000"/>
              </a:lnSpc>
              <a:buNone/>
            </a:pPr>
            <a:endParaRPr lang="en-US" altLang="ja-JP" sz="2000" dirty="0"/>
          </a:p>
        </p:txBody>
      </p:sp>
      <p:sp>
        <p:nvSpPr>
          <p:cNvPr id="2" name="タイトル 1">
            <a:extLst>
              <a:ext uri="{FF2B5EF4-FFF2-40B4-BE49-F238E27FC236}">
                <a16:creationId xmlns:a16="http://schemas.microsoft.com/office/drawing/2014/main" id="{85D61B3A-AD9E-5C90-4810-806836B72722}"/>
              </a:ext>
            </a:extLst>
          </p:cNvPr>
          <p:cNvSpPr>
            <a:spLocks noGrp="1"/>
          </p:cNvSpPr>
          <p:nvPr>
            <p:ph type="title"/>
          </p:nvPr>
        </p:nvSpPr>
        <p:spPr/>
        <p:txBody>
          <a:bodyPr/>
          <a:lstStyle/>
          <a:p>
            <a:r>
              <a:rPr lang="ja-JP" altLang="en-US" b="1">
                <a:latin typeface="メイリオ" panose="020B0604030504040204" pitchFamily="50" charset="-128"/>
                <a:ea typeface="メイリオ" panose="020B0604030504040204" pitchFamily="50" charset="-128"/>
              </a:rPr>
              <a:t>背景</a:t>
            </a:r>
            <a:endParaRPr kumimoji="1" lang="ja-JP" altLang="en-US"/>
          </a:p>
        </p:txBody>
      </p:sp>
      <p:sp>
        <p:nvSpPr>
          <p:cNvPr id="4" name="スライド番号プレースホルダー 3">
            <a:extLst>
              <a:ext uri="{FF2B5EF4-FFF2-40B4-BE49-F238E27FC236}">
                <a16:creationId xmlns:a16="http://schemas.microsoft.com/office/drawing/2014/main" id="{2A0BE1F7-55D9-910D-C6AE-1E86520001C2}"/>
              </a:ext>
            </a:extLst>
          </p:cNvPr>
          <p:cNvSpPr>
            <a:spLocks noGrp="1"/>
          </p:cNvSpPr>
          <p:nvPr>
            <p:ph type="sldNum" sz="quarter" idx="12"/>
          </p:nvPr>
        </p:nvSpPr>
        <p:spPr/>
        <p:txBody>
          <a:bodyPr/>
          <a:lstStyle/>
          <a:p>
            <a:fld id="{8D1BC46D-89B1-41A3-BBA1-F56BEABD0A90}" type="slidenum">
              <a:rPr lang="ja-JP" altLang="en-US" smtClean="0"/>
              <a:pPr/>
              <a:t>2</a:t>
            </a:fld>
            <a:endParaRPr lang="ja-JP" altLang="en-US"/>
          </a:p>
        </p:txBody>
      </p:sp>
      <p:sp>
        <p:nvSpPr>
          <p:cNvPr id="23" name="テキスト ボックス 22">
            <a:extLst>
              <a:ext uri="{FF2B5EF4-FFF2-40B4-BE49-F238E27FC236}">
                <a16:creationId xmlns:a16="http://schemas.microsoft.com/office/drawing/2014/main" id="{0E3A94D9-8DA9-314B-FCD9-8E91040FBF5B}"/>
              </a:ext>
            </a:extLst>
          </p:cNvPr>
          <p:cNvSpPr txBox="1"/>
          <p:nvPr/>
        </p:nvSpPr>
        <p:spPr>
          <a:xfrm>
            <a:off x="3124200" y="6302416"/>
            <a:ext cx="10055903" cy="553998"/>
          </a:xfrm>
          <a:prstGeom prst="rect">
            <a:avLst/>
          </a:prstGeom>
          <a:noFill/>
        </p:spPr>
        <p:txBody>
          <a:bodyPr wrap="square" rtlCol="0">
            <a:spAutoFit/>
          </a:bodyPr>
          <a:lstStyle/>
          <a:p>
            <a:r>
              <a:rPr lang="en-US" altLang="ja-JP" sz="1200">
                <a:latin typeface="メイリオ" panose="020B0604030504040204" pitchFamily="50" charset="-128"/>
                <a:ea typeface="メイリオ" panose="020B0604030504040204" pitchFamily="50" charset="-128"/>
              </a:rPr>
              <a:t>[1] Precedence Research, AI Data Center GPU Market Size Report, 2024.</a:t>
            </a:r>
          </a:p>
          <a:p>
            <a:r>
              <a:rPr lang="en-US" altLang="ja-JP" sz="1200">
                <a:latin typeface="メイリオ" panose="020B0604030504040204" pitchFamily="50" charset="-128"/>
                <a:ea typeface="メイリオ" panose="020B0604030504040204" pitchFamily="50" charset="-128"/>
              </a:rPr>
              <a:t>[2] PC Gamer, AI demand is keeping GPU and memory prices high, 2024</a:t>
            </a:r>
            <a:r>
              <a:rPr lang="en-US" altLang="ja-JP"/>
              <a:t>.</a:t>
            </a:r>
            <a:endParaRPr kumimoji="1" lang="ja-JP" altLang="en-US"/>
          </a:p>
        </p:txBody>
      </p:sp>
      <p:sp>
        <p:nvSpPr>
          <p:cNvPr id="5" name="正方形/長方形 4">
            <a:extLst>
              <a:ext uri="{FF2B5EF4-FFF2-40B4-BE49-F238E27FC236}">
                <a16:creationId xmlns:a16="http://schemas.microsoft.com/office/drawing/2014/main" id="{51FA538A-6348-9BB4-2E2A-E78969F497A9}"/>
              </a:ext>
            </a:extLst>
          </p:cNvPr>
          <p:cNvSpPr/>
          <p:nvPr/>
        </p:nvSpPr>
        <p:spPr>
          <a:xfrm>
            <a:off x="2974110" y="5689600"/>
            <a:ext cx="6042890" cy="304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96E70598-9FED-356E-DDDE-530E0D867D47}"/>
              </a:ext>
            </a:extLst>
          </p:cNvPr>
          <p:cNvSpPr/>
          <p:nvPr/>
        </p:nvSpPr>
        <p:spPr>
          <a:xfrm>
            <a:off x="3916218" y="5181126"/>
            <a:ext cx="3767086" cy="28297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21A731A3-5876-7CD9-AD8C-2EF1AD31AA8E}"/>
              </a:ext>
            </a:extLst>
          </p:cNvPr>
          <p:cNvSpPr txBox="1"/>
          <p:nvPr/>
        </p:nvSpPr>
        <p:spPr>
          <a:xfrm>
            <a:off x="2202704" y="5012491"/>
            <a:ext cx="7015186" cy="1354217"/>
          </a:xfrm>
          <a:prstGeom prst="rect">
            <a:avLst/>
          </a:prstGeom>
          <a:noFill/>
        </p:spPr>
        <p:txBody>
          <a:bodyPr wrap="square" rtlCol="0">
            <a:spAutoFit/>
          </a:bodyPr>
          <a:lstStyle/>
          <a:p>
            <a:pPr algn="ctr"/>
            <a:r>
              <a:rPr kumimoji="1" lang="ja-JP" altLang="en-US" sz="3200" b="1" dirty="0"/>
              <a:t>学内</a:t>
            </a:r>
            <a:r>
              <a:rPr kumimoji="1" lang="en-US" altLang="ja-JP" sz="3200" b="1" dirty="0"/>
              <a:t>GPU</a:t>
            </a:r>
            <a:r>
              <a:rPr kumimoji="1" lang="ja-JP" altLang="en-US" sz="3200" b="1" dirty="0"/>
              <a:t>共有基盤</a:t>
            </a:r>
            <a:endParaRPr kumimoji="1" lang="en-US" altLang="ja-JP" sz="3200" b="1" dirty="0"/>
          </a:p>
          <a:p>
            <a:pPr algn="ctr"/>
            <a:r>
              <a:rPr lang="ja-JP" altLang="en-US" sz="3200" b="1" dirty="0">
                <a:solidFill>
                  <a:schemeClr val="accent3">
                    <a:lumMod val="75000"/>
                  </a:schemeClr>
                </a:solidFill>
              </a:rPr>
              <a:t>「</a:t>
            </a:r>
            <a:r>
              <a:rPr lang="en-US" altLang="ja-JP" sz="3200" b="1" dirty="0"/>
              <a:t>Air Computing Pool</a:t>
            </a:r>
            <a:r>
              <a:rPr lang="ja-JP" altLang="en-US" sz="3200" b="1" dirty="0"/>
              <a:t>」を検討中</a:t>
            </a:r>
            <a:endParaRPr lang="en-US" altLang="ja-JP" sz="3200" b="1" dirty="0"/>
          </a:p>
          <a:p>
            <a:endParaRPr kumimoji="1" lang="ja-JP" altLang="en-US" dirty="0"/>
          </a:p>
        </p:txBody>
      </p:sp>
    </p:spTree>
    <p:extLst>
      <p:ext uri="{BB962C8B-B14F-4D97-AF65-F5344CB8AC3E}">
        <p14:creationId xmlns:p14="http://schemas.microsoft.com/office/powerpoint/2010/main" val="71332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図 53" descr="ダイアグラム&#10;&#10;AI 生成コンテンツは誤りを含む可能性があります。">
            <a:extLst>
              <a:ext uri="{FF2B5EF4-FFF2-40B4-BE49-F238E27FC236}">
                <a16:creationId xmlns:a16="http://schemas.microsoft.com/office/drawing/2014/main" id="{39D86E21-1A84-380D-FE90-E395AAE35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3148" y="1267691"/>
            <a:ext cx="7885536" cy="4892964"/>
          </a:xfrm>
          <a:prstGeom prst="rect">
            <a:avLst/>
          </a:prstGeom>
        </p:spPr>
      </p:pic>
      <p:sp>
        <p:nvSpPr>
          <p:cNvPr id="2" name="タイトル 1">
            <a:extLst>
              <a:ext uri="{FF2B5EF4-FFF2-40B4-BE49-F238E27FC236}">
                <a16:creationId xmlns:a16="http://schemas.microsoft.com/office/drawing/2014/main" id="{FDD48FF9-7E2F-CD35-8A02-3A48287A73E0}"/>
              </a:ext>
            </a:extLst>
          </p:cNvPr>
          <p:cNvSpPr>
            <a:spLocks noGrp="1"/>
          </p:cNvSpPr>
          <p:nvPr>
            <p:ph type="title"/>
          </p:nvPr>
        </p:nvSpPr>
        <p:spPr/>
        <p:txBody>
          <a:bodyPr/>
          <a:lstStyle/>
          <a:p>
            <a:r>
              <a:rPr lang="en-US" altLang="ja-JP"/>
              <a:t>“Air Computing Pool”</a:t>
            </a:r>
            <a:r>
              <a:rPr lang="ja-JP" altLang="en-US"/>
              <a:t>とは</a:t>
            </a:r>
            <a:endParaRPr kumimoji="1" lang="ja-JP" altLang="en-US"/>
          </a:p>
        </p:txBody>
      </p:sp>
      <p:sp>
        <p:nvSpPr>
          <p:cNvPr id="4" name="スライド番号プレースホルダー 3">
            <a:extLst>
              <a:ext uri="{FF2B5EF4-FFF2-40B4-BE49-F238E27FC236}">
                <a16:creationId xmlns:a16="http://schemas.microsoft.com/office/drawing/2014/main" id="{E3DC26F3-E565-9B46-EB01-7031E3D203E8}"/>
              </a:ext>
            </a:extLst>
          </p:cNvPr>
          <p:cNvSpPr>
            <a:spLocks noGrp="1"/>
          </p:cNvSpPr>
          <p:nvPr>
            <p:ph type="sldNum" sz="quarter" idx="12"/>
          </p:nvPr>
        </p:nvSpPr>
        <p:spPr/>
        <p:txBody>
          <a:bodyPr/>
          <a:lstStyle/>
          <a:p>
            <a:fld id="{8D1BC46D-89B1-41A3-BBA1-F56BEABD0A90}" type="slidenum">
              <a:rPr lang="ja-JP" altLang="en-US" smtClean="0"/>
              <a:pPr/>
              <a:t>3</a:t>
            </a:fld>
            <a:endParaRPr lang="ja-JP" altLang="en-US"/>
          </a:p>
        </p:txBody>
      </p:sp>
      <p:sp>
        <p:nvSpPr>
          <p:cNvPr id="9" name="AutoShape 2" descr="サーバー複数　イラスト に対する画像結果">
            <a:extLst>
              <a:ext uri="{FF2B5EF4-FFF2-40B4-BE49-F238E27FC236}">
                <a16:creationId xmlns:a16="http://schemas.microsoft.com/office/drawing/2014/main" id="{F93E315D-73D0-77EB-7256-B1DE030CB29A}"/>
              </a:ext>
            </a:extLst>
          </p:cNvPr>
          <p:cNvSpPr>
            <a:spLocks noChangeAspect="1" noChangeArrowheads="1"/>
          </p:cNvSpPr>
          <p:nvPr/>
        </p:nvSpPr>
        <p:spPr bwMode="auto">
          <a:xfrm>
            <a:off x="6946619" y="4655182"/>
            <a:ext cx="2285991" cy="235130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0" name="AutoShape 4" descr="サーバー複数　イラスト に対する画像結果">
            <a:extLst>
              <a:ext uri="{FF2B5EF4-FFF2-40B4-BE49-F238E27FC236}">
                <a16:creationId xmlns:a16="http://schemas.microsoft.com/office/drawing/2014/main" id="{709DC914-D693-766D-685C-5179189B502E}"/>
              </a:ext>
            </a:extLst>
          </p:cNvPr>
          <p:cNvSpPr>
            <a:spLocks noChangeAspect="1" noChangeArrowheads="1"/>
          </p:cNvSpPr>
          <p:nvPr/>
        </p:nvSpPr>
        <p:spPr bwMode="auto">
          <a:xfrm>
            <a:off x="7939733" y="5689798"/>
            <a:ext cx="1133694" cy="11336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6" name="吹き出し: 角を丸めた四角形 5">
            <a:extLst>
              <a:ext uri="{FF2B5EF4-FFF2-40B4-BE49-F238E27FC236}">
                <a16:creationId xmlns:a16="http://schemas.microsoft.com/office/drawing/2014/main" id="{1ECD15FA-CA2F-8C61-6029-E0E24F926375}"/>
              </a:ext>
            </a:extLst>
          </p:cNvPr>
          <p:cNvSpPr/>
          <p:nvPr/>
        </p:nvSpPr>
        <p:spPr>
          <a:xfrm>
            <a:off x="138401" y="2233061"/>
            <a:ext cx="2723823" cy="987308"/>
          </a:xfrm>
          <a:prstGeom prst="wedgeRoundRectCallout">
            <a:avLst>
              <a:gd name="adj1" fmla="val -1339"/>
              <a:gd name="adj2" fmla="val 88439"/>
              <a:gd name="adj3" fmla="val 16667"/>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2922FCE5-3C4E-4645-DB0C-057EF8277D45}"/>
              </a:ext>
            </a:extLst>
          </p:cNvPr>
          <p:cNvSpPr txBox="1"/>
          <p:nvPr/>
        </p:nvSpPr>
        <p:spPr>
          <a:xfrm>
            <a:off x="199944" y="2387065"/>
            <a:ext cx="2723823" cy="646331"/>
          </a:xfrm>
          <a:prstGeom prst="rect">
            <a:avLst/>
          </a:prstGeom>
          <a:noFill/>
        </p:spPr>
        <p:txBody>
          <a:bodyPr wrap="none" rtlCol="0">
            <a:spAutoFit/>
          </a:bodyPr>
          <a:lstStyle/>
          <a:p>
            <a:pPr algn="ctr"/>
            <a:r>
              <a:rPr kumimoji="1" lang="ja-JP" altLang="en-US" b="1"/>
              <a:t>使用していない時間帯に</a:t>
            </a:r>
            <a:endParaRPr kumimoji="1" lang="en-US" altLang="ja-JP" b="1"/>
          </a:p>
          <a:p>
            <a:pPr algn="ctr"/>
            <a:r>
              <a:rPr kumimoji="1" lang="en-US" altLang="ja-JP" b="1"/>
              <a:t>GPU</a:t>
            </a:r>
            <a:r>
              <a:rPr kumimoji="1" lang="ja-JP" altLang="en-US" b="1"/>
              <a:t>を共有</a:t>
            </a:r>
          </a:p>
        </p:txBody>
      </p:sp>
      <p:sp>
        <p:nvSpPr>
          <p:cNvPr id="7" name="吹き出し: 角を丸めた四角形 6">
            <a:extLst>
              <a:ext uri="{FF2B5EF4-FFF2-40B4-BE49-F238E27FC236}">
                <a16:creationId xmlns:a16="http://schemas.microsoft.com/office/drawing/2014/main" id="{140E4113-A693-B3E0-92EA-B3069388DC73}"/>
              </a:ext>
            </a:extLst>
          </p:cNvPr>
          <p:cNvSpPr/>
          <p:nvPr/>
        </p:nvSpPr>
        <p:spPr>
          <a:xfrm>
            <a:off x="9073427" y="1985597"/>
            <a:ext cx="2723823" cy="987308"/>
          </a:xfrm>
          <a:prstGeom prst="wedgeRoundRectCallout">
            <a:avLst>
              <a:gd name="adj1" fmla="val -36676"/>
              <a:gd name="adj2" fmla="val 101113"/>
              <a:gd name="adj3" fmla="val 16667"/>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8A730E1-518F-F37F-9061-999F1F00FDAE}"/>
              </a:ext>
            </a:extLst>
          </p:cNvPr>
          <p:cNvSpPr txBox="1"/>
          <p:nvPr/>
        </p:nvSpPr>
        <p:spPr>
          <a:xfrm>
            <a:off x="9073426" y="2294585"/>
            <a:ext cx="2723823" cy="369332"/>
          </a:xfrm>
          <a:prstGeom prst="rect">
            <a:avLst/>
          </a:prstGeom>
          <a:noFill/>
        </p:spPr>
        <p:txBody>
          <a:bodyPr wrap="none" rtlCol="0">
            <a:spAutoFit/>
          </a:bodyPr>
          <a:lstStyle/>
          <a:p>
            <a:pPr algn="ctr"/>
            <a:r>
              <a:rPr kumimoji="1" lang="ja-JP" altLang="en-US" b="1"/>
              <a:t>他資源の遊休時間に利用</a:t>
            </a:r>
          </a:p>
        </p:txBody>
      </p:sp>
    </p:spTree>
    <p:extLst>
      <p:ext uri="{BB962C8B-B14F-4D97-AF65-F5344CB8AC3E}">
        <p14:creationId xmlns:p14="http://schemas.microsoft.com/office/powerpoint/2010/main" val="1560374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四角形: 角を丸くする 2">
            <a:extLst>
              <a:ext uri="{FF2B5EF4-FFF2-40B4-BE49-F238E27FC236}">
                <a16:creationId xmlns:a16="http://schemas.microsoft.com/office/drawing/2014/main" id="{2B105007-E1D6-2D5D-F152-5202985386E4}"/>
              </a:ext>
            </a:extLst>
          </p:cNvPr>
          <p:cNvSpPr/>
          <p:nvPr/>
        </p:nvSpPr>
        <p:spPr>
          <a:xfrm>
            <a:off x="382402" y="2818388"/>
            <a:ext cx="11427195" cy="22888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342BA726-CB51-AB18-359B-A449BB1A1139}"/>
              </a:ext>
            </a:extLst>
          </p:cNvPr>
          <p:cNvSpPr>
            <a:spLocks noGrp="1"/>
          </p:cNvSpPr>
          <p:nvPr>
            <p:ph type="title"/>
          </p:nvPr>
        </p:nvSpPr>
        <p:spPr/>
        <p:txBody>
          <a:bodyPr/>
          <a:lstStyle/>
          <a:p>
            <a:r>
              <a:rPr lang="ja-JP" altLang="en-US" b="1">
                <a:latin typeface="メイリオ" panose="020B0604030504040204" pitchFamily="50" charset="-128"/>
                <a:ea typeface="メイリオ" panose="020B0604030504040204" pitchFamily="50" charset="-128"/>
              </a:rPr>
              <a:t>研究目的</a:t>
            </a:r>
            <a:endParaRPr kumimoji="1" lang="ja-JP" altLang="en-US"/>
          </a:p>
        </p:txBody>
      </p:sp>
      <p:sp>
        <p:nvSpPr>
          <p:cNvPr id="4" name="スライド番号プレースホルダー 3">
            <a:extLst>
              <a:ext uri="{FF2B5EF4-FFF2-40B4-BE49-F238E27FC236}">
                <a16:creationId xmlns:a16="http://schemas.microsoft.com/office/drawing/2014/main" id="{08775162-1789-39EE-819D-E13CD2D3C08D}"/>
              </a:ext>
            </a:extLst>
          </p:cNvPr>
          <p:cNvSpPr>
            <a:spLocks noGrp="1"/>
          </p:cNvSpPr>
          <p:nvPr>
            <p:ph type="sldNum" sz="quarter" idx="12"/>
          </p:nvPr>
        </p:nvSpPr>
        <p:spPr/>
        <p:txBody>
          <a:bodyPr/>
          <a:lstStyle/>
          <a:p>
            <a:fld id="{8D1BC46D-89B1-41A3-BBA1-F56BEABD0A90}" type="slidenum">
              <a:rPr lang="ja-JP" altLang="en-US" smtClean="0"/>
              <a:pPr/>
              <a:t>4</a:t>
            </a:fld>
            <a:endParaRPr lang="ja-JP" altLang="en-US"/>
          </a:p>
        </p:txBody>
      </p:sp>
      <p:sp>
        <p:nvSpPr>
          <p:cNvPr id="41" name="テキスト ボックス 40">
            <a:extLst>
              <a:ext uri="{FF2B5EF4-FFF2-40B4-BE49-F238E27FC236}">
                <a16:creationId xmlns:a16="http://schemas.microsoft.com/office/drawing/2014/main" id="{E324E133-541E-36FF-73C0-02DDB9A8A616}"/>
              </a:ext>
            </a:extLst>
          </p:cNvPr>
          <p:cNvSpPr txBox="1"/>
          <p:nvPr/>
        </p:nvSpPr>
        <p:spPr>
          <a:xfrm>
            <a:off x="629222" y="966787"/>
            <a:ext cx="10724578" cy="5847755"/>
          </a:xfrm>
          <a:prstGeom prst="rect">
            <a:avLst/>
          </a:prstGeom>
          <a:noFill/>
        </p:spPr>
        <p:txBody>
          <a:bodyPr wrap="square" rtlCol="0">
            <a:spAutoFit/>
          </a:bodyPr>
          <a:lstStyle/>
          <a:p>
            <a:pPr>
              <a:lnSpc>
                <a:spcPct val="150000"/>
              </a:lnSpc>
            </a:pPr>
            <a:r>
              <a:rPr lang="en-US" altLang="ja-JP" sz="2400" b="1" dirty="0"/>
              <a:t>2000</a:t>
            </a:r>
            <a:r>
              <a:rPr lang="ja-JP" altLang="en-US" sz="2400" b="1" dirty="0"/>
              <a:t>年代：</a:t>
            </a:r>
            <a:r>
              <a:rPr lang="ja-JP" altLang="en-US" sz="2400" b="1" dirty="0">
                <a:solidFill>
                  <a:schemeClr val="accent3">
                    <a:lumMod val="75000"/>
                  </a:schemeClr>
                </a:solidFill>
              </a:rPr>
              <a:t>グリッドコンピューティング</a:t>
            </a:r>
            <a:endParaRPr lang="en-US" altLang="ja-JP" sz="2400" b="1" dirty="0">
              <a:solidFill>
                <a:schemeClr val="accent3">
                  <a:lumMod val="75000"/>
                </a:schemeClr>
              </a:solidFill>
            </a:endParaRPr>
          </a:p>
          <a:p>
            <a:pPr>
              <a:lnSpc>
                <a:spcPct val="150000"/>
              </a:lnSpc>
            </a:pPr>
            <a:r>
              <a:rPr lang="ja-JP" altLang="en-US" sz="2400" dirty="0"/>
              <a:t>資源提供はボランティアであり、資源提供者の権利保護が十分に設計されていなかった　</a:t>
            </a:r>
            <a:r>
              <a:rPr lang="ja-JP" altLang="en-US" sz="2400" b="1" dirty="0">
                <a:solidFill>
                  <a:schemeClr val="accent3">
                    <a:lumMod val="75000"/>
                  </a:schemeClr>
                </a:solidFill>
              </a:rPr>
              <a:t>→　</a:t>
            </a:r>
            <a:r>
              <a:rPr lang="ja-JP" altLang="en-US" sz="2400" dirty="0"/>
              <a:t>持続的な運用が</a:t>
            </a:r>
            <a:r>
              <a:rPr lang="ja-JP" altLang="en-US" sz="2400" b="1" dirty="0">
                <a:solidFill>
                  <a:schemeClr val="accent3">
                    <a:lumMod val="75000"/>
                  </a:schemeClr>
                </a:solidFill>
              </a:rPr>
              <a:t>困難</a:t>
            </a:r>
            <a:endParaRPr lang="en-US" altLang="ja-JP" sz="2400" b="1" dirty="0">
              <a:solidFill>
                <a:schemeClr val="accent3">
                  <a:lumMod val="75000"/>
                </a:schemeClr>
              </a:solidFill>
            </a:endParaRPr>
          </a:p>
          <a:p>
            <a:pPr>
              <a:lnSpc>
                <a:spcPct val="200000"/>
              </a:lnSpc>
            </a:pPr>
            <a:r>
              <a:rPr lang="ja-JP" altLang="en-US" sz="2800" b="1" dirty="0">
                <a:solidFill>
                  <a:schemeClr val="accent3">
                    <a:lumMod val="75000"/>
                  </a:schemeClr>
                </a:solidFill>
              </a:rPr>
              <a:t>目的：</a:t>
            </a:r>
            <a:r>
              <a:rPr lang="ja-JP" altLang="en-US" sz="2800" b="1" u="sng" dirty="0">
                <a:solidFill>
                  <a:schemeClr val="accent3">
                    <a:lumMod val="75000"/>
                  </a:schemeClr>
                </a:solidFill>
              </a:rPr>
              <a:t>「</a:t>
            </a:r>
            <a:r>
              <a:rPr lang="en-US" altLang="ja-JP" sz="2800" b="1" u="sng" dirty="0">
                <a:solidFill>
                  <a:schemeClr val="accent3">
                    <a:lumMod val="75000"/>
                  </a:schemeClr>
                </a:solidFill>
              </a:rPr>
              <a:t>ACP</a:t>
            </a:r>
            <a:r>
              <a:rPr lang="ja-JP" altLang="en-US" sz="2800" b="1" u="sng" dirty="0">
                <a:solidFill>
                  <a:schemeClr val="accent3">
                    <a:lumMod val="75000"/>
                  </a:schemeClr>
                </a:solidFill>
              </a:rPr>
              <a:t>」の普及と持続的な運用</a:t>
            </a:r>
            <a:endParaRPr lang="en-US" altLang="ja-JP" sz="2800" b="1" u="sng" dirty="0">
              <a:solidFill>
                <a:schemeClr val="accent3">
                  <a:lumMod val="75000"/>
                </a:schemeClr>
              </a:solidFill>
            </a:endParaRPr>
          </a:p>
          <a:p>
            <a:pPr>
              <a:lnSpc>
                <a:spcPct val="200000"/>
              </a:lnSpc>
            </a:pPr>
            <a:r>
              <a:rPr lang="ja-JP" altLang="en-US" sz="2400" dirty="0"/>
              <a:t>各研究室が保有する</a:t>
            </a:r>
            <a:r>
              <a:rPr lang="en-US" altLang="ja-JP" sz="2400" dirty="0"/>
              <a:t>GPU</a:t>
            </a:r>
            <a:r>
              <a:rPr lang="ja-JP" altLang="en-US" sz="2400" dirty="0"/>
              <a:t>をより多く提供してもらえて、持続的な運用が可能となる制度設計を構築すること</a:t>
            </a:r>
            <a:endParaRPr lang="en-US" altLang="ja-JP" sz="2400" dirty="0"/>
          </a:p>
          <a:p>
            <a:pPr>
              <a:lnSpc>
                <a:spcPct val="200000"/>
              </a:lnSpc>
            </a:pPr>
            <a:r>
              <a:rPr lang="en-US" altLang="ja-JP" sz="2400" dirty="0"/>
              <a:t>ACP</a:t>
            </a:r>
            <a:r>
              <a:rPr lang="ja-JP" altLang="en-US" sz="2400" dirty="0"/>
              <a:t>の普及・持続には、</a:t>
            </a:r>
            <a:r>
              <a:rPr lang="ja-JP" altLang="en-US" sz="2400" b="1" dirty="0">
                <a:solidFill>
                  <a:schemeClr val="accent2"/>
                </a:solidFill>
              </a:rPr>
              <a:t>善意による提供</a:t>
            </a:r>
            <a:r>
              <a:rPr lang="ja-JP" altLang="en-US" sz="2400" dirty="0"/>
              <a:t>ではなく、ユーザーが</a:t>
            </a:r>
            <a:endParaRPr lang="en-US" altLang="ja-JP" sz="2400" dirty="0"/>
          </a:p>
          <a:p>
            <a:pPr>
              <a:lnSpc>
                <a:spcPct val="200000"/>
              </a:lnSpc>
            </a:pPr>
            <a:r>
              <a:rPr lang="ja-JP" altLang="en-US" sz="2400" b="1" dirty="0">
                <a:solidFill>
                  <a:schemeClr val="accent3">
                    <a:lumMod val="75000"/>
                  </a:schemeClr>
                </a:solidFill>
              </a:rPr>
              <a:t>　　　</a:t>
            </a:r>
            <a:r>
              <a:rPr lang="ja-JP" altLang="en-US" sz="2400" b="1" u="sng" dirty="0">
                <a:solidFill>
                  <a:schemeClr val="accent3">
                    <a:lumMod val="75000"/>
                  </a:schemeClr>
                </a:solidFill>
              </a:rPr>
              <a:t>自発的に資源を提供するインセンティブの設計が必要</a:t>
            </a:r>
            <a:endParaRPr lang="en-US" altLang="ja-JP" sz="2400" u="sng" dirty="0">
              <a:solidFill>
                <a:schemeClr val="accent3">
                  <a:lumMod val="75000"/>
                </a:schemeClr>
              </a:solidFill>
            </a:endParaRPr>
          </a:p>
          <a:p>
            <a:endParaRPr kumimoji="1" lang="ja-JP" altLang="en-US" dirty="0"/>
          </a:p>
        </p:txBody>
      </p:sp>
    </p:spTree>
    <p:extLst>
      <p:ext uri="{BB962C8B-B14F-4D97-AF65-F5344CB8AC3E}">
        <p14:creationId xmlns:p14="http://schemas.microsoft.com/office/powerpoint/2010/main" val="2634224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CE2DA86-15D3-3D29-A8DC-6BF2A3868776}"/>
              </a:ext>
            </a:extLst>
          </p:cNvPr>
          <p:cNvSpPr>
            <a:spLocks noGrp="1"/>
          </p:cNvSpPr>
          <p:nvPr>
            <p:ph idx="1"/>
          </p:nvPr>
        </p:nvSpPr>
        <p:spPr>
          <a:xfrm>
            <a:off x="763349" y="926540"/>
            <a:ext cx="10515600" cy="5327012"/>
          </a:xfrm>
        </p:spPr>
        <p:txBody>
          <a:bodyPr/>
          <a:lstStyle/>
          <a:p>
            <a:pPr marL="0" indent="0">
              <a:lnSpc>
                <a:spcPct val="200000"/>
              </a:lnSpc>
              <a:buNone/>
            </a:pPr>
            <a:r>
              <a:rPr lang="ja-JP" altLang="en-US" b="1">
                <a:solidFill>
                  <a:schemeClr val="accent3">
                    <a:lumMod val="75000"/>
                  </a:schemeClr>
                </a:solidFill>
              </a:rPr>
              <a:t>課題：</a:t>
            </a:r>
            <a:r>
              <a:rPr lang="ja-JP" altLang="en-US" b="1" u="sng">
                <a:solidFill>
                  <a:schemeClr val="accent3">
                    <a:lumMod val="75000"/>
                  </a:schemeClr>
                </a:solidFill>
              </a:rPr>
              <a:t>高性能な</a:t>
            </a:r>
            <a:r>
              <a:rPr lang="en-US" altLang="ja-JP" b="1" u="sng">
                <a:solidFill>
                  <a:schemeClr val="accent3">
                    <a:lumMod val="75000"/>
                  </a:schemeClr>
                </a:solidFill>
              </a:rPr>
              <a:t>GPU</a:t>
            </a:r>
            <a:r>
              <a:rPr lang="ja-JP" altLang="en-US" b="1" u="sng">
                <a:solidFill>
                  <a:schemeClr val="accent3">
                    <a:lumMod val="75000"/>
                  </a:schemeClr>
                </a:solidFill>
              </a:rPr>
              <a:t>の提供者が参加しにくい</a:t>
            </a:r>
            <a:endParaRPr lang="en-US" altLang="ja-JP" b="1" u="sng">
              <a:solidFill>
                <a:schemeClr val="accent3">
                  <a:lumMod val="75000"/>
                </a:schemeClr>
              </a:solidFill>
            </a:endParaRPr>
          </a:p>
        </p:txBody>
      </p:sp>
      <p:sp>
        <p:nvSpPr>
          <p:cNvPr id="5" name="楕円 4">
            <a:extLst>
              <a:ext uri="{FF2B5EF4-FFF2-40B4-BE49-F238E27FC236}">
                <a16:creationId xmlns:a16="http://schemas.microsoft.com/office/drawing/2014/main" id="{7808E865-6A3F-1574-BE92-4F6A2EB2CCB6}"/>
              </a:ext>
            </a:extLst>
          </p:cNvPr>
          <p:cNvSpPr/>
          <p:nvPr/>
        </p:nvSpPr>
        <p:spPr>
          <a:xfrm>
            <a:off x="3702855" y="2189356"/>
            <a:ext cx="4399499" cy="111220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382AD92-E30B-361B-31EA-59AE651F5778}"/>
              </a:ext>
            </a:extLst>
          </p:cNvPr>
          <p:cNvSpPr>
            <a:spLocks noGrp="1"/>
          </p:cNvSpPr>
          <p:nvPr>
            <p:ph type="title"/>
          </p:nvPr>
        </p:nvSpPr>
        <p:spPr/>
        <p:txBody>
          <a:bodyPr/>
          <a:lstStyle/>
          <a:p>
            <a:r>
              <a:rPr kumimoji="1" lang="ja-JP" altLang="en-US"/>
              <a:t>課題</a:t>
            </a:r>
          </a:p>
        </p:txBody>
      </p:sp>
      <p:sp>
        <p:nvSpPr>
          <p:cNvPr id="4" name="スライド番号プレースホルダー 3">
            <a:extLst>
              <a:ext uri="{FF2B5EF4-FFF2-40B4-BE49-F238E27FC236}">
                <a16:creationId xmlns:a16="http://schemas.microsoft.com/office/drawing/2014/main" id="{FFE58D5B-88FC-C0AB-3664-E844FC494419}"/>
              </a:ext>
            </a:extLst>
          </p:cNvPr>
          <p:cNvSpPr>
            <a:spLocks noGrp="1"/>
          </p:cNvSpPr>
          <p:nvPr>
            <p:ph type="sldNum" sz="quarter" idx="12"/>
          </p:nvPr>
        </p:nvSpPr>
        <p:spPr/>
        <p:txBody>
          <a:bodyPr/>
          <a:lstStyle/>
          <a:p>
            <a:fld id="{8D1BC46D-89B1-41A3-BBA1-F56BEABD0A90}" type="slidenum">
              <a:rPr lang="ja-JP" altLang="en-US" smtClean="0"/>
              <a:pPr/>
              <a:t>5</a:t>
            </a:fld>
            <a:endParaRPr lang="ja-JP" altLang="en-US"/>
          </a:p>
        </p:txBody>
      </p:sp>
      <p:sp>
        <p:nvSpPr>
          <p:cNvPr id="47" name="テキスト ボックス 46">
            <a:extLst>
              <a:ext uri="{FF2B5EF4-FFF2-40B4-BE49-F238E27FC236}">
                <a16:creationId xmlns:a16="http://schemas.microsoft.com/office/drawing/2014/main" id="{8C922CC7-B019-5A58-8C17-809C4B6A356E}"/>
              </a:ext>
            </a:extLst>
          </p:cNvPr>
          <p:cNvSpPr txBox="1"/>
          <p:nvPr/>
        </p:nvSpPr>
        <p:spPr>
          <a:xfrm>
            <a:off x="-88117" y="3984317"/>
            <a:ext cx="6167176" cy="830997"/>
          </a:xfrm>
          <a:prstGeom prst="rect">
            <a:avLst/>
          </a:prstGeom>
          <a:noFill/>
          <a:ln>
            <a:noFill/>
          </a:ln>
        </p:spPr>
        <p:txBody>
          <a:bodyPr wrap="square" rtlCol="0">
            <a:spAutoFit/>
          </a:bodyPr>
          <a:lstStyle/>
          <a:p>
            <a:pPr algn="ctr"/>
            <a:r>
              <a:rPr kumimoji="1" lang="ja-JP" altLang="en-US" sz="2400" b="1"/>
              <a:t>資源所有者が自分の</a:t>
            </a:r>
            <a:endParaRPr kumimoji="1" lang="en-US" altLang="ja-JP" sz="2400" b="1"/>
          </a:p>
          <a:p>
            <a:pPr algn="ctr"/>
            <a:r>
              <a:rPr kumimoji="1" lang="en-US" altLang="ja-JP" sz="2400" b="1"/>
              <a:t>GPU</a:t>
            </a:r>
            <a:r>
              <a:rPr kumimoji="1" lang="ja-JP" altLang="en-US" sz="2400" b="1"/>
              <a:t>を自由に使えない</a:t>
            </a:r>
          </a:p>
        </p:txBody>
      </p:sp>
      <p:sp>
        <p:nvSpPr>
          <p:cNvPr id="39" name="コンテンツ プレースホルダー 2">
            <a:extLst>
              <a:ext uri="{FF2B5EF4-FFF2-40B4-BE49-F238E27FC236}">
                <a16:creationId xmlns:a16="http://schemas.microsoft.com/office/drawing/2014/main" id="{140A9F7B-5094-1145-CABD-B246C3FDD88B}"/>
              </a:ext>
            </a:extLst>
          </p:cNvPr>
          <p:cNvSpPr txBox="1">
            <a:spLocks/>
          </p:cNvSpPr>
          <p:nvPr/>
        </p:nvSpPr>
        <p:spPr>
          <a:xfrm>
            <a:off x="1803519" y="5823599"/>
            <a:ext cx="10515600" cy="6313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u="sng" dirty="0">
                <a:solidFill>
                  <a:schemeClr val="accent2"/>
                </a:solidFill>
              </a:rPr>
              <a:t>提供者の利便性を最優先で保証する運用が不可欠</a:t>
            </a:r>
          </a:p>
        </p:txBody>
      </p:sp>
      <p:sp>
        <p:nvSpPr>
          <p:cNvPr id="9" name="テキスト ボックス 8">
            <a:extLst>
              <a:ext uri="{FF2B5EF4-FFF2-40B4-BE49-F238E27FC236}">
                <a16:creationId xmlns:a16="http://schemas.microsoft.com/office/drawing/2014/main" id="{8A85EFBF-F54E-70A5-D158-37C7AE14C7CF}"/>
              </a:ext>
            </a:extLst>
          </p:cNvPr>
          <p:cNvSpPr txBox="1"/>
          <p:nvPr/>
        </p:nvSpPr>
        <p:spPr>
          <a:xfrm>
            <a:off x="7509496" y="3988116"/>
            <a:ext cx="2822390" cy="830997"/>
          </a:xfrm>
          <a:prstGeom prst="rect">
            <a:avLst/>
          </a:prstGeom>
          <a:noFill/>
          <a:ln>
            <a:noFill/>
          </a:ln>
        </p:spPr>
        <p:txBody>
          <a:bodyPr wrap="square" rtlCol="0">
            <a:spAutoFit/>
          </a:bodyPr>
          <a:lstStyle/>
          <a:p>
            <a:pPr algn="ctr"/>
            <a:r>
              <a:rPr kumimoji="1" lang="ja-JP" altLang="en-US" sz="2400" b="1"/>
              <a:t>所有者が資源を</a:t>
            </a:r>
            <a:endParaRPr kumimoji="1" lang="en-US" altLang="ja-JP" sz="2400" b="1"/>
          </a:p>
          <a:p>
            <a:pPr algn="ctr"/>
            <a:r>
              <a:rPr kumimoji="1" lang="ja-JP" altLang="en-US" sz="2400" b="1"/>
              <a:t>提供しなくなる</a:t>
            </a:r>
          </a:p>
        </p:txBody>
      </p:sp>
      <p:sp>
        <p:nvSpPr>
          <p:cNvPr id="14" name="テキスト ボックス 13">
            <a:extLst>
              <a:ext uri="{FF2B5EF4-FFF2-40B4-BE49-F238E27FC236}">
                <a16:creationId xmlns:a16="http://schemas.microsoft.com/office/drawing/2014/main" id="{8C1294A3-72BA-7BCA-A2D7-469CF5BB4786}"/>
              </a:ext>
            </a:extLst>
          </p:cNvPr>
          <p:cNvSpPr txBox="1"/>
          <p:nvPr/>
        </p:nvSpPr>
        <p:spPr>
          <a:xfrm>
            <a:off x="3595340" y="2423878"/>
            <a:ext cx="4651581" cy="1107996"/>
          </a:xfrm>
          <a:prstGeom prst="rect">
            <a:avLst/>
          </a:prstGeom>
          <a:noFill/>
        </p:spPr>
        <p:txBody>
          <a:bodyPr wrap="square" rtlCol="0">
            <a:spAutoFit/>
          </a:bodyPr>
          <a:lstStyle/>
          <a:p>
            <a:pPr algn="ctr"/>
            <a:r>
              <a:rPr lang="ja-JP" altLang="en-US" sz="2400" b="1"/>
              <a:t>システム内で高性能な</a:t>
            </a:r>
            <a:r>
              <a:rPr lang="en-US" altLang="ja-JP" sz="2400" b="1"/>
              <a:t>GPU</a:t>
            </a:r>
          </a:p>
          <a:p>
            <a:pPr algn="ctr"/>
            <a:r>
              <a:rPr lang="ja-JP" altLang="en-US" sz="2400" b="1"/>
              <a:t>は他ユーザに人気</a:t>
            </a:r>
            <a:endParaRPr lang="en-US" altLang="ja-JP" sz="2400" b="1"/>
          </a:p>
          <a:p>
            <a:endParaRPr kumimoji="1" lang="ja-JP" altLang="en-US"/>
          </a:p>
        </p:txBody>
      </p:sp>
      <p:cxnSp>
        <p:nvCxnSpPr>
          <p:cNvPr id="17" name="コネクタ: 曲線 16">
            <a:extLst>
              <a:ext uri="{FF2B5EF4-FFF2-40B4-BE49-F238E27FC236}">
                <a16:creationId xmlns:a16="http://schemas.microsoft.com/office/drawing/2014/main" id="{25D2585F-6876-844D-71FD-128D0E8CFA1B}"/>
              </a:ext>
            </a:extLst>
          </p:cNvPr>
          <p:cNvCxnSpPr>
            <a:cxnSpLocks/>
            <a:stCxn id="10" idx="6"/>
            <a:endCxn id="14" idx="3"/>
          </p:cNvCxnSpPr>
          <p:nvPr/>
        </p:nvCxnSpPr>
        <p:spPr>
          <a:xfrm flipH="1" flipV="1">
            <a:off x="8246921" y="2977876"/>
            <a:ext cx="2906648" cy="1458063"/>
          </a:xfrm>
          <a:prstGeom prst="curvedConnector3">
            <a:avLst>
              <a:gd name="adj1" fmla="val -15809"/>
            </a:avLst>
          </a:prstGeom>
          <a:ln w="130175">
            <a:tailEnd type="triangle"/>
          </a:ln>
        </p:spPr>
        <p:style>
          <a:lnRef idx="2">
            <a:schemeClr val="accent1"/>
          </a:lnRef>
          <a:fillRef idx="0">
            <a:schemeClr val="accent1"/>
          </a:fillRef>
          <a:effectRef idx="1">
            <a:schemeClr val="accent1"/>
          </a:effectRef>
          <a:fontRef idx="minor">
            <a:schemeClr val="tx1"/>
          </a:fontRef>
        </p:style>
      </p:cxnSp>
      <p:sp>
        <p:nvSpPr>
          <p:cNvPr id="8" name="楕円 7">
            <a:extLst>
              <a:ext uri="{FF2B5EF4-FFF2-40B4-BE49-F238E27FC236}">
                <a16:creationId xmlns:a16="http://schemas.microsoft.com/office/drawing/2014/main" id="{B9251A78-F9AA-71D2-1417-6AE9E1CC6A00}"/>
              </a:ext>
            </a:extLst>
          </p:cNvPr>
          <p:cNvSpPr/>
          <p:nvPr/>
        </p:nvSpPr>
        <p:spPr>
          <a:xfrm>
            <a:off x="824937" y="3847512"/>
            <a:ext cx="4399499" cy="111220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3250D516-3709-566A-C162-7900482E55B2}"/>
              </a:ext>
            </a:extLst>
          </p:cNvPr>
          <p:cNvSpPr/>
          <p:nvPr/>
        </p:nvSpPr>
        <p:spPr>
          <a:xfrm>
            <a:off x="6754070" y="3879836"/>
            <a:ext cx="4399499" cy="111220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コネクタ: 曲線 29">
            <a:extLst>
              <a:ext uri="{FF2B5EF4-FFF2-40B4-BE49-F238E27FC236}">
                <a16:creationId xmlns:a16="http://schemas.microsoft.com/office/drawing/2014/main" id="{96CB7BCD-C1FE-14D6-3632-26F6094732BE}"/>
              </a:ext>
            </a:extLst>
          </p:cNvPr>
          <p:cNvCxnSpPr>
            <a:cxnSpLocks/>
            <a:stCxn id="14" idx="1"/>
            <a:endCxn id="8" idx="2"/>
          </p:cNvCxnSpPr>
          <p:nvPr/>
        </p:nvCxnSpPr>
        <p:spPr>
          <a:xfrm rot="10800000" flipV="1">
            <a:off x="824938" y="2977875"/>
            <a:ext cx="2770403" cy="1425739"/>
          </a:xfrm>
          <a:prstGeom prst="curvedConnector3">
            <a:avLst>
              <a:gd name="adj1" fmla="val 108252"/>
            </a:avLst>
          </a:prstGeom>
          <a:ln w="130175">
            <a:tailEnd type="triangle"/>
          </a:ln>
        </p:spPr>
        <p:style>
          <a:lnRef idx="2">
            <a:schemeClr val="accent1"/>
          </a:lnRef>
          <a:fillRef idx="0">
            <a:schemeClr val="accent1"/>
          </a:fillRef>
          <a:effectRef idx="1">
            <a:schemeClr val="accent1"/>
          </a:effectRef>
          <a:fontRef idx="minor">
            <a:schemeClr val="tx1"/>
          </a:fontRef>
        </p:style>
      </p:cxnSp>
      <p:cxnSp>
        <p:nvCxnSpPr>
          <p:cNvPr id="36" name="コネクタ: 曲線 35">
            <a:extLst>
              <a:ext uri="{FF2B5EF4-FFF2-40B4-BE49-F238E27FC236}">
                <a16:creationId xmlns:a16="http://schemas.microsoft.com/office/drawing/2014/main" id="{FB083D6C-ACD2-E4EC-82D8-42A64B0F594A}"/>
              </a:ext>
            </a:extLst>
          </p:cNvPr>
          <p:cNvCxnSpPr>
            <a:cxnSpLocks/>
            <a:stCxn id="8" idx="4"/>
            <a:endCxn id="10" idx="4"/>
          </p:cNvCxnSpPr>
          <p:nvPr/>
        </p:nvCxnSpPr>
        <p:spPr>
          <a:xfrm rot="16200000" flipH="1">
            <a:off x="5973091" y="2011313"/>
            <a:ext cx="32324" cy="5929133"/>
          </a:xfrm>
          <a:prstGeom prst="curvedConnector3">
            <a:avLst>
              <a:gd name="adj1" fmla="val 1378700"/>
            </a:avLst>
          </a:prstGeom>
          <a:ln w="130175">
            <a:tailEnd type="triangle"/>
          </a:ln>
        </p:spPr>
        <p:style>
          <a:lnRef idx="2">
            <a:schemeClr val="accent1"/>
          </a:lnRef>
          <a:fillRef idx="0">
            <a:schemeClr val="accent1"/>
          </a:fillRef>
          <a:effectRef idx="1">
            <a:schemeClr val="accent1"/>
          </a:effectRef>
          <a:fontRef idx="minor">
            <a:schemeClr val="tx1"/>
          </a:fontRef>
        </p:style>
      </p:cxnSp>
      <p:sp>
        <p:nvSpPr>
          <p:cNvPr id="44" name="テキスト ボックス 43">
            <a:extLst>
              <a:ext uri="{FF2B5EF4-FFF2-40B4-BE49-F238E27FC236}">
                <a16:creationId xmlns:a16="http://schemas.microsoft.com/office/drawing/2014/main" id="{CAC1A2AC-AB56-AABB-7477-9C40E2FE1CED}"/>
              </a:ext>
            </a:extLst>
          </p:cNvPr>
          <p:cNvSpPr txBox="1"/>
          <p:nvPr/>
        </p:nvSpPr>
        <p:spPr>
          <a:xfrm>
            <a:off x="5124975" y="3642435"/>
            <a:ext cx="1629095" cy="523220"/>
          </a:xfrm>
          <a:prstGeom prst="rect">
            <a:avLst/>
          </a:prstGeom>
          <a:solidFill>
            <a:schemeClr val="bg1">
              <a:lumMod val="85000"/>
            </a:schemeClr>
          </a:solidFill>
        </p:spPr>
        <p:txBody>
          <a:bodyPr wrap="square" rtlCol="0">
            <a:spAutoFit/>
          </a:bodyPr>
          <a:lstStyle/>
          <a:p>
            <a:r>
              <a:rPr lang="ja-JP" altLang="en-US" sz="2800" b="1">
                <a:solidFill>
                  <a:schemeClr val="accent3">
                    <a:lumMod val="75000"/>
                  </a:schemeClr>
                </a:solidFill>
              </a:rPr>
              <a:t>負の連鎖</a:t>
            </a:r>
            <a:endParaRPr kumimoji="1" lang="ja-JP" altLang="en-US" sz="2800" b="1">
              <a:solidFill>
                <a:schemeClr val="accent3">
                  <a:lumMod val="75000"/>
                </a:schemeClr>
              </a:solidFill>
            </a:endParaRPr>
          </a:p>
        </p:txBody>
      </p:sp>
    </p:spTree>
    <p:extLst>
      <p:ext uri="{BB962C8B-B14F-4D97-AF65-F5344CB8AC3E}">
        <p14:creationId xmlns:p14="http://schemas.microsoft.com/office/powerpoint/2010/main" val="3266535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コンテンツ プレースホルダー 5" descr="ダイアグラム&#10;&#10;AI 生成コンテンツは誤りを含む可能性があります。">
            <a:extLst>
              <a:ext uri="{FF2B5EF4-FFF2-40B4-BE49-F238E27FC236}">
                <a16:creationId xmlns:a16="http://schemas.microsoft.com/office/drawing/2014/main" id="{C4F2CA39-E9E7-93DD-C9B3-840DA3575A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5903" y="2405440"/>
            <a:ext cx="7463125" cy="4404146"/>
          </a:xfrm>
          <a:prstGeom prst="rect">
            <a:avLst/>
          </a:prstGeom>
        </p:spPr>
      </p:pic>
      <p:sp>
        <p:nvSpPr>
          <p:cNvPr id="2" name="タイトル 1">
            <a:extLst>
              <a:ext uri="{FF2B5EF4-FFF2-40B4-BE49-F238E27FC236}">
                <a16:creationId xmlns:a16="http://schemas.microsoft.com/office/drawing/2014/main" id="{10FB8406-F743-92A1-05EF-EA728E2F5212}"/>
              </a:ext>
            </a:extLst>
          </p:cNvPr>
          <p:cNvSpPr>
            <a:spLocks noGrp="1"/>
          </p:cNvSpPr>
          <p:nvPr>
            <p:ph type="title"/>
          </p:nvPr>
        </p:nvSpPr>
        <p:spPr/>
        <p:txBody>
          <a:bodyPr/>
          <a:lstStyle/>
          <a:p>
            <a:r>
              <a:rPr lang="ja-JP" altLang="en-US" b="1">
                <a:latin typeface="メイリオ" panose="020B0604030504040204" pitchFamily="50" charset="-128"/>
                <a:ea typeface="メイリオ" panose="020B0604030504040204" pitchFamily="50" charset="-128"/>
              </a:rPr>
              <a:t>提案基盤</a:t>
            </a:r>
            <a:endParaRPr kumimoji="1" lang="ja-JP" altLang="en-US"/>
          </a:p>
        </p:txBody>
      </p:sp>
      <p:sp>
        <p:nvSpPr>
          <p:cNvPr id="4" name="スライド番号プレースホルダー 3">
            <a:extLst>
              <a:ext uri="{FF2B5EF4-FFF2-40B4-BE49-F238E27FC236}">
                <a16:creationId xmlns:a16="http://schemas.microsoft.com/office/drawing/2014/main" id="{FB6CCCC4-A7FC-777A-0E71-B2F49189DDCA}"/>
              </a:ext>
            </a:extLst>
          </p:cNvPr>
          <p:cNvSpPr>
            <a:spLocks noGrp="1"/>
          </p:cNvSpPr>
          <p:nvPr>
            <p:ph type="sldNum" sz="quarter" idx="12"/>
          </p:nvPr>
        </p:nvSpPr>
        <p:spPr/>
        <p:txBody>
          <a:bodyPr/>
          <a:lstStyle/>
          <a:p>
            <a:fld id="{8D1BC46D-89B1-41A3-BBA1-F56BEABD0A90}" type="slidenum">
              <a:rPr lang="ja-JP" altLang="en-US" smtClean="0"/>
              <a:pPr/>
              <a:t>6</a:t>
            </a:fld>
            <a:endParaRPr lang="ja-JP" altLang="en-US"/>
          </a:p>
        </p:txBody>
      </p:sp>
      <p:sp>
        <p:nvSpPr>
          <p:cNvPr id="60" name="正方形/長方形 59">
            <a:extLst>
              <a:ext uri="{FF2B5EF4-FFF2-40B4-BE49-F238E27FC236}">
                <a16:creationId xmlns:a16="http://schemas.microsoft.com/office/drawing/2014/main" id="{BE870CD7-9D8E-61BC-8008-C1DC2D66E354}"/>
              </a:ext>
            </a:extLst>
          </p:cNvPr>
          <p:cNvSpPr/>
          <p:nvPr/>
        </p:nvSpPr>
        <p:spPr>
          <a:xfrm>
            <a:off x="2983345" y="2128349"/>
            <a:ext cx="5689600" cy="27709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6ECF8C11-1749-EF70-A396-65C0E4FB1C45}"/>
              </a:ext>
            </a:extLst>
          </p:cNvPr>
          <p:cNvSpPr/>
          <p:nvPr/>
        </p:nvSpPr>
        <p:spPr>
          <a:xfrm>
            <a:off x="1163784" y="1565836"/>
            <a:ext cx="9282546" cy="27709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E4DB6871-A1AF-4AD2-68B8-EA48012E1F19}"/>
              </a:ext>
            </a:extLst>
          </p:cNvPr>
          <p:cNvSpPr txBox="1"/>
          <p:nvPr/>
        </p:nvSpPr>
        <p:spPr>
          <a:xfrm>
            <a:off x="1071416" y="1279833"/>
            <a:ext cx="9559636" cy="1200329"/>
          </a:xfrm>
          <a:prstGeom prst="rect">
            <a:avLst/>
          </a:prstGeom>
          <a:noFill/>
          <a:ln w="44450">
            <a:solidFill>
              <a:schemeClr val="bg1"/>
            </a:solidFill>
          </a:ln>
        </p:spPr>
        <p:txBody>
          <a:bodyPr wrap="square" rtlCol="0">
            <a:spAutoFit/>
          </a:bodyPr>
          <a:lstStyle/>
          <a:p>
            <a:pPr algn="ctr"/>
            <a:r>
              <a:rPr lang="ja-JP" altLang="en-US" sz="3600" b="1">
                <a:solidFill>
                  <a:schemeClr val="accent1">
                    <a:lumMod val="50000"/>
                  </a:schemeClr>
                </a:solidFill>
                <a:latin typeface="メイリオ" panose="020B0604030504040204" pitchFamily="50" charset="-128"/>
                <a:ea typeface="メイリオ" panose="020B0604030504040204" pitchFamily="50" charset="-128"/>
              </a:rPr>
              <a:t>所有者優先権を保証するプリエンプティブ方式を用いた学内</a:t>
            </a:r>
            <a:r>
              <a:rPr lang="en-US" altLang="ja-JP" sz="3600" b="1">
                <a:solidFill>
                  <a:schemeClr val="accent1">
                    <a:lumMod val="50000"/>
                  </a:schemeClr>
                </a:solidFill>
                <a:latin typeface="メイリオ" panose="020B0604030504040204" pitchFamily="50" charset="-128"/>
                <a:ea typeface="メイリオ" panose="020B0604030504040204" pitchFamily="50" charset="-128"/>
              </a:rPr>
              <a:t>GPU</a:t>
            </a:r>
            <a:r>
              <a:rPr lang="ja-JP" altLang="en-US" sz="3600" b="1">
                <a:solidFill>
                  <a:schemeClr val="accent1">
                    <a:lumMod val="50000"/>
                  </a:schemeClr>
                </a:solidFill>
                <a:latin typeface="メイリオ" panose="020B0604030504040204" pitchFamily="50" charset="-128"/>
                <a:ea typeface="メイリオ" panose="020B0604030504040204" pitchFamily="50" charset="-128"/>
              </a:rPr>
              <a:t>共有基盤</a:t>
            </a:r>
            <a:endParaRPr kumimoji="1" lang="ja-JP" altLang="en-US" sz="3600">
              <a:solidFill>
                <a:schemeClr val="accent1">
                  <a:lumMod val="50000"/>
                </a:schemeClr>
              </a:solidFill>
            </a:endParaRPr>
          </a:p>
        </p:txBody>
      </p:sp>
    </p:spTree>
    <p:extLst>
      <p:ext uri="{BB962C8B-B14F-4D97-AF65-F5344CB8AC3E}">
        <p14:creationId xmlns:p14="http://schemas.microsoft.com/office/powerpoint/2010/main" val="1912879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D60252-1501-71D8-6BC9-E78149346470}"/>
              </a:ext>
            </a:extLst>
          </p:cNvPr>
          <p:cNvSpPr>
            <a:spLocks noGrp="1"/>
          </p:cNvSpPr>
          <p:nvPr>
            <p:ph type="title"/>
          </p:nvPr>
        </p:nvSpPr>
        <p:spPr/>
        <p:txBody>
          <a:bodyPr/>
          <a:lstStyle/>
          <a:p>
            <a:r>
              <a:rPr lang="ja-JP" altLang="en-US" b="1"/>
              <a:t>割り込み機能がタスクの完了時間に与える影響</a:t>
            </a:r>
            <a:endParaRPr kumimoji="1" lang="ja-JP" altLang="en-US"/>
          </a:p>
        </p:txBody>
      </p:sp>
      <p:sp>
        <p:nvSpPr>
          <p:cNvPr id="4" name="スライド番号プレースホルダー 3">
            <a:extLst>
              <a:ext uri="{FF2B5EF4-FFF2-40B4-BE49-F238E27FC236}">
                <a16:creationId xmlns:a16="http://schemas.microsoft.com/office/drawing/2014/main" id="{421F459B-53A9-E0E5-DEC7-8DDFE962CFB9}"/>
              </a:ext>
            </a:extLst>
          </p:cNvPr>
          <p:cNvSpPr>
            <a:spLocks noGrp="1"/>
          </p:cNvSpPr>
          <p:nvPr>
            <p:ph type="sldNum" sz="quarter" idx="12"/>
          </p:nvPr>
        </p:nvSpPr>
        <p:spPr/>
        <p:txBody>
          <a:bodyPr/>
          <a:lstStyle/>
          <a:p>
            <a:fld id="{8D1BC46D-89B1-41A3-BBA1-F56BEABD0A90}" type="slidenum">
              <a:rPr lang="ja-JP" altLang="en-US" smtClean="0"/>
              <a:pPr/>
              <a:t>7</a:t>
            </a:fld>
            <a:endParaRPr lang="ja-JP" altLang="en-US"/>
          </a:p>
        </p:txBody>
      </p:sp>
      <p:sp>
        <p:nvSpPr>
          <p:cNvPr id="5" name="Rectangle 1">
            <a:extLst>
              <a:ext uri="{FF2B5EF4-FFF2-40B4-BE49-F238E27FC236}">
                <a16:creationId xmlns:a16="http://schemas.microsoft.com/office/drawing/2014/main" id="{CC2B7B21-3B66-E807-85F4-EC62EAD85EDA}"/>
              </a:ext>
            </a:extLst>
          </p:cNvPr>
          <p:cNvSpPr txBox="1">
            <a:spLocks noChangeArrowheads="1"/>
          </p:cNvSpPr>
          <p:nvPr/>
        </p:nvSpPr>
        <p:spPr bwMode="auto">
          <a:xfrm>
            <a:off x="704499" y="2915919"/>
            <a:ext cx="10530447" cy="493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b="1" dirty="0"/>
              <a:t>① 共有なし </a:t>
            </a:r>
            <a:endParaRPr lang="en-US" altLang="ja-JP" sz="2000" b="1" dirty="0"/>
          </a:p>
          <a:p>
            <a:pPr marL="0" indent="0">
              <a:buFont typeface="Arial" panose="020B0604020202020204" pitchFamily="34" charset="0"/>
              <a:buNone/>
            </a:pPr>
            <a:r>
              <a:rPr lang="en-US" altLang="ja-JP" sz="2000" dirty="0"/>
              <a:t>	</a:t>
            </a:r>
            <a:r>
              <a:rPr lang="ja-JP" altLang="en-US" sz="2000" dirty="0"/>
              <a:t>各ユーザーが自分の</a:t>
            </a:r>
            <a:r>
              <a:rPr lang="en-US" altLang="ja-JP" sz="2000" dirty="0"/>
              <a:t>GPU</a:t>
            </a:r>
            <a:r>
              <a:rPr lang="ja-JP" altLang="en-US" sz="2000" dirty="0"/>
              <a:t>のみを使用する</a:t>
            </a:r>
            <a:endParaRPr lang="en-US" altLang="ja-JP" sz="2000" dirty="0"/>
          </a:p>
          <a:p>
            <a:pPr marL="0" indent="0">
              <a:buFont typeface="Arial" panose="020B0604020202020204" pitchFamily="34" charset="0"/>
              <a:buNone/>
            </a:pPr>
            <a:r>
              <a:rPr lang="ja-JP" altLang="en-US" sz="2000" b="1" dirty="0"/>
              <a:t>② </a:t>
            </a:r>
            <a:r>
              <a:rPr lang="en-US" altLang="ja-JP" sz="2000" b="1" dirty="0"/>
              <a:t>FCFS</a:t>
            </a:r>
            <a:r>
              <a:rPr lang="ja-JP" altLang="en-US" sz="2000" b="1" dirty="0"/>
              <a:t>（先着順</a:t>
            </a:r>
            <a:r>
              <a:rPr lang="ja-JP" altLang="en-US" sz="2000" dirty="0"/>
              <a:t>）</a:t>
            </a:r>
            <a:r>
              <a:rPr lang="ja-JP" altLang="en-US" sz="2000" b="1" dirty="0"/>
              <a:t>方式</a:t>
            </a:r>
            <a:endParaRPr lang="en-US" altLang="ja-JP" sz="2000" b="1" dirty="0"/>
          </a:p>
          <a:p>
            <a:pPr marL="0" indent="0">
              <a:buFont typeface="Arial" panose="020B0604020202020204" pitchFamily="34" charset="0"/>
              <a:buNone/>
            </a:pPr>
            <a:r>
              <a:rPr lang="en-US" altLang="ja-JP" sz="2000" dirty="0"/>
              <a:t>	</a:t>
            </a:r>
            <a:r>
              <a:rPr lang="ja-JP" altLang="en-US" sz="2000" dirty="0"/>
              <a:t>全員が</a:t>
            </a:r>
            <a:r>
              <a:rPr lang="en-US" altLang="ja-JP" sz="2000" dirty="0"/>
              <a:t>ACP</a:t>
            </a:r>
            <a:r>
              <a:rPr lang="ja-JP" altLang="en-US" sz="2000" dirty="0"/>
              <a:t>上の全</a:t>
            </a:r>
            <a:r>
              <a:rPr lang="en-US" altLang="ja-JP" sz="2000" dirty="0"/>
              <a:t>GPU</a:t>
            </a:r>
            <a:r>
              <a:rPr lang="ja-JP" altLang="en-US" sz="2000" dirty="0"/>
              <a:t>を平等に利用</a:t>
            </a:r>
            <a:endParaRPr lang="en-US" altLang="ja-JP" sz="2000" dirty="0"/>
          </a:p>
          <a:p>
            <a:pPr marL="0" indent="0">
              <a:buFont typeface="Arial" panose="020B0604020202020204" pitchFamily="34" charset="0"/>
              <a:buNone/>
            </a:pPr>
            <a:r>
              <a:rPr lang="ja-JP" altLang="en-US" sz="2000" b="1" dirty="0"/>
              <a:t>③ 所有者優先方式 </a:t>
            </a:r>
            <a:endParaRPr lang="en-US" altLang="ja-JP" sz="2000" b="1" dirty="0"/>
          </a:p>
          <a:p>
            <a:pPr marL="0" indent="0">
              <a:buFont typeface="Arial" panose="020B0604020202020204" pitchFamily="34" charset="0"/>
              <a:buNone/>
            </a:pPr>
            <a:r>
              <a:rPr lang="en-US" altLang="ja-JP" sz="2000" dirty="0"/>
              <a:t>	</a:t>
            </a:r>
            <a:r>
              <a:rPr lang="ja-JP" altLang="en-US" sz="2000" dirty="0"/>
              <a:t>自分の</a:t>
            </a:r>
            <a:r>
              <a:rPr lang="en-US" altLang="ja-JP" sz="2000" dirty="0"/>
              <a:t>GPU</a:t>
            </a:r>
            <a:r>
              <a:rPr lang="ja-JP" altLang="en-US" sz="2000" dirty="0"/>
              <a:t>を使う場合は、割り込んで優先して使える（</a:t>
            </a:r>
            <a:r>
              <a:rPr lang="ja-JP" altLang="en-US" sz="2000" b="1" dirty="0"/>
              <a:t>プリエンプションはなし</a:t>
            </a:r>
            <a:r>
              <a:rPr lang="ja-JP" altLang="en-US" sz="2000" dirty="0"/>
              <a:t>）</a:t>
            </a:r>
          </a:p>
          <a:p>
            <a:pPr marL="0" indent="0">
              <a:buFont typeface="Arial" panose="020B0604020202020204" pitchFamily="34" charset="0"/>
              <a:buNone/>
            </a:pPr>
            <a:r>
              <a:rPr lang="ja-JP" altLang="en-US" sz="2000" b="1" dirty="0"/>
              <a:t>④ プリエンプティブ方式 </a:t>
            </a:r>
            <a:endParaRPr lang="en-US" altLang="ja-JP" sz="2000" b="1" dirty="0"/>
          </a:p>
          <a:p>
            <a:pPr marL="0" indent="0">
              <a:buFont typeface="Arial" panose="020B0604020202020204" pitchFamily="34" charset="0"/>
              <a:buNone/>
            </a:pPr>
            <a:r>
              <a:rPr lang="en-US" altLang="ja-JP" sz="2000" dirty="0"/>
              <a:t>	</a:t>
            </a:r>
            <a:r>
              <a:rPr lang="ja-JP" altLang="en-US" sz="2000" dirty="0"/>
              <a:t>自分の</a:t>
            </a:r>
            <a:r>
              <a:rPr lang="en-US" altLang="ja-JP" sz="2000" dirty="0"/>
              <a:t>GPU </a:t>
            </a:r>
            <a:r>
              <a:rPr lang="ja-JP" altLang="en-US" sz="2000" dirty="0"/>
              <a:t>を使う場合は、他人のタスクを途中切断（他人の</a:t>
            </a:r>
            <a:r>
              <a:rPr lang="en-US" altLang="ja-JP" sz="2000" dirty="0"/>
              <a:t>GPU</a:t>
            </a:r>
            <a:r>
              <a:rPr lang="ja-JP" altLang="en-US" sz="2000" dirty="0"/>
              <a:t>は、</a:t>
            </a:r>
            <a:r>
              <a:rPr lang="en-US" altLang="ja-JP" sz="2000" dirty="0"/>
              <a:t>FCFS</a:t>
            </a:r>
            <a:r>
              <a:rPr lang="ja-JP" altLang="en-US" sz="2000" dirty="0"/>
              <a:t>）</a:t>
            </a:r>
            <a:endParaRPr lang="en-US" altLang="ja-JP" sz="2000" dirty="0"/>
          </a:p>
          <a:p>
            <a:pPr marL="0" indent="0">
              <a:buFont typeface="Arial" panose="020B0604020202020204" pitchFamily="34" charset="0"/>
              <a:buNone/>
            </a:pPr>
            <a:r>
              <a:rPr lang="ja-JP" altLang="en-US" sz="2000" dirty="0"/>
              <a:t>　</a:t>
            </a:r>
            <a:r>
              <a:rPr lang="en-US" altLang="ja-JP" sz="2000" dirty="0"/>
              <a:t>	</a:t>
            </a:r>
            <a:r>
              <a:rPr lang="ja-JP" altLang="en-US" sz="2000" dirty="0"/>
              <a:t>途中切断されたタスクはマイグレーション </a:t>
            </a:r>
            <a:r>
              <a:rPr lang="en-US" altLang="ja-JP" sz="2000" dirty="0"/>
              <a:t>or </a:t>
            </a:r>
            <a:r>
              <a:rPr lang="ja-JP" altLang="en-US" sz="2000" dirty="0"/>
              <a:t>待機</a:t>
            </a:r>
            <a:endParaRPr lang="en-US" altLang="ja-JP" sz="2000" dirty="0"/>
          </a:p>
          <a:p>
            <a:pPr marL="0" indent="0">
              <a:buFont typeface="Arial" panose="020B0604020202020204" pitchFamily="34" charset="0"/>
              <a:buNone/>
            </a:pPr>
            <a:endParaRPr lang="en-US" altLang="ja-JP" sz="2400" dirty="0"/>
          </a:p>
          <a:p>
            <a:pPr marL="0" indent="0">
              <a:buFont typeface="Arial" panose="020B0604020202020204" pitchFamily="34" charset="0"/>
              <a:buNone/>
            </a:pPr>
            <a:endParaRPr lang="en-US" altLang="ja-JP" sz="2400" dirty="0"/>
          </a:p>
          <a:p>
            <a:pPr marL="0" indent="0">
              <a:buFont typeface="Arial" panose="020B0604020202020204" pitchFamily="34" charset="0"/>
              <a:buNone/>
            </a:pPr>
            <a:endParaRPr lang="en-US" altLang="ja-JP" sz="2000" dirty="0"/>
          </a:p>
        </p:txBody>
      </p:sp>
      <p:sp>
        <p:nvSpPr>
          <p:cNvPr id="6" name="四角形: 角を丸くする 5">
            <a:extLst>
              <a:ext uri="{FF2B5EF4-FFF2-40B4-BE49-F238E27FC236}">
                <a16:creationId xmlns:a16="http://schemas.microsoft.com/office/drawing/2014/main" id="{A9CDFBD1-186D-F566-03B2-C93A3FAC1712}"/>
              </a:ext>
            </a:extLst>
          </p:cNvPr>
          <p:cNvSpPr/>
          <p:nvPr/>
        </p:nvSpPr>
        <p:spPr>
          <a:xfrm>
            <a:off x="235337" y="2869960"/>
            <a:ext cx="11066417" cy="3657600"/>
          </a:xfrm>
          <a:prstGeom prst="roundRect">
            <a:avLst/>
          </a:prstGeom>
          <a:noFill/>
          <a:ln w="317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CD176066-0ABF-09CA-6F94-BC95E3DC2A30}"/>
              </a:ext>
            </a:extLst>
          </p:cNvPr>
          <p:cNvSpPr txBox="1"/>
          <p:nvPr/>
        </p:nvSpPr>
        <p:spPr>
          <a:xfrm>
            <a:off x="838200" y="1034143"/>
            <a:ext cx="9546771" cy="1526315"/>
          </a:xfrm>
          <a:prstGeom prst="rect">
            <a:avLst/>
          </a:prstGeom>
          <a:noFill/>
        </p:spPr>
        <p:txBody>
          <a:bodyPr wrap="square" rtlCol="0">
            <a:spAutoFit/>
          </a:bodyPr>
          <a:lstStyle/>
          <a:p>
            <a:pPr>
              <a:lnSpc>
                <a:spcPct val="150000"/>
              </a:lnSpc>
            </a:pPr>
            <a:r>
              <a:rPr lang="ja-JP" altLang="en-US" sz="2400" b="1">
                <a:solidFill>
                  <a:schemeClr val="accent3">
                    <a:lumMod val="75000"/>
                  </a:schemeClr>
                </a:solidFill>
              </a:rPr>
              <a:t>共有基盤をモデル化し、各運用ルールの性能比較を行う</a:t>
            </a:r>
            <a:endParaRPr lang="en-US" altLang="ja-JP" sz="2400" b="1">
              <a:solidFill>
                <a:schemeClr val="accent3">
                  <a:lumMod val="75000"/>
                </a:schemeClr>
              </a:solidFill>
            </a:endParaRPr>
          </a:p>
          <a:p>
            <a:pPr>
              <a:lnSpc>
                <a:spcPct val="150000"/>
              </a:lnSpc>
            </a:pPr>
            <a:r>
              <a:rPr lang="ja-JP" altLang="en-US" sz="2000"/>
              <a:t>各ユーザーはタスク発生時に、全 </a:t>
            </a:r>
            <a:r>
              <a:rPr lang="en-US" altLang="ja-JP" sz="2000"/>
              <a:t>GPU </a:t>
            </a:r>
            <a:r>
              <a:rPr lang="ja-JP" altLang="en-US" sz="2000"/>
              <a:t>の中から</a:t>
            </a:r>
            <a:r>
              <a:rPr lang="ja-JP" altLang="en-US" sz="2000" b="1"/>
              <a:t>自身のターンアラウンドタイム（</a:t>
            </a:r>
            <a:r>
              <a:rPr lang="en-US" altLang="ja-JP" sz="2000" b="1"/>
              <a:t>TAT</a:t>
            </a:r>
            <a:r>
              <a:rPr lang="ja-JP" altLang="en-US" sz="2000" b="1"/>
              <a:t>）を最小化できる </a:t>
            </a:r>
            <a:r>
              <a:rPr lang="en-US" altLang="ja-JP" sz="2000" b="1"/>
              <a:t>GPU </a:t>
            </a:r>
            <a:r>
              <a:rPr lang="ja-JP" altLang="en-US" sz="2000"/>
              <a:t>を動的に選択する </a:t>
            </a:r>
            <a:endParaRPr lang="en-US" altLang="ja-JP" sz="2000"/>
          </a:p>
        </p:txBody>
      </p:sp>
    </p:spTree>
    <p:extLst>
      <p:ext uri="{BB962C8B-B14F-4D97-AF65-F5344CB8AC3E}">
        <p14:creationId xmlns:p14="http://schemas.microsoft.com/office/powerpoint/2010/main" val="1416790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4807C8A0-7CBA-B80D-0FB4-B8346403DB17}"/>
              </a:ext>
            </a:extLst>
          </p:cNvPr>
          <p:cNvSpPr/>
          <p:nvPr/>
        </p:nvSpPr>
        <p:spPr>
          <a:xfrm>
            <a:off x="272143" y="4535161"/>
            <a:ext cx="11307760" cy="22030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4566B3D1-161C-F037-0DA7-B0CB974F353A}"/>
              </a:ext>
            </a:extLst>
          </p:cNvPr>
          <p:cNvSpPr>
            <a:spLocks noGrp="1"/>
          </p:cNvSpPr>
          <p:nvPr>
            <p:ph type="title"/>
          </p:nvPr>
        </p:nvSpPr>
        <p:spPr/>
        <p:txBody>
          <a:bodyPr/>
          <a:lstStyle/>
          <a:p>
            <a:r>
              <a:rPr kumimoji="1" lang="ja-JP" altLang="en-US" b="1"/>
              <a:t>シミュレーション環境</a:t>
            </a:r>
          </a:p>
        </p:txBody>
      </p:sp>
      <p:sp>
        <p:nvSpPr>
          <p:cNvPr id="4" name="スライド番号プレースホルダー 3">
            <a:extLst>
              <a:ext uri="{FF2B5EF4-FFF2-40B4-BE49-F238E27FC236}">
                <a16:creationId xmlns:a16="http://schemas.microsoft.com/office/drawing/2014/main" id="{98146559-3B5C-5FBA-D8E0-01F8596CD480}"/>
              </a:ext>
            </a:extLst>
          </p:cNvPr>
          <p:cNvSpPr>
            <a:spLocks noGrp="1"/>
          </p:cNvSpPr>
          <p:nvPr>
            <p:ph type="sldNum" sz="quarter" idx="12"/>
          </p:nvPr>
        </p:nvSpPr>
        <p:spPr/>
        <p:txBody>
          <a:bodyPr/>
          <a:lstStyle/>
          <a:p>
            <a:fld id="{8D1BC46D-89B1-41A3-BBA1-F56BEABD0A90}" type="slidenum">
              <a:rPr lang="ja-JP" altLang="en-US" smtClean="0"/>
              <a:pPr/>
              <a:t>8</a:t>
            </a:fld>
            <a:endParaRPr lang="ja-JP" altLang="en-US"/>
          </a:p>
        </p:txBody>
      </p:sp>
      <p:sp>
        <p:nvSpPr>
          <p:cNvPr id="9" name="コンテンツ プレースホルダー 8">
            <a:extLst>
              <a:ext uri="{FF2B5EF4-FFF2-40B4-BE49-F238E27FC236}">
                <a16:creationId xmlns:a16="http://schemas.microsoft.com/office/drawing/2014/main" id="{E221A8E1-EA11-1126-3023-712944A98EF5}"/>
              </a:ext>
            </a:extLst>
          </p:cNvPr>
          <p:cNvSpPr txBox="1">
            <a:spLocks noGrp="1"/>
          </p:cNvSpPr>
          <p:nvPr>
            <p:ph idx="1"/>
          </p:nvPr>
        </p:nvSpPr>
        <p:spPr>
          <a:xfrm>
            <a:off x="403853" y="1096674"/>
            <a:ext cx="10515600" cy="5732851"/>
          </a:xfrm>
          <a:prstGeom prst="rect">
            <a:avLst/>
          </a:prstGeom>
          <a:noFill/>
        </p:spPr>
        <p:txBody>
          <a:bodyPr wrap="square" rtlCol="0">
            <a:spAutoFit/>
          </a:bodyPr>
          <a:lstStyle/>
          <a:p>
            <a:pPr marL="0" indent="0">
              <a:buNone/>
            </a:pPr>
            <a:r>
              <a:rPr lang="ja-JP" altLang="en-US" sz="2400" b="1">
                <a:solidFill>
                  <a:schemeClr val="accent3">
                    <a:lumMod val="75000"/>
                  </a:schemeClr>
                </a:solidFill>
              </a:rPr>
              <a:t>待ち行列モデルによるシミュレーション</a:t>
            </a:r>
            <a:endParaRPr lang="en-US" altLang="ja-JP" sz="2400" b="1">
              <a:solidFill>
                <a:schemeClr val="accent3">
                  <a:lumMod val="75000"/>
                </a:schemeClr>
              </a:solidFill>
            </a:endParaRPr>
          </a:p>
          <a:p>
            <a:pPr>
              <a:lnSpc>
                <a:spcPct val="150000"/>
              </a:lnSpc>
            </a:pPr>
            <a:r>
              <a:rPr lang="ja-JP" altLang="en-US" sz="2400"/>
              <a:t>ユーザー数：</a:t>
            </a:r>
            <a:r>
              <a:rPr lang="en-US" altLang="ja-JP" sz="2400" b="1"/>
              <a:t>18</a:t>
            </a:r>
            <a:r>
              <a:rPr lang="ja-JP" altLang="en-US" sz="2400" b="1"/>
              <a:t>人</a:t>
            </a:r>
            <a:r>
              <a:rPr lang="ja-JP" altLang="en-US" sz="2400"/>
              <a:t>（</a:t>
            </a:r>
            <a:r>
              <a:rPr lang="en-US" altLang="ja-JP" sz="2400"/>
              <a:t>GPU</a:t>
            </a:r>
            <a:r>
              <a:rPr lang="ja-JP" altLang="en-US" sz="2400"/>
              <a:t>サーバ各１台）</a:t>
            </a:r>
            <a:endParaRPr lang="en-US" altLang="ja-JP" sz="2400"/>
          </a:p>
          <a:p>
            <a:pPr>
              <a:lnSpc>
                <a:spcPct val="100000"/>
              </a:lnSpc>
            </a:pPr>
            <a:r>
              <a:rPr kumimoji="1" lang="en-US" altLang="ja-JP" sz="2400"/>
              <a:t>GPU</a:t>
            </a:r>
            <a:r>
              <a:rPr kumimoji="1" lang="ja-JP" altLang="en-US" sz="2400"/>
              <a:t>性能：</a:t>
            </a:r>
            <a:r>
              <a:rPr kumimoji="1" lang="ja-JP" altLang="en-US" sz="2400" b="1"/>
              <a:t>９段階</a:t>
            </a:r>
            <a:endParaRPr lang="en-US" altLang="ja-JP" sz="2000"/>
          </a:p>
          <a:p>
            <a:pPr>
              <a:lnSpc>
                <a:spcPct val="150000"/>
              </a:lnSpc>
            </a:pPr>
            <a:r>
              <a:rPr lang="ja-JP" altLang="en-US" sz="2400"/>
              <a:t>タスク到着率：</a:t>
            </a:r>
            <a:r>
              <a:rPr lang="en-US" altLang="ja-JP" sz="2400"/>
              <a:t>0.005[tasks/s]</a:t>
            </a:r>
          </a:p>
          <a:p>
            <a:pPr marL="0" indent="0">
              <a:buNone/>
            </a:pPr>
            <a:r>
              <a:rPr lang="ja-JP" altLang="en-US" sz="2400"/>
              <a:t>  →　</a:t>
            </a:r>
            <a:r>
              <a:rPr lang="ja-JP" altLang="en-US" sz="2400" b="1"/>
              <a:t>平均</a:t>
            </a:r>
            <a:r>
              <a:rPr lang="en-US" altLang="ja-JP" sz="2400" b="1"/>
              <a:t>200</a:t>
            </a:r>
            <a:r>
              <a:rPr lang="ja-JP" altLang="en-US" sz="2400" b="1"/>
              <a:t>秒に１回タスクが発生</a:t>
            </a:r>
            <a:endParaRPr lang="en-US" altLang="ja-JP" sz="2400" b="1"/>
          </a:p>
          <a:p>
            <a:pPr marL="0" indent="0">
              <a:lnSpc>
                <a:spcPct val="150000"/>
              </a:lnSpc>
              <a:buNone/>
            </a:pPr>
            <a:r>
              <a:rPr lang="ja-JP" altLang="en-US" sz="2400"/>
              <a:t>総シミュレーション時間：</a:t>
            </a:r>
            <a:r>
              <a:rPr lang="en-US" altLang="ja-JP" sz="2400" b="1"/>
              <a:t>24</a:t>
            </a:r>
            <a:r>
              <a:rPr lang="ja-JP" altLang="en-US" sz="2400" b="1"/>
              <a:t>時間</a:t>
            </a:r>
            <a:endParaRPr lang="en-US" altLang="ja-JP" sz="2400" b="1"/>
          </a:p>
          <a:p>
            <a:pPr marL="0" indent="0">
              <a:buNone/>
            </a:pPr>
            <a:r>
              <a:rPr lang="ja-JP" altLang="en-US" sz="2400"/>
              <a:t>タスク </a:t>
            </a:r>
            <a:r>
              <a:rPr lang="en-US" altLang="ja-JP" sz="2400"/>
              <a:t>: YOLOv7</a:t>
            </a:r>
            <a:r>
              <a:rPr lang="ja-JP" altLang="en-US" sz="2400"/>
              <a:t>学習タスクを想定</a:t>
            </a:r>
            <a:endParaRPr lang="en-US" altLang="ja-JP" sz="2400"/>
          </a:p>
          <a:p>
            <a:pPr marL="0" indent="0">
              <a:buNone/>
            </a:pPr>
            <a:r>
              <a:rPr lang="en-US" altLang="ja-JP" sz="2400"/>
              <a:t> </a:t>
            </a:r>
            <a:r>
              <a:rPr lang="ja-JP" altLang="en-US" sz="2400"/>
              <a:t> </a:t>
            </a:r>
            <a:r>
              <a:rPr lang="en-US" altLang="ja-JP" sz="2400"/>
              <a:t>- </a:t>
            </a:r>
            <a:r>
              <a:rPr lang="ja-JP" altLang="en-US" sz="2400"/>
              <a:t>画像１枚当たり平均</a:t>
            </a:r>
            <a:r>
              <a:rPr lang="en-US" altLang="ja-JP" sz="2400" b="1"/>
              <a:t>0.360TFLOPs</a:t>
            </a:r>
            <a:endParaRPr lang="en-US" altLang="ja-JP" sz="2400">
              <a:latin typeface="+mn-lt"/>
            </a:endParaRPr>
          </a:p>
          <a:p>
            <a:pPr marL="0" indent="0">
              <a:buNone/>
            </a:pPr>
            <a:r>
              <a:rPr lang="en-US" altLang="ja-JP" sz="2400">
                <a:latin typeface="+mn-lt"/>
              </a:rPr>
              <a:t> -</a:t>
            </a:r>
            <a:r>
              <a:rPr lang="ja-JP" altLang="en-US" sz="2400"/>
              <a:t> エポック数 ：</a:t>
            </a:r>
            <a:r>
              <a:rPr lang="en-US" altLang="ja-JP" sz="2400" b="1"/>
              <a:t>10[</a:t>
            </a:r>
            <a:r>
              <a:rPr lang="ja-JP" altLang="en-US" sz="2400" b="1"/>
              <a:t>回</a:t>
            </a:r>
            <a:r>
              <a:rPr lang="en-US" altLang="ja-JP" sz="2400" b="1"/>
              <a:t>]</a:t>
            </a:r>
            <a:r>
              <a:rPr lang="ja-JP" altLang="en-US" sz="2400"/>
              <a:t>（均一）</a:t>
            </a:r>
            <a:endParaRPr lang="en-US" altLang="ja-JP" sz="2400"/>
          </a:p>
          <a:p>
            <a:pPr marL="0" indent="0">
              <a:buNone/>
            </a:pPr>
            <a:r>
              <a:rPr lang="en-US" altLang="ja-JP" sz="2400"/>
              <a:t> -</a:t>
            </a:r>
            <a:r>
              <a:rPr lang="ja-JP" altLang="en-US" sz="2400"/>
              <a:t> バッチサイズ</a:t>
            </a:r>
            <a:r>
              <a:rPr lang="en-US" altLang="ja-JP" sz="2400"/>
              <a:t>[</a:t>
            </a:r>
            <a:r>
              <a:rPr lang="ja-JP" altLang="en-US" sz="2400"/>
              <a:t>枚</a:t>
            </a:r>
            <a:r>
              <a:rPr lang="en-US" altLang="ja-JP" sz="2400"/>
              <a:t>]</a:t>
            </a:r>
            <a:r>
              <a:rPr lang="ja-JP" altLang="en-US" sz="2400"/>
              <a:t>を調節することでシステム全体の</a:t>
            </a:r>
            <a:r>
              <a:rPr lang="ja-JP" altLang="en-US" sz="2400" b="1"/>
              <a:t>負荷率</a:t>
            </a:r>
            <a:r>
              <a:rPr lang="ja-JP" altLang="en-US" sz="2400"/>
              <a:t>を操作</a:t>
            </a:r>
            <a:endParaRPr lang="en-US" altLang="ja-JP" sz="2400"/>
          </a:p>
          <a:p>
            <a:pPr marL="0" indent="0">
              <a:buNone/>
            </a:pPr>
            <a:endParaRPr lang="en-US" altLang="ja-JP" sz="2400"/>
          </a:p>
        </p:txBody>
      </p:sp>
      <p:pic>
        <p:nvPicPr>
          <p:cNvPr id="11" name="図 10" descr="テーブル&#10;&#10;AI 生成コンテンツは誤りを含む可能性があります。">
            <a:extLst>
              <a:ext uri="{FF2B5EF4-FFF2-40B4-BE49-F238E27FC236}">
                <a16:creationId xmlns:a16="http://schemas.microsoft.com/office/drawing/2014/main" id="{39FFEEAE-C2D8-FD72-2E67-5800A0F655E4}"/>
              </a:ext>
            </a:extLst>
          </p:cNvPr>
          <p:cNvPicPr>
            <a:picLocks noChangeAspect="1"/>
          </p:cNvPicPr>
          <p:nvPr/>
        </p:nvPicPr>
        <p:blipFill>
          <a:blip r:embed="rId3"/>
          <a:srcRect l="27228" t="43333" r="26482" b="40556"/>
          <a:stretch>
            <a:fillRect/>
          </a:stretch>
        </p:blipFill>
        <p:spPr>
          <a:xfrm>
            <a:off x="7050850" y="1293867"/>
            <a:ext cx="4529053" cy="3177642"/>
          </a:xfrm>
          <a:prstGeom prst="rect">
            <a:avLst/>
          </a:prstGeom>
        </p:spPr>
      </p:pic>
      <p:sp>
        <p:nvSpPr>
          <p:cNvPr id="3" name="四角形: 角を丸くする 2">
            <a:extLst>
              <a:ext uri="{FF2B5EF4-FFF2-40B4-BE49-F238E27FC236}">
                <a16:creationId xmlns:a16="http://schemas.microsoft.com/office/drawing/2014/main" id="{1EFD1C3E-C25F-5A26-2291-946E494D4455}"/>
              </a:ext>
            </a:extLst>
          </p:cNvPr>
          <p:cNvSpPr/>
          <p:nvPr/>
        </p:nvSpPr>
        <p:spPr>
          <a:xfrm>
            <a:off x="272143" y="1578430"/>
            <a:ext cx="6574971" cy="28930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43401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descr="グラフ, 折れ線グラフ&#10;&#10;AI 生成コンテンツは誤りを含む可能性があります。">
            <a:extLst>
              <a:ext uri="{FF2B5EF4-FFF2-40B4-BE49-F238E27FC236}">
                <a16:creationId xmlns:a16="http://schemas.microsoft.com/office/drawing/2014/main" id="{7E1E4301-A96D-2F13-FCB1-DC5250D86770}"/>
              </a:ext>
            </a:extLst>
          </p:cNvPr>
          <p:cNvPicPr>
            <a:picLocks noChangeAspect="1"/>
          </p:cNvPicPr>
          <p:nvPr/>
        </p:nvPicPr>
        <p:blipFill>
          <a:blip r:embed="rId3"/>
          <a:stretch>
            <a:fillRect/>
          </a:stretch>
        </p:blipFill>
        <p:spPr>
          <a:xfrm>
            <a:off x="3924801" y="1076036"/>
            <a:ext cx="7726717" cy="5781964"/>
          </a:xfrm>
          <a:prstGeom prst="rect">
            <a:avLst/>
          </a:prstGeom>
        </p:spPr>
      </p:pic>
      <p:sp>
        <p:nvSpPr>
          <p:cNvPr id="11" name="吹き出し: 角を丸めた四角形 10">
            <a:extLst>
              <a:ext uri="{FF2B5EF4-FFF2-40B4-BE49-F238E27FC236}">
                <a16:creationId xmlns:a16="http://schemas.microsoft.com/office/drawing/2014/main" id="{7AB23996-5EA9-6643-52C6-0A9E99DD02A4}"/>
              </a:ext>
            </a:extLst>
          </p:cNvPr>
          <p:cNvSpPr/>
          <p:nvPr/>
        </p:nvSpPr>
        <p:spPr>
          <a:xfrm>
            <a:off x="540482" y="1395212"/>
            <a:ext cx="3313060" cy="1262743"/>
          </a:xfrm>
          <a:prstGeom prst="wedgeRoundRectCallout">
            <a:avLst>
              <a:gd name="adj1" fmla="val 87667"/>
              <a:gd name="adj2" fmla="val 24804"/>
              <a:gd name="adj3" fmla="val 16667"/>
            </a:avLst>
          </a:prstGeom>
          <a:solidFill>
            <a:schemeClr val="bg1">
              <a:lumMod val="85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F12D26F-B7BC-5F6A-BDA3-E65D2788B134}"/>
              </a:ext>
            </a:extLst>
          </p:cNvPr>
          <p:cNvSpPr>
            <a:spLocks noGrp="1"/>
          </p:cNvSpPr>
          <p:nvPr>
            <p:ph type="title"/>
          </p:nvPr>
        </p:nvSpPr>
        <p:spPr>
          <a:xfrm>
            <a:off x="838200" y="231697"/>
            <a:ext cx="8268093" cy="457044"/>
          </a:xfrm>
        </p:spPr>
        <p:txBody>
          <a:bodyPr anchor="ctr">
            <a:normAutofit/>
          </a:bodyPr>
          <a:lstStyle/>
          <a:p>
            <a:r>
              <a:rPr lang="ja-JP" altLang="en-US" sz="2600"/>
              <a:t>シミュレーション結果：シナリオ別</a:t>
            </a:r>
            <a:r>
              <a:rPr lang="ja-JP" altLang="en-US" sz="2600" b="1"/>
              <a:t>全体平均</a:t>
            </a:r>
            <a:r>
              <a:rPr lang="en-US" altLang="ja-JP" sz="2600" b="1"/>
              <a:t>TAT</a:t>
            </a:r>
            <a:endParaRPr kumimoji="1" lang="ja-JP" altLang="en-US" sz="2600" b="1"/>
          </a:p>
        </p:txBody>
      </p:sp>
      <p:sp>
        <p:nvSpPr>
          <p:cNvPr id="4" name="スライド番号プレースホルダー 3">
            <a:extLst>
              <a:ext uri="{FF2B5EF4-FFF2-40B4-BE49-F238E27FC236}">
                <a16:creationId xmlns:a16="http://schemas.microsoft.com/office/drawing/2014/main" id="{09F9951A-6AF3-3F19-70CA-A6F5979A68FA}"/>
              </a:ext>
            </a:extLst>
          </p:cNvPr>
          <p:cNvSpPr>
            <a:spLocks noGrp="1"/>
          </p:cNvSpPr>
          <p:nvPr>
            <p:ph type="sldNum" sz="quarter" idx="12"/>
          </p:nvPr>
        </p:nvSpPr>
        <p:spPr>
          <a:xfrm>
            <a:off x="11160803" y="277657"/>
            <a:ext cx="838200" cy="365125"/>
          </a:xfrm>
        </p:spPr>
        <p:txBody>
          <a:bodyPr anchor="ctr">
            <a:normAutofit/>
          </a:bodyPr>
          <a:lstStyle/>
          <a:p>
            <a:pPr>
              <a:lnSpc>
                <a:spcPct val="90000"/>
              </a:lnSpc>
              <a:spcAft>
                <a:spcPts val="600"/>
              </a:spcAft>
            </a:pPr>
            <a:fld id="{8D1BC46D-89B1-41A3-BBA1-F56BEABD0A90}" type="slidenum">
              <a:rPr lang="ja-JP" altLang="en-US" smtClean="0"/>
              <a:pPr>
                <a:lnSpc>
                  <a:spcPct val="90000"/>
                </a:lnSpc>
                <a:spcAft>
                  <a:spcPts val="600"/>
                </a:spcAft>
              </a:pPr>
              <a:t>9</a:t>
            </a:fld>
            <a:endParaRPr lang="ja-JP" altLang="en-US"/>
          </a:p>
        </p:txBody>
      </p:sp>
      <p:sp>
        <p:nvSpPr>
          <p:cNvPr id="9" name="テキスト ボックス 8">
            <a:extLst>
              <a:ext uri="{FF2B5EF4-FFF2-40B4-BE49-F238E27FC236}">
                <a16:creationId xmlns:a16="http://schemas.microsoft.com/office/drawing/2014/main" id="{4101FAE1-2F9A-C553-A9BA-A2482198F063}"/>
              </a:ext>
            </a:extLst>
          </p:cNvPr>
          <p:cNvSpPr txBox="1"/>
          <p:nvPr/>
        </p:nvSpPr>
        <p:spPr>
          <a:xfrm>
            <a:off x="642256" y="1457626"/>
            <a:ext cx="3211286" cy="1200329"/>
          </a:xfrm>
          <a:prstGeom prst="rect">
            <a:avLst/>
          </a:prstGeom>
          <a:noFill/>
        </p:spPr>
        <p:txBody>
          <a:bodyPr wrap="square" rtlCol="0">
            <a:spAutoFit/>
          </a:bodyPr>
          <a:lstStyle/>
          <a:p>
            <a:r>
              <a:rPr kumimoji="1" lang="ja-JP" altLang="en-US" sz="2400" b="1"/>
              <a:t>共有なしより</a:t>
            </a:r>
            <a:endParaRPr kumimoji="1" lang="en-US" altLang="ja-JP" sz="2400" b="1"/>
          </a:p>
          <a:p>
            <a:r>
              <a:rPr kumimoji="1" lang="ja-JP" altLang="en-US" sz="2400" b="1"/>
              <a:t>どの共有シナリオも</a:t>
            </a:r>
            <a:r>
              <a:rPr kumimoji="1" lang="en-US" altLang="ja-JP" sz="2400" b="1"/>
              <a:t>TAT</a:t>
            </a:r>
            <a:r>
              <a:rPr kumimoji="1" lang="ja-JP" altLang="en-US" sz="2400" b="1"/>
              <a:t>が大幅に短縮</a:t>
            </a:r>
          </a:p>
        </p:txBody>
      </p:sp>
      <p:sp>
        <p:nvSpPr>
          <p:cNvPr id="12" name="吹き出し: 角を丸めた四角形 11">
            <a:extLst>
              <a:ext uri="{FF2B5EF4-FFF2-40B4-BE49-F238E27FC236}">
                <a16:creationId xmlns:a16="http://schemas.microsoft.com/office/drawing/2014/main" id="{BD52230C-1927-16C9-740A-9FFBA1DD831E}"/>
              </a:ext>
            </a:extLst>
          </p:cNvPr>
          <p:cNvSpPr/>
          <p:nvPr/>
        </p:nvSpPr>
        <p:spPr>
          <a:xfrm>
            <a:off x="554724" y="4318070"/>
            <a:ext cx="3370077" cy="1329385"/>
          </a:xfrm>
          <a:prstGeom prst="wedgeRoundRectCallout">
            <a:avLst>
              <a:gd name="adj1" fmla="val 257598"/>
              <a:gd name="adj2" fmla="val -121513"/>
              <a:gd name="adj3" fmla="val 16667"/>
            </a:avLst>
          </a:prstGeom>
          <a:solidFill>
            <a:schemeClr val="bg1">
              <a:lumMod val="85000"/>
              <a:alpha val="6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dirty="0">
                <a:solidFill>
                  <a:schemeClr val="tx1"/>
                </a:solidFill>
              </a:rPr>
              <a:t>負荷率</a:t>
            </a:r>
            <a:r>
              <a:rPr lang="en-US" altLang="ja-JP" sz="2400" b="1" dirty="0">
                <a:solidFill>
                  <a:schemeClr val="tx1"/>
                </a:solidFill>
              </a:rPr>
              <a:t>0.8</a:t>
            </a:r>
            <a:r>
              <a:rPr lang="ja-JP" altLang="en-US" sz="2400" b="1" dirty="0">
                <a:solidFill>
                  <a:schemeClr val="tx1"/>
                </a:solidFill>
              </a:rPr>
              <a:t>以降</a:t>
            </a:r>
            <a:endParaRPr lang="en-US" altLang="ja-JP" sz="2400" b="1" dirty="0">
              <a:solidFill>
                <a:schemeClr val="tx1"/>
              </a:solidFill>
            </a:endParaRPr>
          </a:p>
          <a:p>
            <a:r>
              <a:rPr lang="ja-JP" altLang="en-US" sz="2400" b="1" dirty="0">
                <a:solidFill>
                  <a:schemeClr val="tx1"/>
                </a:solidFill>
              </a:rPr>
              <a:t>プリエンプションが</a:t>
            </a:r>
            <a:endParaRPr lang="en-US" altLang="ja-JP" sz="2400" b="1" dirty="0">
              <a:solidFill>
                <a:schemeClr val="tx1"/>
              </a:solidFill>
            </a:endParaRPr>
          </a:p>
          <a:p>
            <a:r>
              <a:rPr lang="ja-JP" altLang="en-US" sz="2400" b="1" dirty="0">
                <a:solidFill>
                  <a:schemeClr val="tx1"/>
                </a:solidFill>
              </a:rPr>
              <a:t>多く発生して</a:t>
            </a:r>
            <a:r>
              <a:rPr lang="en-US" altLang="ja-JP" sz="2400" b="1" dirty="0">
                <a:solidFill>
                  <a:schemeClr val="tx1"/>
                </a:solidFill>
              </a:rPr>
              <a:t>TAT</a:t>
            </a:r>
            <a:r>
              <a:rPr lang="ja-JP" altLang="en-US" sz="2400" b="1" dirty="0">
                <a:solidFill>
                  <a:schemeClr val="tx1"/>
                </a:solidFill>
              </a:rPr>
              <a:t>増</a:t>
            </a:r>
            <a:endParaRPr kumimoji="1" lang="ja-JP" altLang="en-US" sz="2400" b="1" dirty="0">
              <a:solidFill>
                <a:schemeClr val="tx1"/>
              </a:solidFill>
            </a:endParaRPr>
          </a:p>
        </p:txBody>
      </p:sp>
      <p:sp>
        <p:nvSpPr>
          <p:cNvPr id="10" name="テキスト ボックス 9">
            <a:extLst>
              <a:ext uri="{FF2B5EF4-FFF2-40B4-BE49-F238E27FC236}">
                <a16:creationId xmlns:a16="http://schemas.microsoft.com/office/drawing/2014/main" id="{2A2A73F0-3C85-28F2-67AF-A45C4955E81C}"/>
              </a:ext>
            </a:extLst>
          </p:cNvPr>
          <p:cNvSpPr txBox="1"/>
          <p:nvPr/>
        </p:nvSpPr>
        <p:spPr>
          <a:xfrm>
            <a:off x="6941012" y="2657955"/>
            <a:ext cx="1246974" cy="369332"/>
          </a:xfrm>
          <a:prstGeom prst="rect">
            <a:avLst/>
          </a:prstGeom>
          <a:solidFill>
            <a:srgbClr val="FF7F0E"/>
          </a:solidFill>
        </p:spPr>
        <p:txBody>
          <a:bodyPr wrap="square" rtlCol="0">
            <a:spAutoFit/>
          </a:bodyPr>
          <a:lstStyle/>
          <a:p>
            <a:r>
              <a:rPr lang="en-US" altLang="ja-JP" b="1">
                <a:solidFill>
                  <a:schemeClr val="bg1"/>
                </a:solidFill>
              </a:rPr>
              <a:t>FCFS</a:t>
            </a:r>
            <a:r>
              <a:rPr kumimoji="1" lang="ja-JP" altLang="en-US" b="1">
                <a:solidFill>
                  <a:schemeClr val="bg1"/>
                </a:solidFill>
              </a:rPr>
              <a:t>方式</a:t>
            </a:r>
          </a:p>
        </p:txBody>
      </p:sp>
      <p:sp>
        <p:nvSpPr>
          <p:cNvPr id="13" name="テキスト ボックス 12">
            <a:extLst>
              <a:ext uri="{FF2B5EF4-FFF2-40B4-BE49-F238E27FC236}">
                <a16:creationId xmlns:a16="http://schemas.microsoft.com/office/drawing/2014/main" id="{5DC99760-2A61-7E88-E168-9578CB3FD57C}"/>
              </a:ext>
            </a:extLst>
          </p:cNvPr>
          <p:cNvSpPr txBox="1"/>
          <p:nvPr/>
        </p:nvSpPr>
        <p:spPr>
          <a:xfrm>
            <a:off x="7278445" y="5278123"/>
            <a:ext cx="1819082" cy="369332"/>
          </a:xfrm>
          <a:prstGeom prst="rect">
            <a:avLst/>
          </a:prstGeom>
          <a:solidFill>
            <a:srgbClr val="1672B1"/>
          </a:solidFill>
        </p:spPr>
        <p:txBody>
          <a:bodyPr wrap="square" rtlCol="0">
            <a:spAutoFit/>
          </a:bodyPr>
          <a:lstStyle/>
          <a:p>
            <a:r>
              <a:rPr lang="ja-JP" altLang="en-US" b="1">
                <a:solidFill>
                  <a:schemeClr val="bg1"/>
                </a:solidFill>
              </a:rPr>
              <a:t>所有者優先</a:t>
            </a:r>
            <a:r>
              <a:rPr kumimoji="1" lang="ja-JP" altLang="en-US" b="1">
                <a:solidFill>
                  <a:schemeClr val="bg1"/>
                </a:solidFill>
              </a:rPr>
              <a:t>方式</a:t>
            </a:r>
          </a:p>
        </p:txBody>
      </p:sp>
      <p:sp>
        <p:nvSpPr>
          <p:cNvPr id="14" name="テキスト ボックス 13">
            <a:extLst>
              <a:ext uri="{FF2B5EF4-FFF2-40B4-BE49-F238E27FC236}">
                <a16:creationId xmlns:a16="http://schemas.microsoft.com/office/drawing/2014/main" id="{B8580310-C990-B0EC-5A19-295F10EA16DA}"/>
              </a:ext>
            </a:extLst>
          </p:cNvPr>
          <p:cNvSpPr txBox="1"/>
          <p:nvPr/>
        </p:nvSpPr>
        <p:spPr>
          <a:xfrm>
            <a:off x="8758609" y="2657955"/>
            <a:ext cx="1105827" cy="369332"/>
          </a:xfrm>
          <a:prstGeom prst="rect">
            <a:avLst/>
          </a:prstGeom>
          <a:solidFill>
            <a:srgbClr val="9467BD"/>
          </a:solidFill>
        </p:spPr>
        <p:txBody>
          <a:bodyPr wrap="square" rtlCol="0">
            <a:spAutoFit/>
          </a:bodyPr>
          <a:lstStyle/>
          <a:p>
            <a:r>
              <a:rPr lang="ja-JP" altLang="en-US" b="1">
                <a:solidFill>
                  <a:schemeClr val="bg1"/>
                </a:solidFill>
              </a:rPr>
              <a:t>共有なし</a:t>
            </a:r>
            <a:endParaRPr kumimoji="1" lang="ja-JP" altLang="en-US" b="1">
              <a:solidFill>
                <a:schemeClr val="bg1"/>
              </a:solidFill>
            </a:endParaRPr>
          </a:p>
        </p:txBody>
      </p:sp>
      <p:sp>
        <p:nvSpPr>
          <p:cNvPr id="15" name="テキスト ボックス 14">
            <a:extLst>
              <a:ext uri="{FF2B5EF4-FFF2-40B4-BE49-F238E27FC236}">
                <a16:creationId xmlns:a16="http://schemas.microsoft.com/office/drawing/2014/main" id="{6F353B76-CF8F-B428-CEDA-C252475AC03F}"/>
              </a:ext>
            </a:extLst>
          </p:cNvPr>
          <p:cNvSpPr txBox="1"/>
          <p:nvPr/>
        </p:nvSpPr>
        <p:spPr>
          <a:xfrm>
            <a:off x="9362355" y="5278123"/>
            <a:ext cx="2541195" cy="369332"/>
          </a:xfrm>
          <a:prstGeom prst="rect">
            <a:avLst/>
          </a:prstGeom>
          <a:solidFill>
            <a:srgbClr val="2CA02C"/>
          </a:solidFill>
        </p:spPr>
        <p:txBody>
          <a:bodyPr wrap="square" rtlCol="0">
            <a:spAutoFit/>
          </a:bodyPr>
          <a:lstStyle/>
          <a:p>
            <a:r>
              <a:rPr lang="ja-JP" altLang="en-US" b="1">
                <a:solidFill>
                  <a:schemeClr val="bg1"/>
                </a:solidFill>
              </a:rPr>
              <a:t>プリエンプティブ方式</a:t>
            </a:r>
            <a:endParaRPr kumimoji="1" lang="ja-JP" altLang="en-US" b="1">
              <a:solidFill>
                <a:schemeClr val="bg1"/>
              </a:solidFill>
            </a:endParaRPr>
          </a:p>
        </p:txBody>
      </p:sp>
      <p:cxnSp>
        <p:nvCxnSpPr>
          <p:cNvPr id="22" name="直線コネクタ 21">
            <a:extLst>
              <a:ext uri="{FF2B5EF4-FFF2-40B4-BE49-F238E27FC236}">
                <a16:creationId xmlns:a16="http://schemas.microsoft.com/office/drawing/2014/main" id="{E25646DB-B1F6-C3AD-3FBD-2B0E831EBBA0}"/>
              </a:ext>
            </a:extLst>
          </p:cNvPr>
          <p:cNvCxnSpPr>
            <a:cxnSpLocks/>
          </p:cNvCxnSpPr>
          <p:nvPr/>
        </p:nvCxnSpPr>
        <p:spPr>
          <a:xfrm>
            <a:off x="8599055" y="4732524"/>
            <a:ext cx="1995054" cy="545599"/>
          </a:xfrm>
          <a:prstGeom prst="line">
            <a:avLst/>
          </a:prstGeom>
          <a:ln>
            <a:solidFill>
              <a:srgbClr val="2CA02C"/>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A3D23484-322A-12E6-9033-FFF84C62D7E9}"/>
              </a:ext>
            </a:extLst>
          </p:cNvPr>
          <p:cNvCxnSpPr>
            <a:cxnSpLocks/>
            <a:endCxn id="13" idx="0"/>
          </p:cNvCxnSpPr>
          <p:nvPr/>
        </p:nvCxnSpPr>
        <p:spPr>
          <a:xfrm>
            <a:off x="7656945" y="4461164"/>
            <a:ext cx="531041" cy="816959"/>
          </a:xfrm>
          <a:prstGeom prst="line">
            <a:avLst/>
          </a:prstGeom>
          <a:ln>
            <a:solidFill>
              <a:srgbClr val="1672B1"/>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6217844D-1A6D-1A67-05D9-0270C9FDACD2}"/>
              </a:ext>
            </a:extLst>
          </p:cNvPr>
          <p:cNvCxnSpPr>
            <a:cxnSpLocks/>
            <a:endCxn id="14" idx="0"/>
          </p:cNvCxnSpPr>
          <p:nvPr/>
        </p:nvCxnSpPr>
        <p:spPr>
          <a:xfrm>
            <a:off x="9245600" y="1457626"/>
            <a:ext cx="65923" cy="1200329"/>
          </a:xfrm>
          <a:prstGeom prst="line">
            <a:avLst/>
          </a:prstGeom>
          <a:ln>
            <a:solidFill>
              <a:srgbClr val="9467BD"/>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8C9F15B2-D9AB-A30D-6BD8-029E7EB26694}"/>
              </a:ext>
            </a:extLst>
          </p:cNvPr>
          <p:cNvCxnSpPr>
            <a:cxnSpLocks/>
          </p:cNvCxnSpPr>
          <p:nvPr/>
        </p:nvCxnSpPr>
        <p:spPr>
          <a:xfrm flipH="1" flipV="1">
            <a:off x="7509164" y="3027287"/>
            <a:ext cx="1967345" cy="1027477"/>
          </a:xfrm>
          <a:prstGeom prst="line">
            <a:avLst/>
          </a:prstGeom>
          <a:ln>
            <a:solidFill>
              <a:srgbClr val="FF7F0E"/>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3166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descr="グラフ, 折れ線グラフ&#10;&#10;AI 生成コンテンツは誤りを含む可能性があります。">
            <a:extLst>
              <a:ext uri="{FF2B5EF4-FFF2-40B4-BE49-F238E27FC236}">
                <a16:creationId xmlns:a16="http://schemas.microsoft.com/office/drawing/2014/main" id="{5130B4CF-FC9F-A621-7909-9FB2288AFD34}"/>
              </a:ext>
            </a:extLst>
          </p:cNvPr>
          <p:cNvPicPr>
            <a:picLocks noChangeAspect="1"/>
          </p:cNvPicPr>
          <p:nvPr/>
        </p:nvPicPr>
        <p:blipFill>
          <a:blip r:embed="rId3"/>
          <a:stretch>
            <a:fillRect/>
          </a:stretch>
        </p:blipFill>
        <p:spPr>
          <a:xfrm>
            <a:off x="4522395" y="1147814"/>
            <a:ext cx="7262822" cy="5432529"/>
          </a:xfrm>
          <a:prstGeom prst="rect">
            <a:avLst/>
          </a:prstGeom>
        </p:spPr>
      </p:pic>
      <p:pic>
        <p:nvPicPr>
          <p:cNvPr id="3" name="図 2" descr="テーブル&#10;&#10;AI 生成コンテンツは誤りを含む可能性があります。">
            <a:extLst>
              <a:ext uri="{FF2B5EF4-FFF2-40B4-BE49-F238E27FC236}">
                <a16:creationId xmlns:a16="http://schemas.microsoft.com/office/drawing/2014/main" id="{52BC15D5-F920-E66E-E83D-97EB53D18913}"/>
              </a:ext>
            </a:extLst>
          </p:cNvPr>
          <p:cNvPicPr>
            <a:picLocks noChangeAspect="1"/>
          </p:cNvPicPr>
          <p:nvPr/>
        </p:nvPicPr>
        <p:blipFill>
          <a:blip r:embed="rId4"/>
          <a:srcRect l="27228" t="43333" r="26482" b="40556"/>
          <a:stretch>
            <a:fillRect/>
          </a:stretch>
        </p:blipFill>
        <p:spPr>
          <a:xfrm>
            <a:off x="246743" y="3587124"/>
            <a:ext cx="3791453" cy="2660132"/>
          </a:xfrm>
          <a:prstGeom prst="rect">
            <a:avLst/>
          </a:prstGeom>
        </p:spPr>
      </p:pic>
      <p:sp>
        <p:nvSpPr>
          <p:cNvPr id="2" name="タイトル 1">
            <a:extLst>
              <a:ext uri="{FF2B5EF4-FFF2-40B4-BE49-F238E27FC236}">
                <a16:creationId xmlns:a16="http://schemas.microsoft.com/office/drawing/2014/main" id="{5670E5AB-B7CE-87F9-0DE2-DCA6A4B85B27}"/>
              </a:ext>
            </a:extLst>
          </p:cNvPr>
          <p:cNvSpPr>
            <a:spLocks noGrp="1"/>
          </p:cNvSpPr>
          <p:nvPr>
            <p:ph type="title"/>
          </p:nvPr>
        </p:nvSpPr>
        <p:spPr/>
        <p:txBody>
          <a:bodyPr/>
          <a:lstStyle/>
          <a:p>
            <a:r>
              <a:rPr kumimoji="1" lang="ja-JP" altLang="en-US"/>
              <a:t>シナリオ別</a:t>
            </a:r>
            <a:r>
              <a:rPr kumimoji="1" lang="ja-JP" altLang="en-US" b="1"/>
              <a:t>高性能平均</a:t>
            </a:r>
            <a:r>
              <a:rPr kumimoji="1" lang="en-US" altLang="ja-JP" b="1"/>
              <a:t>TAT</a:t>
            </a:r>
            <a:endParaRPr kumimoji="1" lang="ja-JP" altLang="en-US" b="1"/>
          </a:p>
        </p:txBody>
      </p:sp>
      <p:sp>
        <p:nvSpPr>
          <p:cNvPr id="4" name="スライド番号プレースホルダー 3">
            <a:extLst>
              <a:ext uri="{FF2B5EF4-FFF2-40B4-BE49-F238E27FC236}">
                <a16:creationId xmlns:a16="http://schemas.microsoft.com/office/drawing/2014/main" id="{95A618E8-DB97-1439-C3D8-5C7E56B0AB33}"/>
              </a:ext>
            </a:extLst>
          </p:cNvPr>
          <p:cNvSpPr>
            <a:spLocks noGrp="1"/>
          </p:cNvSpPr>
          <p:nvPr>
            <p:ph type="sldNum" sz="quarter" idx="12"/>
          </p:nvPr>
        </p:nvSpPr>
        <p:spPr/>
        <p:txBody>
          <a:bodyPr/>
          <a:lstStyle/>
          <a:p>
            <a:fld id="{8D1BC46D-89B1-41A3-BBA1-F56BEABD0A90}" type="slidenum">
              <a:rPr lang="ja-JP" altLang="en-US" smtClean="0"/>
              <a:pPr/>
              <a:t>10</a:t>
            </a:fld>
            <a:endParaRPr lang="ja-JP" altLang="en-US"/>
          </a:p>
        </p:txBody>
      </p:sp>
      <p:sp>
        <p:nvSpPr>
          <p:cNvPr id="7" name="吹き出し: 角を丸めた四角形 6">
            <a:extLst>
              <a:ext uri="{FF2B5EF4-FFF2-40B4-BE49-F238E27FC236}">
                <a16:creationId xmlns:a16="http://schemas.microsoft.com/office/drawing/2014/main" id="{00A6B0C8-1C6B-A559-4737-574EB877BDF4}"/>
              </a:ext>
            </a:extLst>
          </p:cNvPr>
          <p:cNvSpPr/>
          <p:nvPr/>
        </p:nvSpPr>
        <p:spPr>
          <a:xfrm>
            <a:off x="328681" y="1123281"/>
            <a:ext cx="3415804" cy="1295400"/>
          </a:xfrm>
          <a:prstGeom prst="wedgeRoundRectCallout">
            <a:avLst>
              <a:gd name="adj1" fmla="val 158030"/>
              <a:gd name="adj2" fmla="val 108413"/>
              <a:gd name="adj3" fmla="val 16667"/>
            </a:avLst>
          </a:prstGeom>
          <a:solidFill>
            <a:schemeClr val="bg1">
              <a:lumMod val="85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b="1">
                <a:solidFill>
                  <a:schemeClr val="tx1"/>
                </a:solidFill>
              </a:rPr>
              <a:t>共有なしと比べて</a:t>
            </a:r>
            <a:r>
              <a:rPr kumimoji="1" lang="en-US" altLang="ja-JP" sz="2400" b="1">
                <a:solidFill>
                  <a:schemeClr val="tx1"/>
                </a:solidFill>
              </a:rPr>
              <a:t>FCFS</a:t>
            </a:r>
            <a:r>
              <a:rPr kumimoji="1" lang="ja-JP" altLang="en-US" sz="2400" b="1">
                <a:solidFill>
                  <a:schemeClr val="tx1"/>
                </a:solidFill>
              </a:rPr>
              <a:t>、所有者優先</a:t>
            </a:r>
            <a:endParaRPr kumimoji="1" lang="en-US" altLang="ja-JP" sz="2400" b="1">
              <a:solidFill>
                <a:schemeClr val="tx1"/>
              </a:solidFill>
            </a:endParaRPr>
          </a:p>
          <a:p>
            <a:r>
              <a:rPr kumimoji="1" lang="ja-JP" altLang="en-US" sz="2400" b="1">
                <a:solidFill>
                  <a:schemeClr val="tx1"/>
                </a:solidFill>
              </a:rPr>
              <a:t>方式は</a:t>
            </a:r>
            <a:r>
              <a:rPr kumimoji="1" lang="en-US" altLang="ja-JP" sz="2400" b="1">
                <a:solidFill>
                  <a:schemeClr val="tx1"/>
                </a:solidFill>
              </a:rPr>
              <a:t>TAT</a:t>
            </a:r>
            <a:r>
              <a:rPr kumimoji="1" lang="ja-JP" altLang="en-US" sz="2400" b="1">
                <a:solidFill>
                  <a:schemeClr val="tx1"/>
                </a:solidFill>
              </a:rPr>
              <a:t>が大</a:t>
            </a:r>
          </a:p>
        </p:txBody>
      </p:sp>
      <p:sp>
        <p:nvSpPr>
          <p:cNvPr id="8" name="吹き出し: 角を丸めた四角形 7">
            <a:extLst>
              <a:ext uri="{FF2B5EF4-FFF2-40B4-BE49-F238E27FC236}">
                <a16:creationId xmlns:a16="http://schemas.microsoft.com/office/drawing/2014/main" id="{E32DFD16-C8A6-7AFE-D111-F9E47ADB642A}"/>
              </a:ext>
            </a:extLst>
          </p:cNvPr>
          <p:cNvSpPr/>
          <p:nvPr/>
        </p:nvSpPr>
        <p:spPr>
          <a:xfrm>
            <a:off x="315687" y="2548093"/>
            <a:ext cx="3135086" cy="909619"/>
          </a:xfrm>
          <a:prstGeom prst="wedgeRoundRectCallout">
            <a:avLst>
              <a:gd name="adj1" fmla="val 145537"/>
              <a:gd name="adj2" fmla="val 162934"/>
              <a:gd name="adj3" fmla="val 16667"/>
            </a:avLst>
          </a:prstGeom>
          <a:solidFill>
            <a:schemeClr val="bg1">
              <a:lumMod val="85000"/>
              <a:alpha val="7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b="1">
                <a:solidFill>
                  <a:schemeClr val="tx1"/>
                </a:solidFill>
              </a:rPr>
              <a:t>プリエンプティブ</a:t>
            </a:r>
            <a:endParaRPr kumimoji="1" lang="en-US" altLang="ja-JP" sz="2800" b="1">
              <a:solidFill>
                <a:schemeClr val="tx1"/>
              </a:solidFill>
            </a:endParaRPr>
          </a:p>
          <a:p>
            <a:pPr algn="ctr"/>
            <a:r>
              <a:rPr kumimoji="1" lang="ja-JP" altLang="en-US" sz="2800" b="1">
                <a:solidFill>
                  <a:schemeClr val="tx1"/>
                </a:solidFill>
              </a:rPr>
              <a:t>方式は同水準</a:t>
            </a:r>
          </a:p>
        </p:txBody>
      </p:sp>
      <p:sp>
        <p:nvSpPr>
          <p:cNvPr id="9" name="コンテンツ プレースホルダー 8">
            <a:extLst>
              <a:ext uri="{FF2B5EF4-FFF2-40B4-BE49-F238E27FC236}">
                <a16:creationId xmlns:a16="http://schemas.microsoft.com/office/drawing/2014/main" id="{9B8E9F00-4875-F957-C017-CACA2D5FBDA5}"/>
              </a:ext>
            </a:extLst>
          </p:cNvPr>
          <p:cNvSpPr>
            <a:spLocks noGrp="1"/>
          </p:cNvSpPr>
          <p:nvPr>
            <p:ph idx="1"/>
          </p:nvPr>
        </p:nvSpPr>
        <p:spPr/>
        <p:txBody>
          <a:bodyPr/>
          <a:lstStyle/>
          <a:p>
            <a:endParaRPr lang="ja-JP" altLang="en-US" dirty="0"/>
          </a:p>
        </p:txBody>
      </p:sp>
      <p:sp>
        <p:nvSpPr>
          <p:cNvPr id="12" name="テキスト ボックス 11">
            <a:extLst>
              <a:ext uri="{FF2B5EF4-FFF2-40B4-BE49-F238E27FC236}">
                <a16:creationId xmlns:a16="http://schemas.microsoft.com/office/drawing/2014/main" id="{9E5606FF-D8BA-36A8-8804-5AED8CBF7D3C}"/>
              </a:ext>
            </a:extLst>
          </p:cNvPr>
          <p:cNvSpPr txBox="1"/>
          <p:nvPr/>
        </p:nvSpPr>
        <p:spPr>
          <a:xfrm>
            <a:off x="6557753" y="1811925"/>
            <a:ext cx="1247202" cy="369332"/>
          </a:xfrm>
          <a:prstGeom prst="rect">
            <a:avLst/>
          </a:prstGeom>
          <a:solidFill>
            <a:srgbClr val="FF7F0E"/>
          </a:solidFill>
        </p:spPr>
        <p:txBody>
          <a:bodyPr wrap="square" rtlCol="0">
            <a:spAutoFit/>
          </a:bodyPr>
          <a:lstStyle/>
          <a:p>
            <a:r>
              <a:rPr lang="en-US" altLang="ja-JP" b="1" dirty="0">
                <a:solidFill>
                  <a:schemeClr val="bg1"/>
                </a:solidFill>
              </a:rPr>
              <a:t>FCFS</a:t>
            </a:r>
            <a:r>
              <a:rPr kumimoji="1" lang="ja-JP" altLang="en-US" b="1" dirty="0">
                <a:solidFill>
                  <a:schemeClr val="bg1"/>
                </a:solidFill>
              </a:rPr>
              <a:t>方式</a:t>
            </a:r>
          </a:p>
        </p:txBody>
      </p:sp>
      <p:cxnSp>
        <p:nvCxnSpPr>
          <p:cNvPr id="14" name="直線コネクタ 13">
            <a:extLst>
              <a:ext uri="{FF2B5EF4-FFF2-40B4-BE49-F238E27FC236}">
                <a16:creationId xmlns:a16="http://schemas.microsoft.com/office/drawing/2014/main" id="{1AEA56EB-3F5A-4A4E-2F0A-B8AAE1C74F7F}"/>
              </a:ext>
            </a:extLst>
          </p:cNvPr>
          <p:cNvCxnSpPr>
            <a:cxnSpLocks/>
          </p:cNvCxnSpPr>
          <p:nvPr/>
        </p:nvCxnSpPr>
        <p:spPr>
          <a:xfrm>
            <a:off x="7536873" y="2181257"/>
            <a:ext cx="2059709" cy="552707"/>
          </a:xfrm>
          <a:prstGeom prst="line">
            <a:avLst/>
          </a:prstGeom>
          <a:ln>
            <a:solidFill>
              <a:srgbClr val="FF7F0E"/>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18A414FC-D0D3-6AD0-32A8-72D585624629}"/>
              </a:ext>
            </a:extLst>
          </p:cNvPr>
          <p:cNvSpPr txBox="1"/>
          <p:nvPr/>
        </p:nvSpPr>
        <p:spPr>
          <a:xfrm>
            <a:off x="8100291" y="1811925"/>
            <a:ext cx="1939155" cy="369332"/>
          </a:xfrm>
          <a:prstGeom prst="rect">
            <a:avLst/>
          </a:prstGeom>
          <a:solidFill>
            <a:srgbClr val="1672B1"/>
          </a:solidFill>
        </p:spPr>
        <p:txBody>
          <a:bodyPr wrap="square" rtlCol="0">
            <a:spAutoFit/>
          </a:bodyPr>
          <a:lstStyle/>
          <a:p>
            <a:r>
              <a:rPr kumimoji="1" lang="ja-JP" altLang="en-US" b="1" dirty="0">
                <a:solidFill>
                  <a:schemeClr val="bg1"/>
                </a:solidFill>
              </a:rPr>
              <a:t>所有者優先方式</a:t>
            </a:r>
          </a:p>
        </p:txBody>
      </p:sp>
      <p:cxnSp>
        <p:nvCxnSpPr>
          <p:cNvPr id="16" name="直線コネクタ 15">
            <a:extLst>
              <a:ext uri="{FF2B5EF4-FFF2-40B4-BE49-F238E27FC236}">
                <a16:creationId xmlns:a16="http://schemas.microsoft.com/office/drawing/2014/main" id="{79138199-2CDC-AC9C-FF54-43F575EB850A}"/>
              </a:ext>
            </a:extLst>
          </p:cNvPr>
          <p:cNvCxnSpPr>
            <a:cxnSpLocks/>
          </p:cNvCxnSpPr>
          <p:nvPr/>
        </p:nvCxnSpPr>
        <p:spPr>
          <a:xfrm>
            <a:off x="9023927" y="2181257"/>
            <a:ext cx="1350565" cy="922161"/>
          </a:xfrm>
          <a:prstGeom prst="line">
            <a:avLst/>
          </a:prstGeom>
          <a:ln>
            <a:solidFill>
              <a:srgbClr val="1672B1"/>
            </a:solidFill>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EA0AE6D1-46FC-0DC8-B180-F6113E4AB514}"/>
              </a:ext>
            </a:extLst>
          </p:cNvPr>
          <p:cNvSpPr txBox="1"/>
          <p:nvPr/>
        </p:nvSpPr>
        <p:spPr>
          <a:xfrm>
            <a:off x="7918100" y="4732524"/>
            <a:ext cx="1105827" cy="369332"/>
          </a:xfrm>
          <a:prstGeom prst="rect">
            <a:avLst/>
          </a:prstGeom>
          <a:solidFill>
            <a:srgbClr val="9467BD"/>
          </a:solidFill>
        </p:spPr>
        <p:txBody>
          <a:bodyPr wrap="square" rtlCol="0">
            <a:spAutoFit/>
          </a:bodyPr>
          <a:lstStyle/>
          <a:p>
            <a:r>
              <a:rPr lang="ja-JP" altLang="en-US" b="1">
                <a:solidFill>
                  <a:schemeClr val="bg1"/>
                </a:solidFill>
              </a:rPr>
              <a:t>共有なし</a:t>
            </a:r>
            <a:endParaRPr kumimoji="1" lang="ja-JP" altLang="en-US" b="1">
              <a:solidFill>
                <a:schemeClr val="bg1"/>
              </a:solidFill>
            </a:endParaRPr>
          </a:p>
        </p:txBody>
      </p:sp>
      <p:cxnSp>
        <p:nvCxnSpPr>
          <p:cNvPr id="21" name="直線コネクタ 20">
            <a:extLst>
              <a:ext uri="{FF2B5EF4-FFF2-40B4-BE49-F238E27FC236}">
                <a16:creationId xmlns:a16="http://schemas.microsoft.com/office/drawing/2014/main" id="{F0E02930-DA3C-5EDE-B232-17078A322BD7}"/>
              </a:ext>
            </a:extLst>
          </p:cNvPr>
          <p:cNvCxnSpPr>
            <a:cxnSpLocks/>
          </p:cNvCxnSpPr>
          <p:nvPr/>
        </p:nvCxnSpPr>
        <p:spPr>
          <a:xfrm>
            <a:off x="7536873" y="4285673"/>
            <a:ext cx="794327" cy="446851"/>
          </a:xfrm>
          <a:prstGeom prst="line">
            <a:avLst/>
          </a:prstGeom>
          <a:ln>
            <a:solidFill>
              <a:srgbClr val="9467BD"/>
            </a:solidFill>
          </a:ln>
        </p:spPr>
        <p:style>
          <a:lnRef idx="2">
            <a:schemeClr val="accent1"/>
          </a:lnRef>
          <a:fillRef idx="0">
            <a:schemeClr val="accent1"/>
          </a:fillRef>
          <a:effectRef idx="1">
            <a:schemeClr val="accent1"/>
          </a:effectRef>
          <a:fontRef idx="minor">
            <a:schemeClr val="tx1"/>
          </a:fontRef>
        </p:style>
      </p:cxnSp>
      <p:sp>
        <p:nvSpPr>
          <p:cNvPr id="25" name="テキスト ボックス 24">
            <a:extLst>
              <a:ext uri="{FF2B5EF4-FFF2-40B4-BE49-F238E27FC236}">
                <a16:creationId xmlns:a16="http://schemas.microsoft.com/office/drawing/2014/main" id="{39FB8771-BB4E-14AF-3A66-C4AA25C200FD}"/>
              </a:ext>
            </a:extLst>
          </p:cNvPr>
          <p:cNvSpPr txBox="1"/>
          <p:nvPr/>
        </p:nvSpPr>
        <p:spPr>
          <a:xfrm>
            <a:off x="9404062" y="4732524"/>
            <a:ext cx="2541195" cy="369332"/>
          </a:xfrm>
          <a:prstGeom prst="rect">
            <a:avLst/>
          </a:prstGeom>
          <a:solidFill>
            <a:srgbClr val="2CA02C"/>
          </a:solidFill>
        </p:spPr>
        <p:txBody>
          <a:bodyPr wrap="square" rtlCol="0">
            <a:spAutoFit/>
          </a:bodyPr>
          <a:lstStyle/>
          <a:p>
            <a:r>
              <a:rPr lang="ja-JP" altLang="en-US" b="1">
                <a:solidFill>
                  <a:schemeClr val="bg1"/>
                </a:solidFill>
              </a:rPr>
              <a:t>プリエンプティブ方式</a:t>
            </a:r>
            <a:endParaRPr kumimoji="1" lang="ja-JP" altLang="en-US" b="1">
              <a:solidFill>
                <a:schemeClr val="bg1"/>
              </a:solidFill>
            </a:endParaRPr>
          </a:p>
        </p:txBody>
      </p:sp>
      <p:cxnSp>
        <p:nvCxnSpPr>
          <p:cNvPr id="29" name="直線コネクタ 28">
            <a:extLst>
              <a:ext uri="{FF2B5EF4-FFF2-40B4-BE49-F238E27FC236}">
                <a16:creationId xmlns:a16="http://schemas.microsoft.com/office/drawing/2014/main" id="{A5E09C0F-F1F2-46E2-7994-E7D60E37EEEF}"/>
              </a:ext>
            </a:extLst>
          </p:cNvPr>
          <p:cNvCxnSpPr>
            <a:cxnSpLocks/>
            <a:endCxn id="25" idx="0"/>
          </p:cNvCxnSpPr>
          <p:nvPr/>
        </p:nvCxnSpPr>
        <p:spPr>
          <a:xfrm>
            <a:off x="8815399" y="4124037"/>
            <a:ext cx="1859261" cy="608487"/>
          </a:xfrm>
          <a:prstGeom prst="line">
            <a:avLst/>
          </a:prstGeom>
          <a:ln>
            <a:solidFill>
              <a:srgbClr val="2CA02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282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3F3A42-9F33-C969-1239-8E61272F5176}"/>
              </a:ext>
            </a:extLst>
          </p:cNvPr>
          <p:cNvSpPr>
            <a:spLocks noGrp="1"/>
          </p:cNvSpPr>
          <p:nvPr>
            <p:ph type="title"/>
          </p:nvPr>
        </p:nvSpPr>
        <p:spPr/>
        <p:txBody>
          <a:bodyPr/>
          <a:lstStyle/>
          <a:p>
            <a:r>
              <a:rPr lang="ja-JP" altLang="en-US" b="1"/>
              <a:t>性能別ユーザー行動による</a:t>
            </a:r>
            <a:r>
              <a:rPr lang="en-US" altLang="ja-JP" b="1"/>
              <a:t>ACP</a:t>
            </a:r>
            <a:r>
              <a:rPr lang="ja-JP" altLang="en-US" b="1"/>
              <a:t>参加評価</a:t>
            </a:r>
            <a:endParaRPr lang="en-US" altLang="ja-JP" b="1"/>
          </a:p>
        </p:txBody>
      </p:sp>
      <p:sp>
        <p:nvSpPr>
          <p:cNvPr id="3" name="コンテンツ プレースホルダー 2">
            <a:extLst>
              <a:ext uri="{FF2B5EF4-FFF2-40B4-BE49-F238E27FC236}">
                <a16:creationId xmlns:a16="http://schemas.microsoft.com/office/drawing/2014/main" id="{83113ED6-80FB-38AA-B1C6-A2AEE513B7C5}"/>
              </a:ext>
            </a:extLst>
          </p:cNvPr>
          <p:cNvSpPr>
            <a:spLocks noGrp="1"/>
          </p:cNvSpPr>
          <p:nvPr>
            <p:ph idx="1"/>
          </p:nvPr>
        </p:nvSpPr>
        <p:spPr/>
        <p:txBody>
          <a:bodyPr>
            <a:normAutofit fontScale="70000" lnSpcReduction="20000"/>
          </a:bodyPr>
          <a:lstStyle/>
          <a:p>
            <a:pPr marL="0" indent="0">
              <a:lnSpc>
                <a:spcPct val="150000"/>
              </a:lnSpc>
              <a:buNone/>
            </a:pPr>
            <a:r>
              <a:rPr lang="ja-JP" altLang="en-US" sz="3400" b="1" dirty="0">
                <a:solidFill>
                  <a:schemeClr val="accent3">
                    <a:lumMod val="75000"/>
                  </a:schemeClr>
                </a:solidFill>
                <a:latin typeface="+mn-lt"/>
              </a:rPr>
              <a:t>待ち時間を効用式とした意思決定モデルと参加者数の推移評価</a:t>
            </a:r>
            <a:endParaRPr lang="en-US" altLang="ja-JP" sz="3400" b="1" dirty="0">
              <a:solidFill>
                <a:schemeClr val="accent3">
                  <a:lumMod val="75000"/>
                </a:schemeClr>
              </a:solidFill>
              <a:latin typeface="+mn-lt"/>
              <a:ea typeface="メイリオ" panose="020B0604030504040204" pitchFamily="50" charset="-128"/>
            </a:endParaRPr>
          </a:p>
          <a:p>
            <a:pPr marL="0" indent="0">
              <a:lnSpc>
                <a:spcPct val="150000"/>
              </a:lnSpc>
              <a:buNone/>
            </a:pPr>
            <a:r>
              <a:rPr lang="ja-JP" altLang="en-US" sz="2900" b="1" dirty="0">
                <a:latin typeface="+mn-lt"/>
                <a:ea typeface="メイリオ" panose="020B0604030504040204" pitchFamily="50" charset="-128"/>
              </a:rPr>
              <a:t>合理的なユーザー行動のモデル化</a:t>
            </a:r>
            <a:endParaRPr lang="ja-JP" altLang="en-US" sz="2900" dirty="0">
              <a:latin typeface="+mn-lt"/>
              <a:ea typeface="メイリオ" panose="020B0604030504040204" pitchFamily="50" charset="-128"/>
            </a:endParaRPr>
          </a:p>
          <a:p>
            <a:pPr marL="457200" lvl="1" indent="0">
              <a:lnSpc>
                <a:spcPct val="150000"/>
              </a:lnSpc>
              <a:buNone/>
            </a:pPr>
            <a:r>
              <a:rPr lang="ja-JP" altLang="en-US" sz="2900" dirty="0">
                <a:latin typeface="+mn-lt"/>
                <a:ea typeface="メイリオ" panose="020B0604030504040204" pitchFamily="50" charset="-128"/>
              </a:rPr>
              <a:t>「ターンアラウンドタイム」の速さを</a:t>
            </a:r>
            <a:r>
              <a:rPr lang="ja-JP" altLang="en-US" sz="2900" b="1" dirty="0">
                <a:solidFill>
                  <a:schemeClr val="accent1"/>
                </a:solidFill>
                <a:latin typeface="+mn-lt"/>
                <a:ea typeface="メイリオ" panose="020B0604030504040204" pitchFamily="50" charset="-128"/>
              </a:rPr>
              <a:t>効用関数</a:t>
            </a:r>
            <a:r>
              <a:rPr lang="ja-JP" altLang="en-US" sz="2900" dirty="0">
                <a:latin typeface="+mn-lt"/>
                <a:ea typeface="メイリオ" panose="020B0604030504040204" pitchFamily="50" charset="-128"/>
              </a:rPr>
              <a:t>として、</a:t>
            </a:r>
            <a:r>
              <a:rPr lang="en-US" altLang="ja-JP" sz="2900" dirty="0">
                <a:latin typeface="+mn-lt"/>
                <a:ea typeface="メイリオ" panose="020B0604030504040204" pitchFamily="50" charset="-128"/>
              </a:rPr>
              <a:t>ACP</a:t>
            </a:r>
            <a:r>
              <a:rPr lang="ja-JP" altLang="en-US" sz="2900" dirty="0">
                <a:latin typeface="+mn-lt"/>
                <a:ea typeface="メイリオ" panose="020B0604030504040204" pitchFamily="50" charset="-128"/>
              </a:rPr>
              <a:t>への参加・不参加を判断すると想定。</a:t>
            </a:r>
          </a:p>
          <a:p>
            <a:pPr marL="0" indent="0">
              <a:lnSpc>
                <a:spcPct val="150000"/>
              </a:lnSpc>
              <a:buNone/>
            </a:pPr>
            <a:r>
              <a:rPr lang="ja-JP" altLang="en-US" sz="2900" b="1" dirty="0">
                <a:latin typeface="+mn-lt"/>
                <a:ea typeface="メイリオ" panose="020B0604030504040204" pitchFamily="50" charset="-128"/>
              </a:rPr>
              <a:t>参加判断のロジック　→　</a:t>
            </a:r>
            <a:r>
              <a:rPr lang="ja-JP" altLang="en-US" sz="2900" dirty="0">
                <a:latin typeface="+mn-lt"/>
                <a:ea typeface="メイリオ" panose="020B0604030504040204" pitchFamily="50" charset="-128"/>
              </a:rPr>
              <a:t>毎ループごとに参加判断</a:t>
            </a:r>
          </a:p>
          <a:p>
            <a:pPr marL="457200" lvl="1" indent="0">
              <a:lnSpc>
                <a:spcPct val="150000"/>
              </a:lnSpc>
              <a:buNone/>
            </a:pPr>
            <a:r>
              <a:rPr lang="ja-JP" altLang="en-US" sz="2900" b="1" dirty="0">
                <a:latin typeface="+mn-lt"/>
                <a:ea typeface="メイリオ" panose="020B0604030504040204" pitchFamily="50" charset="-128"/>
              </a:rPr>
              <a:t>未参加者：</a:t>
            </a:r>
            <a:r>
              <a:rPr lang="ja-JP" altLang="en-US" sz="2900" dirty="0">
                <a:latin typeface="+mn-lt"/>
                <a:ea typeface="メイリオ" panose="020B0604030504040204" pitchFamily="50" charset="-128"/>
              </a:rPr>
              <a:t>「現在の</a:t>
            </a:r>
            <a:r>
              <a:rPr lang="en-US" altLang="ja-JP" sz="2900" dirty="0">
                <a:latin typeface="+mn-lt"/>
                <a:ea typeface="メイリオ" panose="020B0604030504040204" pitchFamily="50" charset="-128"/>
              </a:rPr>
              <a:t>ACP</a:t>
            </a:r>
            <a:r>
              <a:rPr lang="ja-JP" altLang="en-US" sz="2900" dirty="0">
                <a:latin typeface="+mn-lt"/>
                <a:ea typeface="メイリオ" panose="020B0604030504040204" pitchFamily="50" charset="-128"/>
              </a:rPr>
              <a:t>に自分が加わった場合」の待ち時間を予測し、</a:t>
            </a:r>
            <a:endParaRPr lang="en-US" altLang="ja-JP" sz="2900" dirty="0">
              <a:latin typeface="+mn-lt"/>
              <a:ea typeface="メイリオ" panose="020B0604030504040204" pitchFamily="50" charset="-128"/>
            </a:endParaRPr>
          </a:p>
          <a:p>
            <a:pPr marL="457200" lvl="1" indent="0">
              <a:lnSpc>
                <a:spcPct val="150000"/>
              </a:lnSpc>
              <a:buNone/>
            </a:pPr>
            <a:r>
              <a:rPr lang="ja-JP" altLang="en-US" sz="2900" dirty="0">
                <a:latin typeface="+mn-lt"/>
                <a:ea typeface="メイリオ" panose="020B0604030504040204" pitchFamily="50" charset="-128"/>
              </a:rPr>
              <a:t>　　　　　　自分の</a:t>
            </a:r>
            <a:r>
              <a:rPr lang="en-US" altLang="ja-JP" sz="2900" dirty="0">
                <a:latin typeface="+mn-lt"/>
                <a:ea typeface="メイリオ" panose="020B0604030504040204" pitchFamily="50" charset="-128"/>
              </a:rPr>
              <a:t>GPU</a:t>
            </a:r>
            <a:r>
              <a:rPr lang="ja-JP" altLang="en-US" sz="2900" dirty="0">
                <a:latin typeface="+mn-lt"/>
                <a:ea typeface="メイリオ" panose="020B0604030504040204" pitchFamily="50" charset="-128"/>
              </a:rPr>
              <a:t>のみを使う場合と比較して早い方を選択。</a:t>
            </a:r>
          </a:p>
          <a:p>
            <a:pPr marL="457200" lvl="1" indent="0">
              <a:lnSpc>
                <a:spcPct val="150000"/>
              </a:lnSpc>
              <a:buNone/>
            </a:pPr>
            <a:r>
              <a:rPr lang="ja-JP" altLang="en-US" sz="2900" b="1" dirty="0">
                <a:latin typeface="+mn-lt"/>
                <a:ea typeface="メイリオ" panose="020B0604030504040204" pitchFamily="50" charset="-128"/>
              </a:rPr>
              <a:t>参加者：</a:t>
            </a:r>
            <a:r>
              <a:rPr lang="ja-JP" altLang="en-US" sz="2900" dirty="0">
                <a:latin typeface="+mn-lt"/>
                <a:ea typeface="メイリオ" panose="020B0604030504040204" pitchFamily="50" charset="-128"/>
              </a:rPr>
              <a:t>「現在の</a:t>
            </a:r>
            <a:r>
              <a:rPr lang="en-US" altLang="ja-JP" sz="2900" dirty="0">
                <a:latin typeface="+mn-lt"/>
                <a:ea typeface="メイリオ" panose="020B0604030504040204" pitchFamily="50" charset="-128"/>
              </a:rPr>
              <a:t>ACP</a:t>
            </a:r>
            <a:r>
              <a:rPr lang="ja-JP" altLang="en-US" sz="2900" dirty="0">
                <a:latin typeface="+mn-lt"/>
                <a:ea typeface="メイリオ" panose="020B0604030504040204" pitchFamily="50" charset="-128"/>
              </a:rPr>
              <a:t>での実績値」と、自分一人で計算した場合を比較し、</a:t>
            </a:r>
            <a:endParaRPr lang="en-US" altLang="ja-JP" sz="2900" dirty="0">
              <a:latin typeface="+mn-lt"/>
              <a:ea typeface="メイリオ" panose="020B0604030504040204" pitchFamily="50" charset="-128"/>
            </a:endParaRPr>
          </a:p>
          <a:p>
            <a:pPr marL="457200" lvl="1" indent="0">
              <a:lnSpc>
                <a:spcPct val="150000"/>
              </a:lnSpc>
              <a:buNone/>
            </a:pPr>
            <a:r>
              <a:rPr lang="ja-JP" altLang="en-US" sz="2900" dirty="0">
                <a:latin typeface="+mn-lt"/>
                <a:ea typeface="メイリオ" panose="020B0604030504040204" pitchFamily="50" charset="-128"/>
              </a:rPr>
              <a:t>　　　　　継続か離脱かを判断。</a:t>
            </a:r>
          </a:p>
          <a:p>
            <a:pPr marL="0" indent="0">
              <a:lnSpc>
                <a:spcPct val="150000"/>
              </a:lnSpc>
              <a:buNone/>
            </a:pPr>
            <a:r>
              <a:rPr lang="ja-JP" altLang="en-US" sz="2900" b="1" dirty="0">
                <a:latin typeface="+mn-lt"/>
                <a:ea typeface="メイリオ" panose="020B0604030504040204" pitchFamily="50" charset="-128"/>
              </a:rPr>
              <a:t>持続性の評価指標</a:t>
            </a:r>
            <a:endParaRPr lang="ja-JP" altLang="en-US" sz="2900" dirty="0">
              <a:latin typeface="+mn-lt"/>
              <a:ea typeface="メイリオ" panose="020B0604030504040204" pitchFamily="50" charset="-128"/>
            </a:endParaRPr>
          </a:p>
          <a:p>
            <a:pPr marL="457200" lvl="1" indent="0">
              <a:lnSpc>
                <a:spcPct val="150000"/>
              </a:lnSpc>
              <a:buNone/>
            </a:pPr>
            <a:r>
              <a:rPr lang="en-US" altLang="ja-JP" sz="2900" dirty="0">
                <a:latin typeface="+mn-lt"/>
                <a:ea typeface="メイリオ" panose="020B0604030504040204" pitchFamily="50" charset="-128"/>
              </a:rPr>
              <a:t>10</a:t>
            </a:r>
            <a:r>
              <a:rPr lang="ja-JP" altLang="en-US" sz="2900" dirty="0">
                <a:latin typeface="+mn-lt"/>
                <a:ea typeface="メイリオ" panose="020B0604030504040204" pitchFamily="50" charset="-128"/>
              </a:rPr>
              <a:t>回のループを通じて、</a:t>
            </a:r>
            <a:r>
              <a:rPr lang="ja-JP" altLang="en-US" sz="2900" b="1" dirty="0">
                <a:solidFill>
                  <a:schemeClr val="accent1"/>
                </a:solidFill>
                <a:latin typeface="+mn-lt"/>
                <a:ea typeface="メイリオ" panose="020B0604030504040204" pitchFamily="50" charset="-128"/>
              </a:rPr>
              <a:t>性能別のユーザーの参加者数</a:t>
            </a:r>
          </a:p>
          <a:p>
            <a:pPr marL="0" indent="0">
              <a:buNone/>
            </a:pPr>
            <a:endParaRPr kumimoji="1" lang="ja-JP" altLang="en-US" b="1" dirty="0">
              <a:solidFill>
                <a:schemeClr val="accent3">
                  <a:lumMod val="75000"/>
                </a:schemeClr>
              </a:solidFill>
            </a:endParaRPr>
          </a:p>
        </p:txBody>
      </p:sp>
      <p:sp>
        <p:nvSpPr>
          <p:cNvPr id="4" name="スライド番号プレースホルダー 3">
            <a:extLst>
              <a:ext uri="{FF2B5EF4-FFF2-40B4-BE49-F238E27FC236}">
                <a16:creationId xmlns:a16="http://schemas.microsoft.com/office/drawing/2014/main" id="{11E220AF-AD77-EDA2-CFF8-25A71A459026}"/>
              </a:ext>
            </a:extLst>
          </p:cNvPr>
          <p:cNvSpPr>
            <a:spLocks noGrp="1"/>
          </p:cNvSpPr>
          <p:nvPr>
            <p:ph type="sldNum" sz="quarter" idx="12"/>
          </p:nvPr>
        </p:nvSpPr>
        <p:spPr/>
        <p:txBody>
          <a:bodyPr/>
          <a:lstStyle/>
          <a:p>
            <a:fld id="{8D1BC46D-89B1-41A3-BBA1-F56BEABD0A90}" type="slidenum">
              <a:rPr lang="ja-JP" altLang="en-US" smtClean="0"/>
              <a:pPr/>
              <a:t>11</a:t>
            </a:fld>
            <a:endParaRPr lang="ja-JP" altLang="en-US"/>
          </a:p>
        </p:txBody>
      </p:sp>
    </p:spTree>
    <p:extLst>
      <p:ext uri="{BB962C8B-B14F-4D97-AF65-F5344CB8AC3E}">
        <p14:creationId xmlns:p14="http://schemas.microsoft.com/office/powerpoint/2010/main" val="646169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グラフ, 棒グラフ&#10;&#10;AI 生成コンテンツは誤りを含む可能性があります。">
            <a:extLst>
              <a:ext uri="{FF2B5EF4-FFF2-40B4-BE49-F238E27FC236}">
                <a16:creationId xmlns:a16="http://schemas.microsoft.com/office/drawing/2014/main" id="{BC83BF69-380B-7B8F-A309-FA7130143436}"/>
              </a:ext>
            </a:extLst>
          </p:cNvPr>
          <p:cNvPicPr>
            <a:picLocks noChangeAspect="1"/>
          </p:cNvPicPr>
          <p:nvPr/>
        </p:nvPicPr>
        <p:blipFill>
          <a:blip r:embed="rId3"/>
          <a:stretch>
            <a:fillRect/>
          </a:stretch>
        </p:blipFill>
        <p:spPr>
          <a:xfrm>
            <a:off x="3494041" y="1351463"/>
            <a:ext cx="4375576" cy="2614440"/>
          </a:xfrm>
          <a:prstGeom prst="rect">
            <a:avLst/>
          </a:prstGeom>
        </p:spPr>
      </p:pic>
      <p:pic>
        <p:nvPicPr>
          <p:cNvPr id="13" name="図 12" descr="グラフ, 棒グラフ&#10;&#10;AI 生成コンテンツは誤りを含む可能性があります。">
            <a:extLst>
              <a:ext uri="{FF2B5EF4-FFF2-40B4-BE49-F238E27FC236}">
                <a16:creationId xmlns:a16="http://schemas.microsoft.com/office/drawing/2014/main" id="{0A913290-A3B8-C50E-9165-8DF1ED8A2F15}"/>
              </a:ext>
            </a:extLst>
          </p:cNvPr>
          <p:cNvPicPr>
            <a:picLocks noChangeAspect="1"/>
          </p:cNvPicPr>
          <p:nvPr/>
        </p:nvPicPr>
        <p:blipFill>
          <a:blip r:embed="rId4"/>
          <a:stretch>
            <a:fillRect/>
          </a:stretch>
        </p:blipFill>
        <p:spPr>
          <a:xfrm>
            <a:off x="650147" y="4110182"/>
            <a:ext cx="4375576" cy="2614440"/>
          </a:xfrm>
          <a:prstGeom prst="rect">
            <a:avLst/>
          </a:prstGeom>
        </p:spPr>
      </p:pic>
      <p:sp>
        <p:nvSpPr>
          <p:cNvPr id="2" name="タイトル 1">
            <a:extLst>
              <a:ext uri="{FF2B5EF4-FFF2-40B4-BE49-F238E27FC236}">
                <a16:creationId xmlns:a16="http://schemas.microsoft.com/office/drawing/2014/main" id="{86AB8C8D-11A8-96A5-361A-59F9257AFEB8}"/>
              </a:ext>
            </a:extLst>
          </p:cNvPr>
          <p:cNvSpPr>
            <a:spLocks noGrp="1"/>
          </p:cNvSpPr>
          <p:nvPr>
            <p:ph type="title"/>
          </p:nvPr>
        </p:nvSpPr>
        <p:spPr/>
        <p:txBody>
          <a:bodyPr/>
          <a:lstStyle/>
          <a:p>
            <a:r>
              <a:rPr lang="ja-JP" altLang="en-US" b="1"/>
              <a:t>シミュレーション結果 </a:t>
            </a:r>
            <a:r>
              <a:rPr lang="en-US" altLang="ja-JP" b="1"/>
              <a:t>:</a:t>
            </a:r>
            <a:r>
              <a:rPr lang="ja-JP" altLang="en-US" b="1"/>
              <a:t> 参加者数推移</a:t>
            </a:r>
            <a:endParaRPr kumimoji="1" lang="ja-JP" altLang="en-US" b="1"/>
          </a:p>
        </p:txBody>
      </p:sp>
      <p:sp>
        <p:nvSpPr>
          <p:cNvPr id="4" name="スライド番号プレースホルダー 3">
            <a:extLst>
              <a:ext uri="{FF2B5EF4-FFF2-40B4-BE49-F238E27FC236}">
                <a16:creationId xmlns:a16="http://schemas.microsoft.com/office/drawing/2014/main" id="{10E2543F-C418-7668-E296-BC1FC3AEF9E0}"/>
              </a:ext>
            </a:extLst>
          </p:cNvPr>
          <p:cNvSpPr>
            <a:spLocks noGrp="1"/>
          </p:cNvSpPr>
          <p:nvPr>
            <p:ph type="sldNum" sz="quarter" idx="12"/>
          </p:nvPr>
        </p:nvSpPr>
        <p:spPr/>
        <p:txBody>
          <a:bodyPr/>
          <a:lstStyle/>
          <a:p>
            <a:fld id="{8D1BC46D-89B1-41A3-BBA1-F56BEABD0A90}" type="slidenum">
              <a:rPr lang="ja-JP" altLang="en-US" smtClean="0"/>
              <a:pPr/>
              <a:t>12</a:t>
            </a:fld>
            <a:endParaRPr lang="ja-JP" altLang="en-US"/>
          </a:p>
        </p:txBody>
      </p:sp>
      <p:sp>
        <p:nvSpPr>
          <p:cNvPr id="9" name="吹き出し: 角を丸めた四角形 8">
            <a:extLst>
              <a:ext uri="{FF2B5EF4-FFF2-40B4-BE49-F238E27FC236}">
                <a16:creationId xmlns:a16="http://schemas.microsoft.com/office/drawing/2014/main" id="{F54FDCF0-C453-9702-A3E7-809C763B461B}"/>
              </a:ext>
            </a:extLst>
          </p:cNvPr>
          <p:cNvSpPr/>
          <p:nvPr/>
        </p:nvSpPr>
        <p:spPr>
          <a:xfrm>
            <a:off x="80150" y="1498876"/>
            <a:ext cx="4115797" cy="2271923"/>
          </a:xfrm>
          <a:custGeom>
            <a:avLst/>
            <a:gdLst>
              <a:gd name="csX0" fmla="*/ 0 w 3252236"/>
              <a:gd name="csY0" fmla="*/ 264744 h 1588432"/>
              <a:gd name="csX1" fmla="*/ 264744 w 3252236"/>
              <a:gd name="csY1" fmla="*/ 0 h 1588432"/>
              <a:gd name="csX2" fmla="*/ 1897138 w 3252236"/>
              <a:gd name="csY2" fmla="*/ 0 h 1588432"/>
              <a:gd name="csX3" fmla="*/ 1897138 w 3252236"/>
              <a:gd name="csY3" fmla="*/ 0 h 1588432"/>
              <a:gd name="csX4" fmla="*/ 2710197 w 3252236"/>
              <a:gd name="csY4" fmla="*/ 0 h 1588432"/>
              <a:gd name="csX5" fmla="*/ 2987492 w 3252236"/>
              <a:gd name="csY5" fmla="*/ 0 h 1588432"/>
              <a:gd name="csX6" fmla="*/ 3252236 w 3252236"/>
              <a:gd name="csY6" fmla="*/ 264744 h 1588432"/>
              <a:gd name="csX7" fmla="*/ 3252236 w 3252236"/>
              <a:gd name="csY7" fmla="*/ 926585 h 1588432"/>
              <a:gd name="csX8" fmla="*/ 6988307 w 3252236"/>
              <a:gd name="csY8" fmla="*/ 1842184 h 1588432"/>
              <a:gd name="csX9" fmla="*/ 3252236 w 3252236"/>
              <a:gd name="csY9" fmla="*/ 1323693 h 1588432"/>
              <a:gd name="csX10" fmla="*/ 3252236 w 3252236"/>
              <a:gd name="csY10" fmla="*/ 1323688 h 1588432"/>
              <a:gd name="csX11" fmla="*/ 2987492 w 3252236"/>
              <a:gd name="csY11" fmla="*/ 1588432 h 1588432"/>
              <a:gd name="csX12" fmla="*/ 2710197 w 3252236"/>
              <a:gd name="csY12" fmla="*/ 1588432 h 1588432"/>
              <a:gd name="csX13" fmla="*/ 1897138 w 3252236"/>
              <a:gd name="csY13" fmla="*/ 1588432 h 1588432"/>
              <a:gd name="csX14" fmla="*/ 1897138 w 3252236"/>
              <a:gd name="csY14" fmla="*/ 1588432 h 1588432"/>
              <a:gd name="csX15" fmla="*/ 264744 w 3252236"/>
              <a:gd name="csY15" fmla="*/ 1588432 h 1588432"/>
              <a:gd name="csX16" fmla="*/ 0 w 3252236"/>
              <a:gd name="csY16" fmla="*/ 1323688 h 1588432"/>
              <a:gd name="csX17" fmla="*/ 0 w 3252236"/>
              <a:gd name="csY17" fmla="*/ 1323693 h 1588432"/>
              <a:gd name="csX18" fmla="*/ 0 w 3252236"/>
              <a:gd name="csY18" fmla="*/ 926585 h 1588432"/>
              <a:gd name="csX19" fmla="*/ 0 w 3252236"/>
              <a:gd name="csY19" fmla="*/ 926585 h 1588432"/>
              <a:gd name="csX20" fmla="*/ 0 w 3252236"/>
              <a:gd name="csY20" fmla="*/ 264744 h 1588432"/>
              <a:gd name="csX0" fmla="*/ 0 w 6988307"/>
              <a:gd name="csY0" fmla="*/ 264744 h 3925232"/>
              <a:gd name="csX1" fmla="*/ 264744 w 6988307"/>
              <a:gd name="csY1" fmla="*/ 0 h 3925232"/>
              <a:gd name="csX2" fmla="*/ 1897138 w 6988307"/>
              <a:gd name="csY2" fmla="*/ 0 h 3925232"/>
              <a:gd name="csX3" fmla="*/ 1897138 w 6988307"/>
              <a:gd name="csY3" fmla="*/ 0 h 3925232"/>
              <a:gd name="csX4" fmla="*/ 2710197 w 6988307"/>
              <a:gd name="csY4" fmla="*/ 0 h 3925232"/>
              <a:gd name="csX5" fmla="*/ 2987492 w 6988307"/>
              <a:gd name="csY5" fmla="*/ 0 h 3925232"/>
              <a:gd name="csX6" fmla="*/ 3252236 w 6988307"/>
              <a:gd name="csY6" fmla="*/ 264744 h 3925232"/>
              <a:gd name="csX7" fmla="*/ 3252236 w 6988307"/>
              <a:gd name="csY7" fmla="*/ 926585 h 3925232"/>
              <a:gd name="csX8" fmla="*/ 6988307 w 6988307"/>
              <a:gd name="csY8" fmla="*/ 1842184 h 3925232"/>
              <a:gd name="csX9" fmla="*/ 3252236 w 6988307"/>
              <a:gd name="csY9" fmla="*/ 1323693 h 3925232"/>
              <a:gd name="csX10" fmla="*/ 3252236 w 6988307"/>
              <a:gd name="csY10" fmla="*/ 1323688 h 3925232"/>
              <a:gd name="csX11" fmla="*/ 2987492 w 6988307"/>
              <a:gd name="csY11" fmla="*/ 1588432 h 3925232"/>
              <a:gd name="csX12" fmla="*/ 4603652 w 6988307"/>
              <a:gd name="csY12" fmla="*/ 3925232 h 3925232"/>
              <a:gd name="csX13" fmla="*/ 1897138 w 6988307"/>
              <a:gd name="csY13" fmla="*/ 1588432 h 3925232"/>
              <a:gd name="csX14" fmla="*/ 1897138 w 6988307"/>
              <a:gd name="csY14" fmla="*/ 1588432 h 3925232"/>
              <a:gd name="csX15" fmla="*/ 264744 w 6988307"/>
              <a:gd name="csY15" fmla="*/ 1588432 h 3925232"/>
              <a:gd name="csX16" fmla="*/ 0 w 6988307"/>
              <a:gd name="csY16" fmla="*/ 1323688 h 3925232"/>
              <a:gd name="csX17" fmla="*/ 0 w 6988307"/>
              <a:gd name="csY17" fmla="*/ 1323693 h 3925232"/>
              <a:gd name="csX18" fmla="*/ 0 w 6988307"/>
              <a:gd name="csY18" fmla="*/ 926585 h 3925232"/>
              <a:gd name="csX19" fmla="*/ 0 w 6988307"/>
              <a:gd name="csY19" fmla="*/ 926585 h 3925232"/>
              <a:gd name="csX20" fmla="*/ 0 w 6988307"/>
              <a:gd name="csY20" fmla="*/ 264744 h 3925232"/>
              <a:gd name="csX0" fmla="*/ 0 w 6988307"/>
              <a:gd name="csY0" fmla="*/ 264744 h 2271923"/>
              <a:gd name="csX1" fmla="*/ 264744 w 6988307"/>
              <a:gd name="csY1" fmla="*/ 0 h 2271923"/>
              <a:gd name="csX2" fmla="*/ 1897138 w 6988307"/>
              <a:gd name="csY2" fmla="*/ 0 h 2271923"/>
              <a:gd name="csX3" fmla="*/ 1897138 w 6988307"/>
              <a:gd name="csY3" fmla="*/ 0 h 2271923"/>
              <a:gd name="csX4" fmla="*/ 2710197 w 6988307"/>
              <a:gd name="csY4" fmla="*/ 0 h 2271923"/>
              <a:gd name="csX5" fmla="*/ 2987492 w 6988307"/>
              <a:gd name="csY5" fmla="*/ 0 h 2271923"/>
              <a:gd name="csX6" fmla="*/ 3252236 w 6988307"/>
              <a:gd name="csY6" fmla="*/ 264744 h 2271923"/>
              <a:gd name="csX7" fmla="*/ 3252236 w 6988307"/>
              <a:gd name="csY7" fmla="*/ 926585 h 2271923"/>
              <a:gd name="csX8" fmla="*/ 6988307 w 6988307"/>
              <a:gd name="csY8" fmla="*/ 1842184 h 2271923"/>
              <a:gd name="csX9" fmla="*/ 3252236 w 6988307"/>
              <a:gd name="csY9" fmla="*/ 1323693 h 2271923"/>
              <a:gd name="csX10" fmla="*/ 3252236 w 6988307"/>
              <a:gd name="csY10" fmla="*/ 1323688 h 2271923"/>
              <a:gd name="csX11" fmla="*/ 2987492 w 6988307"/>
              <a:gd name="csY11" fmla="*/ 1588432 h 2271923"/>
              <a:gd name="csX12" fmla="*/ 2867216 w 6988307"/>
              <a:gd name="csY12" fmla="*/ 2271923 h 2271923"/>
              <a:gd name="csX13" fmla="*/ 1897138 w 6988307"/>
              <a:gd name="csY13" fmla="*/ 1588432 h 2271923"/>
              <a:gd name="csX14" fmla="*/ 1897138 w 6988307"/>
              <a:gd name="csY14" fmla="*/ 1588432 h 2271923"/>
              <a:gd name="csX15" fmla="*/ 264744 w 6988307"/>
              <a:gd name="csY15" fmla="*/ 1588432 h 2271923"/>
              <a:gd name="csX16" fmla="*/ 0 w 6988307"/>
              <a:gd name="csY16" fmla="*/ 1323688 h 2271923"/>
              <a:gd name="csX17" fmla="*/ 0 w 6988307"/>
              <a:gd name="csY17" fmla="*/ 1323693 h 2271923"/>
              <a:gd name="csX18" fmla="*/ 0 w 6988307"/>
              <a:gd name="csY18" fmla="*/ 926585 h 2271923"/>
              <a:gd name="csX19" fmla="*/ 0 w 6988307"/>
              <a:gd name="csY19" fmla="*/ 926585 h 2271923"/>
              <a:gd name="csX20" fmla="*/ 0 w 6988307"/>
              <a:gd name="csY20" fmla="*/ 264744 h 2271923"/>
              <a:gd name="csX0" fmla="*/ 0 w 4115797"/>
              <a:gd name="csY0" fmla="*/ 264744 h 2271923"/>
              <a:gd name="csX1" fmla="*/ 264744 w 4115797"/>
              <a:gd name="csY1" fmla="*/ 0 h 2271923"/>
              <a:gd name="csX2" fmla="*/ 1897138 w 4115797"/>
              <a:gd name="csY2" fmla="*/ 0 h 2271923"/>
              <a:gd name="csX3" fmla="*/ 1897138 w 4115797"/>
              <a:gd name="csY3" fmla="*/ 0 h 2271923"/>
              <a:gd name="csX4" fmla="*/ 2710197 w 4115797"/>
              <a:gd name="csY4" fmla="*/ 0 h 2271923"/>
              <a:gd name="csX5" fmla="*/ 2987492 w 4115797"/>
              <a:gd name="csY5" fmla="*/ 0 h 2271923"/>
              <a:gd name="csX6" fmla="*/ 3252236 w 4115797"/>
              <a:gd name="csY6" fmla="*/ 264744 h 2271923"/>
              <a:gd name="csX7" fmla="*/ 3252236 w 4115797"/>
              <a:gd name="csY7" fmla="*/ 926585 h 2271923"/>
              <a:gd name="csX8" fmla="*/ 4115797 w 4115797"/>
              <a:gd name="csY8" fmla="*/ 863130 h 2271923"/>
              <a:gd name="csX9" fmla="*/ 3252236 w 4115797"/>
              <a:gd name="csY9" fmla="*/ 1323693 h 2271923"/>
              <a:gd name="csX10" fmla="*/ 3252236 w 4115797"/>
              <a:gd name="csY10" fmla="*/ 1323688 h 2271923"/>
              <a:gd name="csX11" fmla="*/ 2987492 w 4115797"/>
              <a:gd name="csY11" fmla="*/ 1588432 h 2271923"/>
              <a:gd name="csX12" fmla="*/ 2867216 w 4115797"/>
              <a:gd name="csY12" fmla="*/ 2271923 h 2271923"/>
              <a:gd name="csX13" fmla="*/ 1897138 w 4115797"/>
              <a:gd name="csY13" fmla="*/ 1588432 h 2271923"/>
              <a:gd name="csX14" fmla="*/ 1897138 w 4115797"/>
              <a:gd name="csY14" fmla="*/ 1588432 h 2271923"/>
              <a:gd name="csX15" fmla="*/ 264744 w 4115797"/>
              <a:gd name="csY15" fmla="*/ 1588432 h 2271923"/>
              <a:gd name="csX16" fmla="*/ 0 w 4115797"/>
              <a:gd name="csY16" fmla="*/ 1323688 h 2271923"/>
              <a:gd name="csX17" fmla="*/ 0 w 4115797"/>
              <a:gd name="csY17" fmla="*/ 1323693 h 2271923"/>
              <a:gd name="csX18" fmla="*/ 0 w 4115797"/>
              <a:gd name="csY18" fmla="*/ 926585 h 2271923"/>
              <a:gd name="csX19" fmla="*/ 0 w 4115797"/>
              <a:gd name="csY19" fmla="*/ 926585 h 2271923"/>
              <a:gd name="csX20" fmla="*/ 0 w 4115797"/>
              <a:gd name="csY20" fmla="*/ 264744 h 22719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115797" h="2271923">
                <a:moveTo>
                  <a:pt x="0" y="264744"/>
                </a:moveTo>
                <a:cubicBezTo>
                  <a:pt x="0" y="118530"/>
                  <a:pt x="118530" y="0"/>
                  <a:pt x="264744" y="0"/>
                </a:cubicBezTo>
                <a:lnTo>
                  <a:pt x="1897138" y="0"/>
                </a:lnTo>
                <a:lnTo>
                  <a:pt x="1897138" y="0"/>
                </a:lnTo>
                <a:lnTo>
                  <a:pt x="2710197" y="0"/>
                </a:lnTo>
                <a:lnTo>
                  <a:pt x="2987492" y="0"/>
                </a:lnTo>
                <a:cubicBezTo>
                  <a:pt x="3133706" y="0"/>
                  <a:pt x="3252236" y="118530"/>
                  <a:pt x="3252236" y="264744"/>
                </a:cubicBezTo>
                <a:lnTo>
                  <a:pt x="3252236" y="926585"/>
                </a:lnTo>
                <a:lnTo>
                  <a:pt x="4115797" y="863130"/>
                </a:lnTo>
                <a:lnTo>
                  <a:pt x="3252236" y="1323693"/>
                </a:lnTo>
                <a:lnTo>
                  <a:pt x="3252236" y="1323688"/>
                </a:lnTo>
                <a:cubicBezTo>
                  <a:pt x="3252236" y="1469902"/>
                  <a:pt x="3133706" y="1588432"/>
                  <a:pt x="2987492" y="1588432"/>
                </a:cubicBezTo>
                <a:lnTo>
                  <a:pt x="2867216" y="2271923"/>
                </a:lnTo>
                <a:lnTo>
                  <a:pt x="1897138" y="1588432"/>
                </a:lnTo>
                <a:lnTo>
                  <a:pt x="1897138" y="1588432"/>
                </a:lnTo>
                <a:lnTo>
                  <a:pt x="264744" y="1588432"/>
                </a:lnTo>
                <a:cubicBezTo>
                  <a:pt x="118530" y="1588432"/>
                  <a:pt x="0" y="1469902"/>
                  <a:pt x="0" y="1323688"/>
                </a:cubicBezTo>
                <a:lnTo>
                  <a:pt x="0" y="1323693"/>
                </a:lnTo>
                <a:lnTo>
                  <a:pt x="0" y="926585"/>
                </a:lnTo>
                <a:lnTo>
                  <a:pt x="0" y="926585"/>
                </a:lnTo>
                <a:lnTo>
                  <a:pt x="0" y="264744"/>
                </a:lnTo>
                <a:close/>
              </a:path>
            </a:pathLst>
          </a:custGeom>
          <a:solidFill>
            <a:schemeClr val="bg1">
              <a:lumMod val="85000"/>
              <a:alpha val="66000"/>
            </a:schemeClr>
          </a:solidFill>
          <a:ln cap="sq">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accent3">
                  <a:lumMod val="75000"/>
                </a:schemeClr>
              </a:solidFill>
              <a:latin typeface="メイリオ" panose="020B0604030504040204" pitchFamily="50" charset="-128"/>
              <a:ea typeface="メイリオ" panose="020B0604030504040204" pitchFamily="50" charset="-128"/>
            </a:endParaRPr>
          </a:p>
        </p:txBody>
      </p:sp>
      <p:sp>
        <p:nvSpPr>
          <p:cNvPr id="10" name="吹き出し: 角を丸めた四角形 9">
            <a:extLst>
              <a:ext uri="{FF2B5EF4-FFF2-40B4-BE49-F238E27FC236}">
                <a16:creationId xmlns:a16="http://schemas.microsoft.com/office/drawing/2014/main" id="{71DE01A5-1F87-13D2-22A3-7244C2BF70CC}"/>
              </a:ext>
            </a:extLst>
          </p:cNvPr>
          <p:cNvSpPr/>
          <p:nvPr/>
        </p:nvSpPr>
        <p:spPr>
          <a:xfrm>
            <a:off x="8817685" y="2303713"/>
            <a:ext cx="3181318" cy="927004"/>
          </a:xfrm>
          <a:prstGeom prst="wedgeRoundRectCallout">
            <a:avLst>
              <a:gd name="adj1" fmla="val 22566"/>
              <a:gd name="adj2" fmla="val 147869"/>
              <a:gd name="adj3" fmla="val 16667"/>
            </a:avLst>
          </a:prstGeom>
          <a:solidFill>
            <a:schemeClr val="bg1">
              <a:lumMod val="85000"/>
              <a:alpha val="36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solidFill>
                <a:latin typeface="メイリオ" panose="020B0604030504040204" pitchFamily="50" charset="-128"/>
                <a:ea typeface="メイリオ" panose="020B0604030504040204" pitchFamily="50" charset="-128"/>
              </a:rPr>
              <a:t>「プリエンプティブ方式」</a:t>
            </a:r>
            <a:endParaRPr lang="en-US" altLang="ja-JP" b="1">
              <a:solidFill>
                <a:schemeClr val="tx1"/>
              </a:solidFill>
              <a:latin typeface="メイリオ" panose="020B0604030504040204" pitchFamily="50" charset="-128"/>
              <a:ea typeface="メイリオ" panose="020B0604030504040204" pitchFamily="50" charset="-128"/>
            </a:endParaRPr>
          </a:p>
          <a:p>
            <a:pPr algn="ctr"/>
            <a:r>
              <a:rPr lang="ja-JP" altLang="en-US" b="1">
                <a:solidFill>
                  <a:schemeClr val="tx1"/>
                </a:solidFill>
                <a:latin typeface="メイリオ" panose="020B0604030504040204" pitchFamily="50" charset="-128"/>
                <a:ea typeface="メイリオ" panose="020B0604030504040204" pitchFamily="50" charset="-128"/>
              </a:rPr>
              <a:t>では全員参加</a:t>
            </a:r>
            <a:endParaRPr kumimoji="1" lang="ja-JP" altLang="en-US" b="1">
              <a:solidFill>
                <a:schemeClr val="tx1"/>
              </a:solidFill>
              <a:latin typeface="メイリオ" panose="020B0604030504040204" pitchFamily="50" charset="-128"/>
              <a:ea typeface="メイリオ" panose="020B0604030504040204" pitchFamily="50" charset="-128"/>
            </a:endParaRPr>
          </a:p>
        </p:txBody>
      </p:sp>
      <p:pic>
        <p:nvPicPr>
          <p:cNvPr id="17" name="図 16" descr="グラフ, 棒グラフ&#10;&#10;AI 生成コンテンツは誤りを含む可能性があります。">
            <a:extLst>
              <a:ext uri="{FF2B5EF4-FFF2-40B4-BE49-F238E27FC236}">
                <a16:creationId xmlns:a16="http://schemas.microsoft.com/office/drawing/2014/main" id="{E2B13883-ED91-D928-5EED-7399964919F5}"/>
              </a:ext>
            </a:extLst>
          </p:cNvPr>
          <p:cNvPicPr>
            <a:picLocks noChangeAspect="1"/>
          </p:cNvPicPr>
          <p:nvPr/>
        </p:nvPicPr>
        <p:blipFill>
          <a:blip r:embed="rId5"/>
          <a:stretch>
            <a:fillRect/>
          </a:stretch>
        </p:blipFill>
        <p:spPr>
          <a:xfrm>
            <a:off x="6855750" y="4110181"/>
            <a:ext cx="4375577" cy="2614441"/>
          </a:xfrm>
          <a:prstGeom prst="rect">
            <a:avLst/>
          </a:prstGeom>
        </p:spPr>
      </p:pic>
      <p:sp>
        <p:nvSpPr>
          <p:cNvPr id="18" name="テキスト ボックス 17">
            <a:extLst>
              <a:ext uri="{FF2B5EF4-FFF2-40B4-BE49-F238E27FC236}">
                <a16:creationId xmlns:a16="http://schemas.microsoft.com/office/drawing/2014/main" id="{7702A477-337E-122D-EA31-A55F7321F82D}"/>
              </a:ext>
            </a:extLst>
          </p:cNvPr>
          <p:cNvSpPr txBox="1"/>
          <p:nvPr/>
        </p:nvSpPr>
        <p:spPr>
          <a:xfrm>
            <a:off x="5043290" y="976351"/>
            <a:ext cx="2826327" cy="461665"/>
          </a:xfrm>
          <a:prstGeom prst="rect">
            <a:avLst/>
          </a:prstGeom>
          <a:noFill/>
        </p:spPr>
        <p:txBody>
          <a:bodyPr wrap="square" rtlCol="0">
            <a:spAutoFit/>
          </a:bodyPr>
          <a:lstStyle/>
          <a:p>
            <a:r>
              <a:rPr lang="en-US" altLang="ja-JP" sz="2400" b="1" u="sng"/>
              <a:t>FCFS</a:t>
            </a:r>
            <a:r>
              <a:rPr lang="ja-JP" altLang="en-US" sz="2400" b="1" u="sng"/>
              <a:t>方式</a:t>
            </a:r>
          </a:p>
        </p:txBody>
      </p:sp>
      <p:sp>
        <p:nvSpPr>
          <p:cNvPr id="19" name="テキスト ボックス 18">
            <a:extLst>
              <a:ext uri="{FF2B5EF4-FFF2-40B4-BE49-F238E27FC236}">
                <a16:creationId xmlns:a16="http://schemas.microsoft.com/office/drawing/2014/main" id="{1BEB860B-F834-39B9-E6F3-9386343FCB09}"/>
              </a:ext>
            </a:extLst>
          </p:cNvPr>
          <p:cNvSpPr txBox="1"/>
          <p:nvPr/>
        </p:nvSpPr>
        <p:spPr>
          <a:xfrm>
            <a:off x="1850355" y="3735070"/>
            <a:ext cx="2826327" cy="461665"/>
          </a:xfrm>
          <a:prstGeom prst="rect">
            <a:avLst/>
          </a:prstGeom>
          <a:noFill/>
        </p:spPr>
        <p:txBody>
          <a:bodyPr wrap="square" rtlCol="0">
            <a:spAutoFit/>
          </a:bodyPr>
          <a:lstStyle/>
          <a:p>
            <a:r>
              <a:rPr lang="ja-JP" altLang="en-US" sz="2400" b="1" u="sng"/>
              <a:t>所有者優先方式</a:t>
            </a:r>
          </a:p>
        </p:txBody>
      </p:sp>
      <p:sp>
        <p:nvSpPr>
          <p:cNvPr id="20" name="テキスト ボックス 19">
            <a:extLst>
              <a:ext uri="{FF2B5EF4-FFF2-40B4-BE49-F238E27FC236}">
                <a16:creationId xmlns:a16="http://schemas.microsoft.com/office/drawing/2014/main" id="{1C8F2513-FE7B-6F1D-7624-5E238E5DAF02}"/>
              </a:ext>
            </a:extLst>
          </p:cNvPr>
          <p:cNvSpPr txBox="1"/>
          <p:nvPr/>
        </p:nvSpPr>
        <p:spPr>
          <a:xfrm>
            <a:off x="7619909" y="3766358"/>
            <a:ext cx="3430189" cy="461665"/>
          </a:xfrm>
          <a:prstGeom prst="rect">
            <a:avLst/>
          </a:prstGeom>
          <a:noFill/>
        </p:spPr>
        <p:txBody>
          <a:bodyPr wrap="square" rtlCol="0">
            <a:spAutoFit/>
          </a:bodyPr>
          <a:lstStyle/>
          <a:p>
            <a:r>
              <a:rPr lang="ja-JP" altLang="en-US" sz="2400" b="1" u="sng"/>
              <a:t>プリエンプティブ方式</a:t>
            </a:r>
          </a:p>
        </p:txBody>
      </p:sp>
      <p:sp>
        <p:nvSpPr>
          <p:cNvPr id="22" name="テキスト ボックス 21">
            <a:extLst>
              <a:ext uri="{FF2B5EF4-FFF2-40B4-BE49-F238E27FC236}">
                <a16:creationId xmlns:a16="http://schemas.microsoft.com/office/drawing/2014/main" id="{D178DB7A-10DE-070F-1B0A-7AEB1F507EB2}"/>
              </a:ext>
            </a:extLst>
          </p:cNvPr>
          <p:cNvSpPr txBox="1"/>
          <p:nvPr/>
        </p:nvSpPr>
        <p:spPr>
          <a:xfrm>
            <a:off x="313560" y="1575448"/>
            <a:ext cx="3029527" cy="1304203"/>
          </a:xfrm>
          <a:prstGeom prst="rect">
            <a:avLst/>
          </a:prstGeom>
          <a:noFill/>
        </p:spPr>
        <p:txBody>
          <a:bodyPr wrap="square" rtlCol="0">
            <a:spAutoFit/>
          </a:bodyPr>
          <a:lstStyle/>
          <a:p>
            <a:pPr>
              <a:lnSpc>
                <a:spcPct val="150000"/>
              </a:lnSpc>
            </a:pPr>
            <a:r>
              <a:rPr lang="ja-JP" altLang="en-US" b="1" dirty="0">
                <a:latin typeface="メイリオ" panose="020B0604030504040204" pitchFamily="50" charset="-128"/>
                <a:ea typeface="メイリオ" panose="020B0604030504040204" pitchFamily="50" charset="-128"/>
              </a:rPr>
              <a:t>「</a:t>
            </a:r>
            <a:r>
              <a:rPr lang="en-US" altLang="ja-JP" b="1" dirty="0">
                <a:latin typeface="メイリオ" panose="020B0604030504040204" pitchFamily="50" charset="-128"/>
                <a:ea typeface="メイリオ" panose="020B0604030504040204" pitchFamily="50" charset="-128"/>
              </a:rPr>
              <a:t>FCFS</a:t>
            </a:r>
            <a:r>
              <a:rPr lang="ja-JP" altLang="en-US" b="1" dirty="0">
                <a:latin typeface="メイリオ" panose="020B0604030504040204" pitchFamily="50" charset="-128"/>
                <a:ea typeface="メイリオ" panose="020B0604030504040204" pitchFamily="50" charset="-128"/>
              </a:rPr>
              <a:t>」、「所有者優先」では中性能・高性能</a:t>
            </a:r>
            <a:endParaRPr lang="en-US" altLang="ja-JP" b="1" dirty="0">
              <a:latin typeface="メイリオ" panose="020B0604030504040204" pitchFamily="50" charset="-128"/>
              <a:ea typeface="メイリオ" panose="020B0604030504040204" pitchFamily="50" charset="-128"/>
            </a:endParaRPr>
          </a:p>
          <a:p>
            <a:pPr>
              <a:lnSpc>
                <a:spcPct val="150000"/>
              </a:lnSpc>
            </a:pPr>
            <a:r>
              <a:rPr lang="ja-JP" altLang="en-US" b="1" dirty="0">
                <a:latin typeface="メイリオ" panose="020B0604030504040204" pitchFamily="50" charset="-128"/>
                <a:ea typeface="メイリオ" panose="020B0604030504040204" pitchFamily="50" charset="-128"/>
              </a:rPr>
              <a:t>ユーザーは最終的に不参加</a:t>
            </a:r>
            <a:endParaRPr lang="en-US" altLang="ja-JP" b="1" dirty="0">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61E827CB-1620-9DD4-3D41-267FBD5B88B6}"/>
              </a:ext>
            </a:extLst>
          </p:cNvPr>
          <p:cNvSpPr txBox="1"/>
          <p:nvPr/>
        </p:nvSpPr>
        <p:spPr>
          <a:xfrm>
            <a:off x="6423707" y="2147961"/>
            <a:ext cx="1145309" cy="369332"/>
          </a:xfrm>
          <a:prstGeom prst="rect">
            <a:avLst/>
          </a:prstGeom>
          <a:solidFill>
            <a:srgbClr val="D62728"/>
          </a:solidFill>
          <a:ln>
            <a:solidFill>
              <a:srgbClr val="FF0000"/>
            </a:solidFill>
          </a:ln>
        </p:spPr>
        <p:txBody>
          <a:bodyPr wrap="square" rtlCol="0">
            <a:spAutoFit/>
          </a:bodyPr>
          <a:lstStyle/>
          <a:p>
            <a:r>
              <a:rPr kumimoji="1" lang="ja-JP" altLang="en-US" b="1">
                <a:solidFill>
                  <a:schemeClr val="bg1"/>
                </a:solidFill>
              </a:rPr>
              <a:t>高性能層</a:t>
            </a:r>
          </a:p>
        </p:txBody>
      </p:sp>
      <p:sp>
        <p:nvSpPr>
          <p:cNvPr id="24" name="テキスト ボックス 23">
            <a:extLst>
              <a:ext uri="{FF2B5EF4-FFF2-40B4-BE49-F238E27FC236}">
                <a16:creationId xmlns:a16="http://schemas.microsoft.com/office/drawing/2014/main" id="{25A504FA-13F6-CA23-8170-C9A20D3DA684}"/>
              </a:ext>
            </a:extLst>
          </p:cNvPr>
          <p:cNvSpPr txBox="1"/>
          <p:nvPr/>
        </p:nvSpPr>
        <p:spPr>
          <a:xfrm>
            <a:off x="6423707" y="2517293"/>
            <a:ext cx="1145309" cy="369332"/>
          </a:xfrm>
          <a:prstGeom prst="rect">
            <a:avLst/>
          </a:prstGeom>
          <a:solidFill>
            <a:srgbClr val="FE8D03"/>
          </a:solidFill>
          <a:ln>
            <a:solidFill>
              <a:srgbClr val="FE8D03"/>
            </a:solidFill>
          </a:ln>
        </p:spPr>
        <p:txBody>
          <a:bodyPr wrap="square" rtlCol="0">
            <a:spAutoFit/>
          </a:bodyPr>
          <a:lstStyle/>
          <a:p>
            <a:r>
              <a:rPr lang="ja-JP" altLang="en-US" b="1">
                <a:solidFill>
                  <a:schemeClr val="bg1"/>
                </a:solidFill>
              </a:rPr>
              <a:t>中</a:t>
            </a:r>
            <a:r>
              <a:rPr kumimoji="1" lang="ja-JP" altLang="en-US" b="1">
                <a:solidFill>
                  <a:schemeClr val="bg1"/>
                </a:solidFill>
              </a:rPr>
              <a:t>性能層</a:t>
            </a:r>
          </a:p>
        </p:txBody>
      </p:sp>
      <p:sp>
        <p:nvSpPr>
          <p:cNvPr id="25" name="テキスト ボックス 24">
            <a:extLst>
              <a:ext uri="{FF2B5EF4-FFF2-40B4-BE49-F238E27FC236}">
                <a16:creationId xmlns:a16="http://schemas.microsoft.com/office/drawing/2014/main" id="{96826CA5-0E0C-2930-10AC-50B3C9ED44E4}"/>
              </a:ext>
            </a:extLst>
          </p:cNvPr>
          <p:cNvSpPr txBox="1"/>
          <p:nvPr/>
        </p:nvSpPr>
        <p:spPr>
          <a:xfrm>
            <a:off x="6426075" y="2886625"/>
            <a:ext cx="1145309" cy="369332"/>
          </a:xfrm>
          <a:prstGeom prst="rect">
            <a:avLst/>
          </a:prstGeom>
          <a:solidFill>
            <a:srgbClr val="0D47A1"/>
          </a:solidFill>
          <a:ln>
            <a:solidFill>
              <a:srgbClr val="0D47A1"/>
            </a:solidFill>
          </a:ln>
        </p:spPr>
        <p:txBody>
          <a:bodyPr wrap="square" rtlCol="0">
            <a:spAutoFit/>
          </a:bodyPr>
          <a:lstStyle/>
          <a:p>
            <a:r>
              <a:rPr lang="ja-JP" altLang="en-US" b="1">
                <a:solidFill>
                  <a:schemeClr val="bg1"/>
                </a:solidFill>
              </a:rPr>
              <a:t>低</a:t>
            </a:r>
            <a:r>
              <a:rPr kumimoji="1" lang="ja-JP" altLang="en-US" b="1">
                <a:solidFill>
                  <a:schemeClr val="bg1"/>
                </a:solidFill>
              </a:rPr>
              <a:t>性能層</a:t>
            </a:r>
          </a:p>
        </p:txBody>
      </p:sp>
    </p:spTree>
    <p:extLst>
      <p:ext uri="{BB962C8B-B14F-4D97-AF65-F5344CB8AC3E}">
        <p14:creationId xmlns:p14="http://schemas.microsoft.com/office/powerpoint/2010/main" val="814091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D5098D-3B26-965B-C14D-E174173A898C}"/>
              </a:ext>
            </a:extLst>
          </p:cNvPr>
          <p:cNvSpPr>
            <a:spLocks noGrp="1"/>
          </p:cNvSpPr>
          <p:nvPr>
            <p:ph type="title"/>
          </p:nvPr>
        </p:nvSpPr>
        <p:spPr/>
        <p:txBody>
          <a:bodyPr/>
          <a:lstStyle/>
          <a:p>
            <a:r>
              <a:rPr kumimoji="1" lang="ja-JP" altLang="en-US" b="1"/>
              <a:t>負荷率にともなう各シナリオ最終参加者数</a:t>
            </a:r>
          </a:p>
        </p:txBody>
      </p:sp>
      <p:pic>
        <p:nvPicPr>
          <p:cNvPr id="6" name="コンテンツ プレースホルダー 5" descr="グラフ, 折れ線グラフ&#10;&#10;AI 生成コンテンツは誤りを含む可能性があります。">
            <a:extLst>
              <a:ext uri="{FF2B5EF4-FFF2-40B4-BE49-F238E27FC236}">
                <a16:creationId xmlns:a16="http://schemas.microsoft.com/office/drawing/2014/main" id="{6A2D2695-A71D-75A7-39A5-7820ADA841C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20111" y="1252538"/>
            <a:ext cx="8951778" cy="5327650"/>
          </a:xfrm>
        </p:spPr>
      </p:pic>
      <p:sp>
        <p:nvSpPr>
          <p:cNvPr id="4" name="スライド番号プレースホルダー 3">
            <a:extLst>
              <a:ext uri="{FF2B5EF4-FFF2-40B4-BE49-F238E27FC236}">
                <a16:creationId xmlns:a16="http://schemas.microsoft.com/office/drawing/2014/main" id="{FF65DBDE-5313-5623-E437-038C04898F59}"/>
              </a:ext>
            </a:extLst>
          </p:cNvPr>
          <p:cNvSpPr>
            <a:spLocks noGrp="1"/>
          </p:cNvSpPr>
          <p:nvPr>
            <p:ph type="sldNum" sz="quarter" idx="12"/>
          </p:nvPr>
        </p:nvSpPr>
        <p:spPr/>
        <p:txBody>
          <a:bodyPr/>
          <a:lstStyle/>
          <a:p>
            <a:fld id="{8D1BC46D-89B1-41A3-BBA1-F56BEABD0A90}" type="slidenum">
              <a:rPr lang="ja-JP" altLang="en-US" smtClean="0"/>
              <a:pPr/>
              <a:t>13</a:t>
            </a:fld>
            <a:endParaRPr lang="ja-JP" altLang="en-US"/>
          </a:p>
        </p:txBody>
      </p:sp>
      <p:sp>
        <p:nvSpPr>
          <p:cNvPr id="7" name="吹き出し: 角を丸めた四角形 6">
            <a:extLst>
              <a:ext uri="{FF2B5EF4-FFF2-40B4-BE49-F238E27FC236}">
                <a16:creationId xmlns:a16="http://schemas.microsoft.com/office/drawing/2014/main" id="{6CB2187F-23D1-A9A5-0590-46AB86D88CA7}"/>
              </a:ext>
            </a:extLst>
          </p:cNvPr>
          <p:cNvSpPr/>
          <p:nvPr/>
        </p:nvSpPr>
        <p:spPr>
          <a:xfrm>
            <a:off x="7837666" y="1898469"/>
            <a:ext cx="3864428" cy="1426028"/>
          </a:xfrm>
          <a:prstGeom prst="wedgeRoundRectCallout">
            <a:avLst>
              <a:gd name="adj1" fmla="val -91054"/>
              <a:gd name="adj2" fmla="val -64218"/>
              <a:gd name="adj3" fmla="val 16667"/>
            </a:avLst>
          </a:prstGeom>
          <a:solidFill>
            <a:schemeClr val="bg2">
              <a:alpha val="51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a:solidFill>
                  <a:schemeClr val="tx1"/>
                </a:solidFill>
              </a:rPr>
              <a:t>全負荷率において高い</a:t>
            </a:r>
            <a:endParaRPr kumimoji="1" lang="en-US" altLang="ja-JP" sz="2400" b="1">
              <a:solidFill>
                <a:schemeClr val="tx1"/>
              </a:solidFill>
            </a:endParaRPr>
          </a:p>
          <a:p>
            <a:pPr algn="ctr"/>
            <a:r>
              <a:rPr kumimoji="1" lang="ja-JP" altLang="en-US" sz="2400" b="1">
                <a:solidFill>
                  <a:schemeClr val="tx1"/>
                </a:solidFill>
              </a:rPr>
              <a:t>参加者数を維持している</a:t>
            </a:r>
          </a:p>
        </p:txBody>
      </p:sp>
      <p:pic>
        <p:nvPicPr>
          <p:cNvPr id="5" name="図 4">
            <a:extLst>
              <a:ext uri="{FF2B5EF4-FFF2-40B4-BE49-F238E27FC236}">
                <a16:creationId xmlns:a16="http://schemas.microsoft.com/office/drawing/2014/main" id="{61D0D56B-5BB9-03FF-FB0F-52061C9E7B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6559" y="3272970"/>
            <a:ext cx="2100491" cy="703948"/>
          </a:xfrm>
          <a:prstGeom prst="rect">
            <a:avLst/>
          </a:prstGeom>
        </p:spPr>
      </p:pic>
      <p:sp>
        <p:nvSpPr>
          <p:cNvPr id="8" name="テキスト ボックス 7">
            <a:extLst>
              <a:ext uri="{FF2B5EF4-FFF2-40B4-BE49-F238E27FC236}">
                <a16:creationId xmlns:a16="http://schemas.microsoft.com/office/drawing/2014/main" id="{12E14159-B9E4-1A95-A262-54A852C5842A}"/>
              </a:ext>
            </a:extLst>
          </p:cNvPr>
          <p:cNvSpPr txBox="1"/>
          <p:nvPr/>
        </p:nvSpPr>
        <p:spPr>
          <a:xfrm>
            <a:off x="2427226" y="3796854"/>
            <a:ext cx="1939155" cy="369332"/>
          </a:xfrm>
          <a:prstGeom prst="rect">
            <a:avLst/>
          </a:prstGeom>
          <a:solidFill>
            <a:srgbClr val="FF7F0E"/>
          </a:solidFill>
        </p:spPr>
        <p:txBody>
          <a:bodyPr wrap="square" rtlCol="0">
            <a:spAutoFit/>
          </a:bodyPr>
          <a:lstStyle/>
          <a:p>
            <a:r>
              <a:rPr kumimoji="1" lang="ja-JP" altLang="en-US" b="1" dirty="0">
                <a:solidFill>
                  <a:schemeClr val="bg1"/>
                </a:solidFill>
              </a:rPr>
              <a:t>所有者優先方式</a:t>
            </a:r>
          </a:p>
        </p:txBody>
      </p:sp>
      <p:sp>
        <p:nvSpPr>
          <p:cNvPr id="9" name="テキスト ボックス 8">
            <a:extLst>
              <a:ext uri="{FF2B5EF4-FFF2-40B4-BE49-F238E27FC236}">
                <a16:creationId xmlns:a16="http://schemas.microsoft.com/office/drawing/2014/main" id="{92E1FE76-C026-EA0E-4EE4-05A36FA057A5}"/>
              </a:ext>
            </a:extLst>
          </p:cNvPr>
          <p:cNvSpPr txBox="1"/>
          <p:nvPr/>
        </p:nvSpPr>
        <p:spPr>
          <a:xfrm>
            <a:off x="4533375" y="4772782"/>
            <a:ext cx="1248359" cy="369332"/>
          </a:xfrm>
          <a:prstGeom prst="rect">
            <a:avLst/>
          </a:prstGeom>
          <a:solidFill>
            <a:srgbClr val="1F77B4"/>
          </a:solidFill>
        </p:spPr>
        <p:txBody>
          <a:bodyPr wrap="square" rtlCol="0">
            <a:spAutoFit/>
          </a:bodyPr>
          <a:lstStyle/>
          <a:p>
            <a:r>
              <a:rPr lang="en-US" altLang="ja-JP" b="1" dirty="0">
                <a:solidFill>
                  <a:schemeClr val="bg1"/>
                </a:solidFill>
              </a:rPr>
              <a:t>FCFS</a:t>
            </a:r>
            <a:r>
              <a:rPr kumimoji="1" lang="ja-JP" altLang="en-US" b="1" dirty="0">
                <a:solidFill>
                  <a:schemeClr val="bg1"/>
                </a:solidFill>
              </a:rPr>
              <a:t>方式</a:t>
            </a:r>
          </a:p>
        </p:txBody>
      </p:sp>
      <p:sp>
        <p:nvSpPr>
          <p:cNvPr id="10" name="テキスト ボックス 9">
            <a:extLst>
              <a:ext uri="{FF2B5EF4-FFF2-40B4-BE49-F238E27FC236}">
                <a16:creationId xmlns:a16="http://schemas.microsoft.com/office/drawing/2014/main" id="{6425F991-B234-6243-7105-5322C17E693B}"/>
              </a:ext>
            </a:extLst>
          </p:cNvPr>
          <p:cNvSpPr txBox="1"/>
          <p:nvPr/>
        </p:nvSpPr>
        <p:spPr>
          <a:xfrm>
            <a:off x="4885504" y="2335377"/>
            <a:ext cx="2509209" cy="369332"/>
          </a:xfrm>
          <a:prstGeom prst="rect">
            <a:avLst/>
          </a:prstGeom>
          <a:solidFill>
            <a:srgbClr val="2CA02C"/>
          </a:solidFill>
        </p:spPr>
        <p:txBody>
          <a:bodyPr wrap="square" rtlCol="0">
            <a:spAutoFit/>
          </a:bodyPr>
          <a:lstStyle/>
          <a:p>
            <a:r>
              <a:rPr lang="ja-JP" altLang="en-US" b="1" dirty="0">
                <a:solidFill>
                  <a:schemeClr val="bg1"/>
                </a:solidFill>
              </a:rPr>
              <a:t>プリエンプティブ</a:t>
            </a:r>
            <a:r>
              <a:rPr kumimoji="1" lang="ja-JP" altLang="en-US" b="1" dirty="0">
                <a:solidFill>
                  <a:schemeClr val="bg1"/>
                </a:solidFill>
              </a:rPr>
              <a:t>方式</a:t>
            </a:r>
          </a:p>
        </p:txBody>
      </p:sp>
    </p:spTree>
    <p:extLst>
      <p:ext uri="{BB962C8B-B14F-4D97-AF65-F5344CB8AC3E}">
        <p14:creationId xmlns:p14="http://schemas.microsoft.com/office/powerpoint/2010/main" val="2498403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FC2CDA-0986-B2B7-C320-6B8DE47B33BA}"/>
              </a:ext>
            </a:extLst>
          </p:cNvPr>
          <p:cNvSpPr>
            <a:spLocks noGrp="1"/>
          </p:cNvSpPr>
          <p:nvPr>
            <p:ph type="title"/>
          </p:nvPr>
        </p:nvSpPr>
        <p:spPr/>
        <p:txBody>
          <a:bodyPr/>
          <a:lstStyle/>
          <a:p>
            <a:r>
              <a:rPr kumimoji="1" lang="ja-JP" altLang="en-US"/>
              <a:t>まとめと今後の</a:t>
            </a:r>
            <a:r>
              <a:rPr lang="ja-JP" altLang="en-US"/>
              <a:t>展望</a:t>
            </a:r>
            <a:endParaRPr kumimoji="1" lang="ja-JP" altLang="en-US"/>
          </a:p>
        </p:txBody>
      </p:sp>
      <p:sp>
        <p:nvSpPr>
          <p:cNvPr id="3" name="コンテンツ プレースホルダー 2">
            <a:extLst>
              <a:ext uri="{FF2B5EF4-FFF2-40B4-BE49-F238E27FC236}">
                <a16:creationId xmlns:a16="http://schemas.microsoft.com/office/drawing/2014/main" id="{C25B94AA-472C-E1A1-1C84-B63E0A8F320E}"/>
              </a:ext>
            </a:extLst>
          </p:cNvPr>
          <p:cNvSpPr>
            <a:spLocks noGrp="1"/>
          </p:cNvSpPr>
          <p:nvPr>
            <p:ph idx="1"/>
          </p:nvPr>
        </p:nvSpPr>
        <p:spPr/>
        <p:txBody>
          <a:bodyPr>
            <a:normAutofit fontScale="70000" lnSpcReduction="20000"/>
          </a:bodyPr>
          <a:lstStyle/>
          <a:p>
            <a:pPr marL="0" indent="0">
              <a:lnSpc>
                <a:spcPct val="150000"/>
              </a:lnSpc>
              <a:buNone/>
            </a:pPr>
            <a:r>
              <a:rPr kumimoji="1" lang="ja-JP" altLang="en-US" sz="4000" b="1">
                <a:solidFill>
                  <a:schemeClr val="accent3">
                    <a:lumMod val="75000"/>
                  </a:schemeClr>
                </a:solidFill>
              </a:rPr>
              <a:t>研究の成果</a:t>
            </a:r>
            <a:endParaRPr kumimoji="1" lang="en-US" altLang="ja-JP" sz="4000" b="1">
              <a:solidFill>
                <a:schemeClr val="accent3">
                  <a:lumMod val="75000"/>
                </a:schemeClr>
              </a:solidFill>
            </a:endParaRPr>
          </a:p>
          <a:p>
            <a:pPr>
              <a:lnSpc>
                <a:spcPct val="150000"/>
              </a:lnSpc>
            </a:pPr>
            <a:r>
              <a:rPr lang="en-US" altLang="ja-JP"/>
              <a:t>ACP</a:t>
            </a:r>
            <a:r>
              <a:rPr lang="ja-JP" altLang="en-US"/>
              <a:t>を導入することで、全体のターンアラウンドタイムは</a:t>
            </a:r>
            <a:r>
              <a:rPr lang="ja-JP" altLang="en-US" b="1"/>
              <a:t>大幅に減少</a:t>
            </a:r>
            <a:endParaRPr lang="en-US" altLang="ja-JP" b="1"/>
          </a:p>
          <a:p>
            <a:pPr>
              <a:lnSpc>
                <a:spcPct val="150000"/>
              </a:lnSpc>
            </a:pPr>
            <a:r>
              <a:rPr lang="ja-JP" altLang="en-US"/>
              <a:t>高性能ユーザは、プリエンプティブ方式のみ自</a:t>
            </a:r>
            <a:r>
              <a:rPr lang="en-US" altLang="ja-JP"/>
              <a:t>GPU</a:t>
            </a:r>
            <a:r>
              <a:rPr lang="ja-JP" altLang="en-US"/>
              <a:t>の優先権を保ちつつ、他</a:t>
            </a:r>
            <a:r>
              <a:rPr lang="en-US" altLang="ja-JP"/>
              <a:t>GPU</a:t>
            </a:r>
            <a:r>
              <a:rPr lang="ja-JP" altLang="en-US"/>
              <a:t>も利用することで</a:t>
            </a:r>
            <a:r>
              <a:rPr lang="en-US" altLang="ja-JP"/>
              <a:t>TAT</a:t>
            </a:r>
            <a:r>
              <a:rPr lang="ja-JP" altLang="en-US"/>
              <a:t>が減少</a:t>
            </a:r>
            <a:endParaRPr lang="en-US" altLang="ja-JP"/>
          </a:p>
          <a:p>
            <a:pPr>
              <a:lnSpc>
                <a:spcPct val="150000"/>
              </a:lnSpc>
            </a:pPr>
            <a:r>
              <a:rPr lang="ja-JP" altLang="en-US"/>
              <a:t>プリエンプティブ方式という</a:t>
            </a:r>
            <a:r>
              <a:rPr lang="ja-JP" altLang="en-US" b="1"/>
              <a:t>技術的なアプローチのみ</a:t>
            </a:r>
            <a:r>
              <a:rPr lang="ja-JP" altLang="en-US"/>
              <a:t>によって，タスクの処理効率が上がり、ユーザの参加インセンティブにつながった</a:t>
            </a:r>
            <a:endParaRPr lang="en-US" altLang="ja-JP" b="1">
              <a:solidFill>
                <a:schemeClr val="accent3">
                  <a:lumMod val="75000"/>
                </a:schemeClr>
              </a:solidFill>
            </a:endParaRPr>
          </a:p>
          <a:p>
            <a:pPr marL="0" indent="0">
              <a:lnSpc>
                <a:spcPct val="150000"/>
              </a:lnSpc>
              <a:buNone/>
            </a:pPr>
            <a:r>
              <a:rPr lang="ja-JP" altLang="en-US" sz="4000" b="1">
                <a:solidFill>
                  <a:schemeClr val="accent3">
                    <a:lumMod val="75000"/>
                  </a:schemeClr>
                </a:solidFill>
              </a:rPr>
              <a:t>今後の展望</a:t>
            </a:r>
            <a:endParaRPr lang="en-US" altLang="ja-JP" sz="4000" b="1">
              <a:solidFill>
                <a:schemeClr val="accent3">
                  <a:lumMod val="75000"/>
                </a:schemeClr>
              </a:solidFill>
            </a:endParaRPr>
          </a:p>
          <a:p>
            <a:pPr>
              <a:lnSpc>
                <a:spcPct val="150000"/>
              </a:lnSpc>
            </a:pPr>
            <a:r>
              <a:rPr lang="ja-JP" altLang="en-US"/>
              <a:t>タスクの与え方や複数台</a:t>
            </a:r>
            <a:r>
              <a:rPr lang="en-US" altLang="ja-JP"/>
              <a:t>GPU</a:t>
            </a:r>
            <a:r>
              <a:rPr lang="ja-JP" altLang="en-US"/>
              <a:t>などのより研究室の環境を再現して</a:t>
            </a:r>
            <a:r>
              <a:rPr lang="ja-JP" altLang="en-US" b="1"/>
              <a:t>現実的なモデルの構築</a:t>
            </a:r>
            <a:endParaRPr lang="en-US" altLang="ja-JP" b="1"/>
          </a:p>
          <a:p>
            <a:pPr>
              <a:lnSpc>
                <a:spcPct val="150000"/>
              </a:lnSpc>
            </a:pPr>
            <a:r>
              <a:rPr lang="ja-JP" altLang="en-US"/>
              <a:t>タスク集中による電力コストやフリーライダー問題を考慮に入れ、ポイント制などの</a:t>
            </a:r>
            <a:endParaRPr lang="en-US" altLang="ja-JP"/>
          </a:p>
          <a:p>
            <a:pPr marL="0" indent="0">
              <a:lnSpc>
                <a:spcPct val="150000"/>
              </a:lnSpc>
              <a:buNone/>
            </a:pPr>
            <a:r>
              <a:rPr lang="ja-JP" altLang="en-US" b="1"/>
              <a:t>　経済的なインセンティブの導入</a:t>
            </a:r>
            <a:endParaRPr lang="en-US" altLang="ja-JP" b="1"/>
          </a:p>
          <a:p>
            <a:endParaRPr kumimoji="1" lang="ja-JP" altLang="en-US"/>
          </a:p>
        </p:txBody>
      </p:sp>
      <p:sp>
        <p:nvSpPr>
          <p:cNvPr id="4" name="スライド番号プレースホルダー 3">
            <a:extLst>
              <a:ext uri="{FF2B5EF4-FFF2-40B4-BE49-F238E27FC236}">
                <a16:creationId xmlns:a16="http://schemas.microsoft.com/office/drawing/2014/main" id="{D4E70AE2-5A54-1804-45EC-B0458865945C}"/>
              </a:ext>
            </a:extLst>
          </p:cNvPr>
          <p:cNvSpPr>
            <a:spLocks noGrp="1"/>
          </p:cNvSpPr>
          <p:nvPr>
            <p:ph type="sldNum" sz="quarter" idx="12"/>
          </p:nvPr>
        </p:nvSpPr>
        <p:spPr/>
        <p:txBody>
          <a:bodyPr/>
          <a:lstStyle/>
          <a:p>
            <a:fld id="{8D1BC46D-89B1-41A3-BBA1-F56BEABD0A90}" type="slidenum">
              <a:rPr lang="ja-JP" altLang="en-US" smtClean="0"/>
              <a:pPr/>
              <a:t>14</a:t>
            </a:fld>
            <a:endParaRPr lang="ja-JP" altLang="en-US"/>
          </a:p>
        </p:txBody>
      </p:sp>
    </p:spTree>
    <p:extLst>
      <p:ext uri="{BB962C8B-B14F-4D97-AF65-F5344CB8AC3E}">
        <p14:creationId xmlns:p14="http://schemas.microsoft.com/office/powerpoint/2010/main" val="1108715131"/>
      </p:ext>
    </p:extLst>
  </p:cSld>
  <p:clrMapOvr>
    <a:masterClrMapping/>
  </p:clrMapOvr>
</p:sld>
</file>

<file path=ppt/theme/theme1.xml><?xml version="1.0" encoding="utf-8"?>
<a:theme xmlns:a="http://schemas.openxmlformats.org/drawingml/2006/main" name="Office テーマ">
  <a:themeElements>
    <a:clrScheme name="インディゴブルー基調のクール系テー">
      <a:dk1>
        <a:srgbClr val="212121"/>
      </a:dk1>
      <a:lt1>
        <a:srgbClr val="FFFFFF"/>
      </a:lt1>
      <a:dk2>
        <a:srgbClr val="607D8B"/>
      </a:dk2>
      <a:lt2>
        <a:srgbClr val="ECEFF1"/>
      </a:lt2>
      <a:accent1>
        <a:srgbClr val="3F51B5"/>
      </a:accent1>
      <a:accent2>
        <a:srgbClr val="303F9F"/>
      </a:accent2>
      <a:accent3>
        <a:srgbClr val="5C6BC0"/>
      </a:accent3>
      <a:accent4>
        <a:srgbClr val="009688"/>
      </a:accent4>
      <a:accent5>
        <a:srgbClr val="4FC3F7"/>
      </a:accent5>
      <a:accent6>
        <a:srgbClr val="455A64"/>
      </a:accent6>
      <a:hlink>
        <a:srgbClr val="0000EE"/>
      </a:hlink>
      <a:folHlink>
        <a:srgbClr val="96607D"/>
      </a:folHlink>
    </a:clrScheme>
    <a:fontScheme name="ユーザー定義 1">
      <a:majorFont>
        <a:latin typeface="Noto Sans JP"/>
        <a:ea typeface="Noto Sans JP"/>
        <a:cs typeface=""/>
      </a:majorFont>
      <a:minorFont>
        <a:latin typeface="游ゴシック"/>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65AFA794-E6FD-4BC8-8CFF-2ACA4EEC3323}" vid="{716FEA5D-2661-4998-9B5F-A308CE9A8E7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034c360-b5dc-49e4-921e-4ae488fbe071" xsi:nil="true"/>
    <_x5099__x8003_ xmlns="b903afa0-f4f8-44ee-9336-5e6f46981d16" xsi:nil="true"/>
    <UploadedBy xmlns="b903afa0-f4f8-44ee-9336-5e6f46981d16">
      <UserInfo>
        <DisplayName/>
        <AccountId xsi:nil="true"/>
        <AccountType/>
      </UserInfo>
    </UploadedBy>
    <lcf76f155ced4ddcb4097134ff3c332f xmlns="b903afa0-f4f8-44ee-9336-5e6f46981d1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12C95878E7AC6744ABA06CC0F4B39D73" ma:contentTypeVersion="21" ma:contentTypeDescription="新しいドキュメントを作成します。" ma:contentTypeScope="" ma:versionID="4464fdfdaf7015c726917969e1aaf2b7">
  <xsd:schema xmlns:xsd="http://www.w3.org/2001/XMLSchema" xmlns:xs="http://www.w3.org/2001/XMLSchema" xmlns:p="http://schemas.microsoft.com/office/2006/metadata/properties" xmlns:ns2="b903afa0-f4f8-44ee-9336-5e6f46981d16" xmlns:ns3="b034c360-b5dc-49e4-921e-4ae488fbe071" targetNamespace="http://schemas.microsoft.com/office/2006/metadata/properties" ma:root="true" ma:fieldsID="8e2ab57beba6a84e91ff12a2ec8c660c" ns2:_="" ns3:_="">
    <xsd:import namespace="b903afa0-f4f8-44ee-9336-5e6f46981d16"/>
    <xsd:import namespace="b034c360-b5dc-49e4-921e-4ae488fbe071"/>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UploadedBy" minOccurs="0"/>
                <xsd:element ref="ns2:MediaServiceObjectDetectorVersions" minOccurs="0"/>
                <xsd:element ref="ns2:MediaServiceSearchProperties" minOccurs="0"/>
                <xsd:element ref="ns2:_x5099__x8003_"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03afa0-f4f8-44ee-9336-5e6f46981d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画像タグ" ma:readOnly="false" ma:fieldId="{5cf76f15-5ced-4ddc-b409-7134ff3c332f}" ma:taxonomyMulti="true" ma:sspId="39f9f978-9d4d-4624-9aa1-cca461804d0c"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UploadedBy" ma:index="23" nillable="true" ma:displayName="Uploaded By" ma:format="Dropdown" ma:list="UserInfo" ma:SharePointGroup="0" ma:internalName="UploadedBy">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_x5099__x8003_" ma:index="26" nillable="true" ma:displayName="備考" ma:format="Dropdown" ma:internalName="_x5099__x8003_">
      <xsd:simpleType>
        <xsd:restriction base="dms:Note">
          <xsd:maxLength value="255"/>
        </xsd:restrictio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034c360-b5dc-49e4-921e-4ae488fbe071"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1f61c2b-9988-4ce4-ba06-ab6354e3a9be}" ma:internalName="TaxCatchAll" ma:showField="CatchAllData" ma:web="b034c360-b5dc-49e4-921e-4ae488fbe071">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AF8C15-15C8-4B84-B30D-B36ABFD6BBEC}">
  <ds:schemaRefs>
    <ds:schemaRef ds:uri="http://schemas.microsoft.com/sharepoint/v3/contenttype/forms"/>
  </ds:schemaRefs>
</ds:datastoreItem>
</file>

<file path=customXml/itemProps2.xml><?xml version="1.0" encoding="utf-8"?>
<ds:datastoreItem xmlns:ds="http://schemas.openxmlformats.org/officeDocument/2006/customXml" ds:itemID="{3E828904-8F7D-4B81-9CCE-432514A83640}">
  <ds:schemaRefs>
    <ds:schemaRef ds:uri="http://purl.org/dc/terms/"/>
    <ds:schemaRef ds:uri="http://purl.org/dc/elements/1.1/"/>
    <ds:schemaRef ds:uri="http://schemas.microsoft.com/office/infopath/2007/PartnerControls"/>
    <ds:schemaRef ds:uri="http://www.w3.org/XML/1998/namespace"/>
    <ds:schemaRef ds:uri="http://schemas.microsoft.com/office/2006/documentManagement/types"/>
    <ds:schemaRef ds:uri="b903afa0-f4f8-44ee-9336-5e6f46981d16"/>
    <ds:schemaRef ds:uri="http://schemas.openxmlformats.org/package/2006/metadata/core-properties"/>
    <ds:schemaRef ds:uri="b034c360-b5dc-49e4-921e-4ae488fbe07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06B9729E-66AA-48AA-91EF-FA5F60CB2B26}">
  <ds:schemaRefs>
    <ds:schemaRef ds:uri="b034c360-b5dc-49e4-921e-4ae488fbe071"/>
    <ds:schemaRef ds:uri="b903afa0-f4f8-44ee-9336-5e6f46981d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template</Template>
  <TotalTime>42128</TotalTime>
  <Words>4984</Words>
  <Application>Microsoft Office PowerPoint</Application>
  <PresentationFormat>ワイド画面</PresentationFormat>
  <Paragraphs>210</Paragraphs>
  <Slides>14</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14</vt:i4>
      </vt:variant>
    </vt:vector>
  </HeadingPairs>
  <TitlesOfParts>
    <vt:vector size="20" baseType="lpstr">
      <vt:lpstr>Noto Sans JP</vt:lpstr>
      <vt:lpstr>メイリオ</vt:lpstr>
      <vt:lpstr>游ゴシック</vt:lpstr>
      <vt:lpstr>Arial</vt:lpstr>
      <vt:lpstr>Edwardian Script ITC</vt:lpstr>
      <vt:lpstr>Office テーマ</vt:lpstr>
      <vt:lpstr>所有者優先権を保証する プリエンプティブ方式を用いた 学内GPU共有基盤の提案とユーザ参加行動の評価</vt:lpstr>
      <vt:lpstr>背景</vt:lpstr>
      <vt:lpstr>“Air Computing Pool”とは</vt:lpstr>
      <vt:lpstr>研究目的</vt:lpstr>
      <vt:lpstr>課題</vt:lpstr>
      <vt:lpstr>提案基盤</vt:lpstr>
      <vt:lpstr>割り込み機能がタスクの完了時間に与える影響</vt:lpstr>
      <vt:lpstr>シミュレーション環境</vt:lpstr>
      <vt:lpstr>シミュレーション結果：シナリオ別全体平均TAT</vt:lpstr>
      <vt:lpstr>シナリオ別高性能平均TAT</vt:lpstr>
      <vt:lpstr>性能別ユーザー行動によるACP参加評価</vt:lpstr>
      <vt:lpstr>シミュレーション結果 : 参加者数推移</vt:lpstr>
      <vt:lpstr>負荷率にともなう各シナリオ最終参加者数</vt:lpstr>
      <vt:lpstr>まとめと今後の展望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翔琉 櫻井</dc:creator>
  <cp:lastModifiedBy>翔琉 櫻井</cp:lastModifiedBy>
  <cp:revision>4</cp:revision>
  <cp:lastPrinted>2026-03-02T05:04:26Z</cp:lastPrinted>
  <dcterms:created xsi:type="dcterms:W3CDTF">2026-01-19T19:15:30Z</dcterms:created>
  <dcterms:modified xsi:type="dcterms:W3CDTF">2026-04-01T11:58:04Z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0x01010012C95878E7AC6744ABA06CC0F4B39D73</vt:lpwstr>
  </property>
</Properties>
</file>